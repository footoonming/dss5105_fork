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rint 1" id="{1dc7600d-07be-c053-d320-467748649e4e}">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303A"/>
                </a:solidFill>
                <a:latin typeface="+mn-lt"/>
              </a:defRPr>
            </a:pPr>
            <a:r>
              <a:rPr sz="1600" b="0" i="0" u="none" strike="noStrike">
                <a:solidFill>
                  <a:srgbClr val="14303A"/>
                </a:solidFill>
                <a:latin typeface="+mn-lt"/>
              </a:rPr>
              <a:t>First pass, 36 questions: % passed (orange = weakest)</a:t>
            </a:r>
          </a:p>
        </c:rich>
      </c:tx>
      <c:layout/>
      <c:overlay val="0"/>
    </c:title>
    <c:autoTitleDeleted val="0"/>
    <c:plotArea>
      <c:layout/>
      <c:barChart>
        <c:barDir val="bar"/>
        <c:grouping val="clustered"/>
        <c:varyColors val="0"/>
        <c:ser>
          <c:idx val="0"/>
          <c:order val="0"/>
          <c:tx>
            <c:strRef>
              <c:f>Sheet1!$B$1</c:f>
              <c:strCache>
                <c:ptCount val="1"/>
                <c:pt idx="0">
                  <c:v>Passed on first try</c:v>
                </c:pt>
              </c:strCache>
            </c:strRef>
          </c:tx>
          <c:spPr>
            <a:solidFill>
              <a:srgbClr val="2E6F77"/>
            </a:solidFill>
            <a:effectLst/>
          </c:spPr>
          <c:invertIfNegative val="0"/>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dPt>
            <c:idx val="0"/>
            <c:invertIfNegative val="0"/>
            <c:bubble3D val="0"/>
            <c:spPr>
              <a:solidFill>
                <a:srgbClr val="2E6F77"/>
              </a:solidFill>
              <a:effectLst/>
            </c:spPr>
          </c:dPt>
          <c:dPt>
            <c:idx val="1"/>
            <c:invertIfNegative val="0"/>
            <c:bubble3D val="0"/>
            <c:spPr>
              <a:solidFill>
                <a:srgbClr val="D9532B"/>
              </a:solidFill>
              <a:effectLst/>
            </c:spPr>
          </c:dPt>
          <c:dPt>
            <c:idx val="2"/>
            <c:invertIfNegative val="0"/>
            <c:bubble3D val="0"/>
            <c:spPr>
              <a:solidFill>
                <a:srgbClr val="D9532B"/>
              </a:solidFill>
              <a:effectLst/>
            </c:spPr>
          </c:dPt>
          <c:dPt>
            <c:idx val="3"/>
            <c:invertIfNegative val="0"/>
            <c:bubble3D val="0"/>
            <c:spPr>
              <a:solidFill>
                <a:srgbClr val="2E6F77"/>
              </a:solidFill>
              <a:effectLst/>
            </c:spPr>
          </c:dPt>
          <c:dPt>
            <c:idx val="4"/>
            <c:invertIfNegative val="0"/>
            <c:bubble3D val="0"/>
            <c:spPr>
              <a:solidFill>
                <a:srgbClr val="2E6F77"/>
              </a:solidFill>
              <a:effectLst/>
            </c:spPr>
          </c:dPt>
          <c:dPt>
            <c:idx val="5"/>
            <c:invertIfNegative val="0"/>
            <c:bubble3D val="0"/>
            <c:spPr>
              <a:solidFill>
                <a:srgbClr val="D9532B"/>
              </a:solidFill>
              <a:effectLst/>
            </c:spPr>
          </c:dPt>
          <c:cat>
            <c:multiLvlStrRef>
              <c:f>Sheet1!$A$2:$A$7</c:f>
              <c:multiLvlStrCache>
                <c:ptCount val="6"/>
                <c:lvl>
                  <c:pt idx="0">
                    <c:v>Facts (7/10)</c:v>
                  </c:pt>
                  <c:pt idx="1">
                    <c:v>Multi-turn (2/4)</c:v>
                  </c:pt>
                  <c:pt idx="2">
                    <c:v>Ambiguous (2/5)</c:v>
                  </c:pt>
                  <c:pt idx="3">
                    <c:v>Unanswerable (6/6)</c:v>
                  </c:pt>
                  <c:pt idx="4">
                    <c:v>Feasibility (6/6)</c:v>
                  </c:pt>
                  <c:pt idx="5">
                    <c:v>Actions (2/5)</c:v>
                  </c:pt>
                </c:lvl>
              </c:multiLvlStrCache>
            </c:multiLvlStrRef>
          </c:cat>
          <c:val>
            <c:numRef>
              <c:f>Sheet1!$B$2:$B$7</c:f>
              <c:numCache>
                <c:formatCode>General</c:formatCode>
                <c:ptCount val="6"/>
                <c:pt idx="0">
                  <c:v>70</c:v>
                </c:pt>
                <c:pt idx="1">
                  <c:v>50</c:v>
                </c:pt>
                <c:pt idx="2">
                  <c:v>40</c:v>
                </c:pt>
                <c:pt idx="3">
                  <c:v>100</c:v>
                </c:pt>
                <c:pt idx="4">
                  <c:v>100</c:v>
                </c:pt>
                <c:pt idx="5">
                  <c:v>40</c:v>
                </c:pt>
              </c:numCache>
            </c:numRef>
          </c:val>
        </c:ser>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62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Whole talk about 4:20, leaving about 40 seconds of slack.
ThreadPilot is a co-pilot for the general manager of a knitwear factory. The picture is our real morning page on a simulated day, 9 April 2026.
[Add before presenting: group number and the sixth team member's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This is the first thing the manager reads: three lines, outlined in orange. Yesterday's output and which stage fell below normal; the top issue; what needs a decision today.
The top issue was not asked for. Discovery noticed that every active TrendCart order had stopped moving while later-due orders at the same stages kept moving, so the queue does not explain it. On this synthetic data that is a planted event, and discovery found 5 of 5 planted events, 1 to 5 days after each began.
Every number opens the rows behind it. The page also has a date picker, so any previous morning can be replayed.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Live demo or this walk-through. Run on 9 April (date picker, 'Simulated day 8').
Left: a vague question. TrendCart has six active orders, so it asks which one rather than answering about the wrong order.
Middle: multi-turn. After 'When is ORD-120 due?', the questions 'who is the customer?' and 'how many pieces?' are about ORD-120. Recording these scenarios showed six follow-ups that used to fall to the help message or answer about the whole factory; they are fixed and covered by tests.
Right: it refuses what the data cannot answer. No prices, so no revenue. For 'why did washing drop', it gives what the log does show, 297 pieces against a usual 733, and says the log records output, not causes.
Say clearly: this demo chat uses built-in tools, not a language model. The live backend (OpenAI model + MySQL) is the full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brief says the centre of the track is the tool set, so we specified every tool before building it: 33 in one table, each with its limits. Five kinds are the minimum.
Judgement is the one to remember: 'normal' is an explicit rule, the previous 8 same weekdays with Sundays closed, and the briefing, the chat and the dashboard share it. A test holds them to identical numbers. Action tools never send on their own: preview, confirmation key, audit log.
(Reference, if asked) Stack: FastAPI, MySQL 8, a SQLite store for sessions and confirmations, the OpenAI API for understanding and wording only, and a LangChain read-only SQL agent. docs/tool_spec.md lists 15 tools for the live backend and 18 for the dashboard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'Chase ORD-120' does not send anything. It drafts a message to the production planner, shows the worst case in plain words (one unwanted message to one colleague), and waits. Confirm, and it is logged; in this demo nothing is actually sent. The backend adds a confirmation key tied to one order and one text that expires after 15 minutes, re-reads the order before acting, and ignores a second confirmation.
Right picture: 'Delete ORD-005' is refused. The chat reads the data; it never changes an order.
On alerts: the manager gets one briefing at 07:00. The things that can reach them between briefings are only the watches they set themselves ('tell me if ORD-120 hasn't moved by Friday') and a stage that missed its target three days running. The thresholds and ranking rules are listed in docs/alert_triggers.md, and a test checks that page against the code.
(Backup slide 8 shows the watch firing.)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36 questions, with expected answers computed from the CSV files by code that does not use the briefing. First pass, nothing fixed: 25 of 36, 69%. That is the number we stand behind. After the first fixes, 21 new held-out questions with different wording gave 18 of 21.
Weakest first-pass areas were multi-turn, ambiguous questions and actions; unanswerable and feasibility questions passed 6 of 6. The set has 11 ambiguous-or-unanswerable and 11 feasibility-or-action questions, against the brief's minimum of 5 and 5. (After later fixes the same questions pass 36 of 36, but that is not first-pass and we do not quote it as accuracy.)
Discovery and feasibility results come from our own simulator, so they show consistency, not real-world accuracy. The live OpenAI-backed system was checked on 45 scripted turns: 36 passed on the first full batch, 7 turns hit rate limits. It has not yet been run on these 36 questions. We wrote these questions ourselves, so teammates will add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Limits first. Predictions were validated against our own simulator, so they show consistency, not real-world accuracy. The order forecast is no better than repeating the last period, and the dashboard says so. The data holds about 29 working days of work in progress against 12 to 30 allowed, so 27 of 34 orders are at risk and 6 are late. No real manager has used it yet.
Next: run the live-model evaluation once, add teammates' questions, move the briefing onto the live MySQL data, and bring Morning Briefing into the team's cloud site. Sprint 2 is Friday 30 October, Sprint 3 Friday 13 November, final zip Sunday 15 November.
[Add before presenting: what Sprint 2 and Sprint 3 will deliver, and who owns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estimates or alerts.
Feasibility never answers a plain yes: it gives a date range, the bottleneck stage and the assumptions, and a follow-up like 'What about 400 pieces?' changes one input. A missing date or quantity is asked for.
Watches: confirmed with a card, evaluated once each morning against that morning's data, logged either way (fired or cleared). If the condition is no longer true, the watch clears itself. Backend reminders (scenario 3.3) run on a 30-second loop and store one in-app notification when the condition is unmet; they send nothing outside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P_TITLE">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P_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algn="l" indent="0" marL="0">
              <a:buNone/>
            </a:pPr>
            <a:r>
              <a:rPr lang="en-US" sz="1000" dirty="0">
                <a:solidFill>
                  <a:schemeClr val="accent5"/>
                </a:solidFill>
              </a:rPr>
              <a:t>ThreadPilot  ·  DSS5105 Track 1  ·  Sprint 1</a:t>
            </a:r>
            <a:endParaRPr lang="en-US" sz="10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188720"/>
            <a:ext cx="5669280" cy="1097280"/>
          </a:xfrm>
          <a:prstGeom prst="rect">
            <a:avLst/>
          </a:prstGeom>
          <a:noFill/>
          <a:ln/>
        </p:spPr>
        <p:txBody>
          <a:bodyPr wrap="square" lIns="0" tIns="0" rIns="0" bIns="0" rtlCol="0" anchor="ctr"/>
          <a:lstStyle/>
          <a:p>
            <a:pPr algn="l" indent="0" marL="0">
              <a:buNone/>
            </a:pPr>
            <a:r>
              <a:rPr lang="en-US" sz="6000" b="1" dirty="0">
                <a:solidFill>
                  <a:schemeClr val="bg1"/>
                </a:solidFill>
                <a:latin typeface="Cambria" pitchFamily="34" charset="0"/>
                <a:ea typeface="Cambria" pitchFamily="34" charset="-122"/>
                <a:cs typeface="Cambria" pitchFamily="34" charset="-120"/>
              </a:rPr>
              <a:t>ThreadPilot</a:t>
            </a:r>
            <a:endParaRPr lang="en-US" sz="6000" dirty="0"/>
          </a:p>
        </p:txBody>
      </p:sp>
      <p:sp>
        <p:nvSpPr>
          <p:cNvPr id="3" name="Subtitle"/>
          <p:cNvSpPr txBox="1"/>
          <p:nvPr/>
        </p:nvSpPr>
        <p:spPr>
          <a:xfrm>
            <a:off x="731520" y="2331720"/>
            <a:ext cx="5669280" cy="548640"/>
          </a:xfrm>
          <a:prstGeom prst="rect">
            <a:avLst/>
          </a:prstGeom>
          <a:noFill/>
          <a:ln/>
        </p:spPr>
        <p:txBody>
          <a:bodyPr wrap="square" lIns="0" tIns="0" rIns="0" bIns="0" rtlCol="0" anchor="ctr"/>
          <a:lstStyle/>
          <a:p>
            <a:pPr algn="l" indent="0" marL="0">
              <a:buNone/>
            </a:pPr>
            <a:r>
              <a:rPr lang="en-US" sz="2600" dirty="0">
                <a:solidFill>
                  <a:schemeClr val="bg2"/>
                </a:solidFill>
              </a:rPr>
              <a:t>The General Manager's Co-Pilot</a:t>
            </a:r>
            <a:endParaRPr lang="en-US" sz="2600" dirty="0"/>
          </a:p>
        </p:txBody>
      </p:sp>
      <p:sp>
        <p:nvSpPr>
          <p:cNvPr id="4" name="Course line"/>
          <p:cNvSpPr txBox="1"/>
          <p:nvPr/>
        </p:nvSpPr>
        <p:spPr>
          <a:xfrm>
            <a:off x="731520" y="3246120"/>
            <a:ext cx="5669280" cy="777240"/>
          </a:xfrm>
          <a:prstGeom prst="rect">
            <a:avLst/>
          </a:prstGeom>
          <a:noFill/>
          <a:ln/>
        </p:spPr>
        <p:txBody>
          <a:bodyPr wrap="square" lIns="0" tIns="0" rIns="0" bIns="0" rtlCol="0" anchor="t"/>
          <a:lstStyle/>
          <a:p>
            <a:pPr algn="l" indent="0" marL="0">
              <a:spcAft>
                <a:spcPts val="400"/>
              </a:spcAft>
              <a:buNone/>
            </a:pPr>
            <a:r>
              <a:rPr lang="en-US" sz="1800" dirty="0">
                <a:solidFill>
                  <a:schemeClr val="bg1"/>
                </a:solidFill>
              </a:rPr>
              <a:t>DSS5105 Capstone  ·  Track 1</a:t>
            </a:r>
            <a:endParaRPr lang="en-US" sz="1800" dirty="0"/>
          </a:p>
          <a:p>
            <a:pPr algn="l" indent="0" marL="0">
              <a:spcAft>
                <a:spcPts val="400"/>
              </a:spcAft>
              <a:buNone/>
            </a:pPr>
            <a:r>
              <a:rPr lang="en-US" sz="1800" dirty="0">
                <a:solidFill>
                  <a:schemeClr val="bg1"/>
                </a:solidFill>
              </a:rPr>
              <a:t>Sprint 1 live presentation  ·  Friday 16 October 2026</a:t>
            </a:r>
            <a:endParaRPr lang="en-US" sz="1800" dirty="0"/>
          </a:p>
        </p:txBody>
      </p:sp>
      <p:sp>
        <p:nvSpPr>
          <p:cNvPr id="5" name="Team"/>
          <p:cNvSpPr txBox="1"/>
          <p:nvPr/>
        </p:nvSpPr>
        <p:spPr>
          <a:xfrm>
            <a:off x="731520" y="4251960"/>
            <a:ext cx="5669280" cy="685800"/>
          </a:xfrm>
          <a:prstGeom prst="rect">
            <a:avLst/>
          </a:prstGeom>
          <a:noFill/>
          <a:ln/>
        </p:spPr>
        <p:txBody>
          <a:bodyPr wrap="square" lIns="0" tIns="0" rIns="0" bIns="0" rtlCol="0" anchor="t"/>
          <a:lstStyle/>
          <a:p>
            <a:pPr algn="l" indent="0" marL="0">
              <a:buNone/>
            </a:pPr>
            <a:r>
              <a:rPr lang="en-US" sz="1600" dirty="0">
                <a:solidFill>
                  <a:schemeClr val="bg2"/>
                </a:solidFill>
              </a:rPr>
              <a:t>Matthew  ·  LIU JING  ·  Kevin Royce Thomson</a:t>
            </a:r>
            <a:endParaRPr lang="en-US" sz="1600" dirty="0"/>
          </a:p>
          <a:p>
            <a:pPr algn="l" indent="0" marL="0">
              <a:buNone/>
            </a:pPr>
            <a:r>
              <a:rPr lang="en-US" sz="1600" dirty="0">
                <a:solidFill>
                  <a:schemeClr val="bg2"/>
                </a:solidFill>
              </a:rPr>
              <a:t>Anqi Lin  ·  Wendy</a:t>
            </a:r>
            <a:endParaRPr lang="en-US" sz="1600" dirty="0"/>
          </a:p>
        </p:txBody>
      </p:sp>
      <p:sp>
        <p:nvSpPr>
          <p:cNvPr id="6" name="Missing info"/>
          <p:cNvSpPr txBox="1"/>
          <p:nvPr/>
        </p:nvSpPr>
        <p:spPr>
          <a:xfrm>
            <a:off x="731520" y="5074920"/>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sixth team member's name and the group number</a:t>
            </a:r>
            <a:endParaRPr lang="en-US" sz="1300" dirty="0"/>
          </a:p>
        </p:txBody>
      </p:sp>
      <p:sp>
        <p:nvSpPr>
          <p:cNvPr id="7" name="Hero screenshot frame"/>
          <p:cNvSpPr/>
          <p:nvPr/>
        </p:nvSpPr>
        <p:spPr>
          <a:xfrm>
            <a:off x="6675120" y="1371600"/>
            <a:ext cx="5120640" cy="3470434"/>
          </a:xfrm>
          <a:prstGeom prst="roundRect">
            <a:avLst>
              <a:gd name="adj" fmla="val 158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Hero screenshot" descr="The ThreadPilot morning page on Thursday 9 April 2026: three-line summary, order health and KPI cards">    </p:cNvPr>
          <p:cNvPicPr>
            <a:picLocks noChangeAspect="1"/>
          </p:cNvPicPr>
          <p:nvPr/>
        </p:nvPicPr>
        <p:blipFill>
          <a:blip r:embed="rId1"/>
          <a:stretch>
            <a:fillRect/>
          </a:stretch>
        </p:blipFill>
        <p:spPr>
          <a:xfrm>
            <a:off x="6720840" y="1417320"/>
            <a:ext cx="5029200" cy="3378994"/>
          </a:xfrm>
          <a:prstGeom prst="rect">
            <a:avLst/>
          </a:prstGeom>
        </p:spPr>
      </p:pic>
      <p:sp>
        <p:nvSpPr>
          <p:cNvPr id="9" name="Screenshot caption"/>
          <p:cNvSpPr txBox="1"/>
          <p:nvPr/>
        </p:nvSpPr>
        <p:spPr>
          <a:xfrm>
            <a:off x="6720840" y="4960906"/>
            <a:ext cx="5029200" cy="292608"/>
          </a:xfrm>
          <a:prstGeom prst="rect">
            <a:avLst/>
          </a:prstGeom>
          <a:noFill/>
          <a:ln/>
        </p:spPr>
        <p:txBody>
          <a:bodyPr wrap="square" lIns="0" tIns="0" rIns="0" bIns="0" rtlCol="0" anchor="t"/>
          <a:lstStyle/>
          <a:p>
            <a:pPr algn="l" indent="0" marL="0">
              <a:buNone/>
            </a:pPr>
            <a:r>
              <a:rPr lang="en-US" sz="1200" dirty="0">
                <a:solidFill>
                  <a:schemeClr val="bg2"/>
                </a:solidFill>
              </a:rPr>
              <a:t>The real morning page (simulated day, Thursday 9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happened, what is at risk, what to decide</a:t>
            </a:r>
            <a:endParaRPr lang="en-US" sz="3200" dirty="0"/>
          </a:p>
        </p:txBody>
      </p:sp>
      <p:sp>
        <p:nvSpPr>
          <p:cNvPr id="3" name="Morning page screenshot frame"/>
          <p:cNvSpPr/>
          <p:nvPr/>
        </p:nvSpPr>
        <p:spPr>
          <a:xfrm>
            <a:off x="502920" y="1280160"/>
            <a:ext cx="7132320" cy="4822031"/>
          </a:xfrm>
          <a:prstGeom prst="roundRect">
            <a:avLst>
              <a:gd name="adj" fmla="val 1138"/>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4" name="Morning page screenshot" descr="ThreadPilot morning page: Morning summary with three lines, Order health bar and five KPI cards">    </p:cNvPr>
          <p:cNvPicPr>
            <a:picLocks noChangeAspect="1"/>
          </p:cNvPicPr>
          <p:nvPr/>
        </p:nvPicPr>
        <p:blipFill>
          <a:blip r:embed="rId1"/>
          <a:stretch>
            <a:fillRect/>
          </a:stretch>
        </p:blipFill>
        <p:spPr>
          <a:xfrm>
            <a:off x="548640" y="1325880"/>
            <a:ext cx="7040880" cy="4730591"/>
          </a:xfrm>
          <a:prstGeom prst="rect">
            <a:avLst/>
          </a:prstGeom>
        </p:spPr>
      </p:pic>
      <p:sp>
        <p:nvSpPr>
          <p:cNvPr id="5" name="Summary highlight"/>
          <p:cNvSpPr/>
          <p:nvPr/>
        </p:nvSpPr>
        <p:spPr>
          <a:xfrm>
            <a:off x="680657" y="2194989"/>
            <a:ext cx="4488561" cy="1529191"/>
          </a:xfrm>
          <a:prstGeom prst="roundRect">
            <a:avLst>
              <a:gd name="adj" fmla="val 2990"/>
            </a:avLst>
          </a:prstGeom>
          <a:solidFill>
            <a:schemeClr val="accent2">
              <a:alpha val="0"/>
            </a:schemeClr>
          </a:solidFill>
          <a:ln w="28575">
            <a:solidFill>
              <a:schemeClr val="accent2"/>
            </a:solidFill>
            <a:prstDash val="solid"/>
          </a:ln>
        </p:spPr>
      </p:sp>
      <p:sp>
        <p:nvSpPr>
          <p:cNvPr id="6" name="Screenshot caption"/>
          <p:cNvSpPr txBox="1"/>
          <p:nvPr/>
        </p:nvSpPr>
        <p:spPr>
          <a:xfrm>
            <a:off x="548640" y="6221063"/>
            <a:ext cx="7040880" cy="274320"/>
          </a:xfrm>
          <a:prstGeom prst="rect">
            <a:avLst/>
          </a:prstGeom>
          <a:noFill/>
          <a:ln/>
        </p:spPr>
        <p:txBody>
          <a:bodyPr wrap="square" lIns="0" tIns="0" rIns="0" bIns="0" rtlCol="0" anchor="t"/>
          <a:lstStyle/>
          <a:p>
            <a:pPr algn="l" indent="0" marL="0">
              <a:buNone/>
            </a:pPr>
            <a:r>
              <a:rPr lang="en-US" sz="1100" dirty="0">
                <a:solidFill>
                  <a:schemeClr val="accent5"/>
                </a:solidFill>
              </a:rPr>
              <a:t>Real screenshot of the briefing demo, simulated morning of Thursday 9 April 2026 (day 8).</a:t>
            </a:r>
            <a:endParaRPr lang="en-US" sz="1100" dirty="0"/>
          </a:p>
        </p:txBody>
      </p:sp>
      <p:sp>
        <p:nvSpPr>
          <p:cNvPr id="7" name="Step 1"/>
          <p:cNvSpPr txBox="1"/>
          <p:nvPr/>
        </p:nvSpPr>
        <p:spPr>
          <a:xfrm>
            <a:off x="8001000" y="137160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Label"/>
          <p:cNvSpPr txBox="1"/>
          <p:nvPr/>
        </p:nvSpPr>
        <p:spPr>
          <a:xfrm>
            <a:off x="8595360" y="1371600"/>
            <a:ext cx="3044952" cy="457200"/>
          </a:xfrm>
          <a:prstGeom prst="rect">
            <a:avLst/>
          </a:prstGeom>
          <a:noFill/>
          <a:ln/>
        </p:spPr>
        <p:txBody>
          <a:bodyPr wrap="square" lIns="0" tIns="0" rIns="0" bIns="0" rtlCol="0" anchor="ctr"/>
          <a:lstStyle/>
          <a:p>
            <a:pPr algn="l" indent="0" marL="0">
              <a:buNone/>
            </a:pPr>
            <a:r>
              <a:rPr lang="en-US" sz="1800" b="1" dirty="0">
                <a:solidFill>
                  <a:schemeClr val="tx2"/>
                </a:solidFill>
              </a:rPr>
              <a:t>Three lines first</a:t>
            </a:r>
            <a:endParaRPr lang="en-US" sz="1800" dirty="0"/>
          </a:p>
        </p:txBody>
      </p:sp>
      <p:sp>
        <p:nvSpPr>
          <p:cNvPr id="9" name="Note"/>
          <p:cNvSpPr txBox="1"/>
          <p:nvPr/>
        </p:nvSpPr>
        <p:spPr>
          <a:xfrm>
            <a:off x="8595360" y="1874520"/>
            <a:ext cx="3044952" cy="960120"/>
          </a:xfrm>
          <a:prstGeom prst="rect">
            <a:avLst/>
          </a:prstGeom>
          <a:noFill/>
          <a:ln/>
        </p:spPr>
        <p:txBody>
          <a:bodyPr wrap="square" lIns="0" tIns="0" rIns="0" bIns="0" rtlCol="0" anchor="t"/>
          <a:lstStyle/>
          <a:p>
            <a:pPr algn="l" indent="0" marL="0">
              <a:buNone/>
            </a:pPr>
            <a:r>
              <a:rPr lang="en-US" sz="1400" dirty="0">
                <a:solidFill>
                  <a:schemeClr val="tx1"/>
                </a:solidFill>
              </a:rPr>
              <a:t>Yesterday, top issue, decide: readable in ten seconds, generated at 07:00 from the data up to the last working day.</a:t>
            </a:r>
            <a:endParaRPr lang="en-US" sz="1400" dirty="0"/>
          </a:p>
        </p:txBody>
      </p:sp>
      <p:sp>
        <p:nvSpPr>
          <p:cNvPr id="10" name="Step 2"/>
          <p:cNvSpPr txBox="1"/>
          <p:nvPr/>
        </p:nvSpPr>
        <p:spPr>
          <a:xfrm>
            <a:off x="8001000" y="2944368"/>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Label"/>
          <p:cNvSpPr txBox="1"/>
          <p:nvPr/>
        </p:nvSpPr>
        <p:spPr>
          <a:xfrm>
            <a:off x="8595360" y="2944368"/>
            <a:ext cx="3044952" cy="457200"/>
          </a:xfrm>
          <a:prstGeom prst="rect">
            <a:avLst/>
          </a:prstGeom>
          <a:noFill/>
          <a:ln/>
        </p:spPr>
        <p:txBody>
          <a:bodyPr wrap="square" lIns="0" tIns="0" rIns="0" bIns="0" rtlCol="0" anchor="ctr"/>
          <a:lstStyle/>
          <a:p>
            <a:pPr algn="l" indent="0" marL="0">
              <a:buNone/>
            </a:pPr>
            <a:r>
              <a:rPr lang="en-US" sz="1800" b="1" dirty="0">
                <a:solidFill>
                  <a:schemeClr val="tx2"/>
                </a:solidFill>
              </a:rPr>
              <a:t>It finds the problem itself</a:t>
            </a:r>
            <a:endParaRPr lang="en-US" sz="1800" dirty="0"/>
          </a:p>
        </p:txBody>
      </p:sp>
      <p:sp>
        <p:nvSpPr>
          <p:cNvPr id="12" name="Note"/>
          <p:cNvSpPr txBox="1"/>
          <p:nvPr/>
        </p:nvSpPr>
        <p:spPr>
          <a:xfrm>
            <a:off x="8595360" y="3447288"/>
            <a:ext cx="3044952" cy="960120"/>
          </a:xfrm>
          <a:prstGeom prst="rect">
            <a:avLst/>
          </a:prstGeom>
          <a:noFill/>
          <a:ln/>
        </p:spPr>
        <p:txBody>
          <a:bodyPr wrap="square" lIns="0" tIns="0" rIns="0" bIns="0" rtlCol="0" anchor="t"/>
          <a:lstStyle/>
          <a:p>
            <a:pPr algn="l" indent="0" marL="0">
              <a:buNone/>
            </a:pPr>
            <a:r>
              <a:rPr lang="en-US" sz="1400" dirty="0">
                <a:solidFill>
                  <a:schemeClr val="tx1"/>
                </a:solidFill>
              </a:rPr>
              <a:t>“All 6 active TrendCart orders have stopped moving”: a shared cause, not the queue. Nobody asked it to look.</a:t>
            </a:r>
            <a:endParaRPr lang="en-US" sz="1400" dirty="0"/>
          </a:p>
        </p:txBody>
      </p:sp>
      <p:sp>
        <p:nvSpPr>
          <p:cNvPr id="13" name="Step 3"/>
          <p:cNvSpPr txBox="1"/>
          <p:nvPr/>
        </p:nvSpPr>
        <p:spPr>
          <a:xfrm>
            <a:off x="8001000" y="4517136"/>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Label"/>
          <p:cNvSpPr txBox="1"/>
          <p:nvPr/>
        </p:nvSpPr>
        <p:spPr>
          <a:xfrm>
            <a:off x="8595360" y="4517136"/>
            <a:ext cx="3044952" cy="457200"/>
          </a:xfrm>
          <a:prstGeom prst="rect">
            <a:avLst/>
          </a:prstGeom>
          <a:noFill/>
          <a:ln/>
        </p:spPr>
        <p:txBody>
          <a:bodyPr wrap="square" lIns="0" tIns="0" rIns="0" bIns="0" rtlCol="0" anchor="ctr"/>
          <a:lstStyle/>
          <a:p>
            <a:pPr algn="l" indent="0" marL="0">
              <a:buNone/>
            </a:pPr>
            <a:r>
              <a:rPr lang="en-US" sz="1800" b="1" dirty="0">
                <a:solidFill>
                  <a:schemeClr val="tx2"/>
                </a:solidFill>
              </a:rPr>
              <a:t>Decide today</a:t>
            </a:r>
            <a:endParaRPr lang="en-US" sz="1800" dirty="0"/>
          </a:p>
        </p:txBody>
      </p:sp>
      <p:sp>
        <p:nvSpPr>
          <p:cNvPr id="15" name="Note"/>
          <p:cNvSpPr txBox="1"/>
          <p:nvPr/>
        </p:nvSpPr>
        <p:spPr>
          <a:xfrm>
            <a:off x="8595360" y="5020056"/>
            <a:ext cx="3044952" cy="960120"/>
          </a:xfrm>
          <a:prstGeom prst="rect">
            <a:avLst/>
          </a:prstGeom>
          <a:noFill/>
          <a:ln/>
        </p:spPr>
        <p:txBody>
          <a:bodyPr wrap="square" lIns="0" tIns="0" rIns="0" bIns="0" rtlCol="0" anchor="t"/>
          <a:lstStyle/>
          <a:p>
            <a:pPr algn="l" indent="0" marL="0">
              <a:buNone/>
            </a:pPr>
            <a:r>
              <a:rPr lang="en-US" sz="1400" dirty="0">
                <a:solidFill>
                  <a:schemeClr val="tx1"/>
                </a:solidFill>
              </a:rPr>
              <a:t>6 overdue and 9 due this week; 27 of 34 orders in progress are at risk. Every number opens the rows behind it.</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It asks, remembers, and admits what it can't know</a:t>
            </a:r>
            <a:endParaRPr lang="en-US" sz="3200" dirty="0"/>
          </a:p>
        </p:txBody>
      </p:sp>
      <p:sp>
        <p:nvSpPr>
          <p:cNvPr id="3" name="Label"/>
          <p:cNvSpPr txBox="1"/>
          <p:nvPr/>
        </p:nvSpPr>
        <p:spPr>
          <a:xfrm>
            <a:off x="717144" y="1234440"/>
            <a:ext cx="4276800" cy="411480"/>
          </a:xfrm>
          <a:prstGeom prst="rect">
            <a:avLst/>
          </a:prstGeom>
          <a:noFill/>
          <a:ln/>
        </p:spPr>
        <p:txBody>
          <a:bodyPr wrap="square" lIns="0" tIns="0" rIns="0" bIns="0" rtlCol="0" anchor="ctr"/>
          <a:lstStyle/>
          <a:p>
            <a:pPr algn="l" indent="0" marL="0">
              <a:buNone/>
            </a:pPr>
            <a:r>
              <a:rPr lang="en-US" sz="1700" b="1" dirty="0">
                <a:solidFill>
                  <a:schemeClr val="tx2"/>
                </a:solidFill>
              </a:rPr>
              <a:t>A vague question: it asks</a:t>
            </a:r>
            <a:endParaRPr lang="en-US" sz="1700" dirty="0"/>
          </a:p>
        </p:txBody>
      </p:sp>
      <p:sp>
        <p:nvSpPr>
          <p:cNvPr id="4" name="Chat screenshot 1 frame"/>
          <p:cNvSpPr/>
          <p:nvPr/>
        </p:nvSpPr>
        <p:spPr>
          <a:xfrm>
            <a:off x="671424" y="1691640"/>
            <a:ext cx="4368240" cy="3794760"/>
          </a:xfrm>
          <a:prstGeom prst="roundRect">
            <a:avLst>
              <a:gd name="adj" fmla="val 1446"/>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Chat screenshot 1" descr="Chat: “How is the TrendCart order doing?” answered with a question and six choices">    </p:cNvPr>
          <p:cNvPicPr>
            <a:picLocks noChangeAspect="1"/>
          </p:cNvPicPr>
          <p:nvPr/>
        </p:nvPicPr>
        <p:blipFill>
          <a:blip r:embed="rId1"/>
          <a:stretch>
            <a:fillRect/>
          </a:stretch>
        </p:blipFill>
        <p:spPr>
          <a:xfrm>
            <a:off x="717144" y="1737360"/>
            <a:ext cx="4276800" cy="3703320"/>
          </a:xfrm>
          <a:prstGeom prst="rect">
            <a:avLst/>
          </a:prstGeom>
        </p:spPr>
      </p:pic>
      <p:sp>
        <p:nvSpPr>
          <p:cNvPr id="6" name="Note"/>
          <p:cNvSpPr txBox="1"/>
          <p:nvPr/>
        </p:nvSpPr>
        <p:spPr>
          <a:xfrm>
            <a:off x="717144" y="5577840"/>
            <a:ext cx="4276800" cy="457200"/>
          </a:xfrm>
          <a:prstGeom prst="rect">
            <a:avLst/>
          </a:prstGeom>
          <a:noFill/>
          <a:ln/>
        </p:spPr>
        <p:txBody>
          <a:bodyPr wrap="square" lIns="0" tIns="0" rIns="0" bIns="0" rtlCol="0" anchor="t"/>
          <a:lstStyle/>
          <a:p>
            <a:pPr algn="l" indent="0" marL="0">
              <a:buNone/>
            </a:pPr>
            <a:r>
              <a:rPr lang="en-US" sz="1200" dirty="0">
                <a:solidFill>
                  <a:schemeClr val="tx1"/>
                </a:solidFill>
              </a:rPr>
              <a:t>“The TrendCart order” could be any of six, so it asks.</a:t>
            </a:r>
            <a:endParaRPr lang="en-US" sz="1200" dirty="0"/>
          </a:p>
        </p:txBody>
      </p:sp>
      <p:sp>
        <p:nvSpPr>
          <p:cNvPr id="7" name="Label"/>
          <p:cNvSpPr txBox="1"/>
          <p:nvPr/>
        </p:nvSpPr>
        <p:spPr>
          <a:xfrm>
            <a:off x="5359704" y="1234440"/>
            <a:ext cx="2799761" cy="411480"/>
          </a:xfrm>
          <a:prstGeom prst="rect">
            <a:avLst/>
          </a:prstGeom>
          <a:noFill/>
          <a:ln/>
        </p:spPr>
        <p:txBody>
          <a:bodyPr wrap="square" lIns="0" tIns="0" rIns="0" bIns="0" rtlCol="0" anchor="ctr"/>
          <a:lstStyle/>
          <a:p>
            <a:pPr algn="l" indent="0" marL="0">
              <a:buNone/>
            </a:pPr>
            <a:r>
              <a:rPr lang="en-US" sz="1700" b="1" dirty="0">
                <a:solidFill>
                  <a:schemeClr val="tx2"/>
                </a:solidFill>
              </a:rPr>
              <a:t>A follow-up: it remembers</a:t>
            </a:r>
            <a:endParaRPr lang="en-US" sz="1700" dirty="0"/>
          </a:p>
        </p:txBody>
      </p:sp>
      <p:sp>
        <p:nvSpPr>
          <p:cNvPr id="8" name="Chat screenshot 2 frame"/>
          <p:cNvSpPr/>
          <p:nvPr/>
        </p:nvSpPr>
        <p:spPr>
          <a:xfrm>
            <a:off x="5313984" y="1691640"/>
            <a:ext cx="2891201" cy="3794760"/>
          </a:xfrm>
          <a:prstGeom prst="roundRect">
            <a:avLst>
              <a:gd name="adj" fmla="val 1898"/>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Chat screenshot 2" descr="Chat: three short follow-up questions about ORD-120, each answered about that order">    </p:cNvPr>
          <p:cNvPicPr>
            <a:picLocks noChangeAspect="1"/>
          </p:cNvPicPr>
          <p:nvPr/>
        </p:nvPicPr>
        <p:blipFill>
          <a:blip r:embed="rId2"/>
          <a:stretch>
            <a:fillRect/>
          </a:stretch>
        </p:blipFill>
        <p:spPr>
          <a:xfrm>
            <a:off x="5359704" y="1737360"/>
            <a:ext cx="2799761" cy="3703320"/>
          </a:xfrm>
          <a:prstGeom prst="rect">
            <a:avLst/>
          </a:prstGeom>
        </p:spPr>
      </p:pic>
      <p:sp>
        <p:nvSpPr>
          <p:cNvPr id="10" name="Note"/>
          <p:cNvSpPr txBox="1"/>
          <p:nvPr/>
        </p:nvSpPr>
        <p:spPr>
          <a:xfrm>
            <a:off x="5359704" y="5577840"/>
            <a:ext cx="2799761" cy="457200"/>
          </a:xfrm>
          <a:prstGeom prst="rect">
            <a:avLst/>
          </a:prstGeom>
          <a:noFill/>
          <a:ln/>
        </p:spPr>
        <p:txBody>
          <a:bodyPr wrap="square" lIns="0" tIns="0" rIns="0" bIns="0" rtlCol="0" anchor="t"/>
          <a:lstStyle/>
          <a:p>
            <a:pPr algn="l" indent="0" marL="0">
              <a:buNone/>
            </a:pPr>
            <a:r>
              <a:rPr lang="en-US" sz="1200" dirty="0">
                <a:solidFill>
                  <a:schemeClr val="tx1"/>
                </a:solidFill>
              </a:rPr>
              <a:t>“Who is the customer?” needs no order number.</a:t>
            </a:r>
            <a:endParaRPr lang="en-US" sz="1200" dirty="0"/>
          </a:p>
        </p:txBody>
      </p:sp>
      <p:sp>
        <p:nvSpPr>
          <p:cNvPr id="11" name="Label"/>
          <p:cNvSpPr txBox="1"/>
          <p:nvPr/>
        </p:nvSpPr>
        <p:spPr>
          <a:xfrm>
            <a:off x="8525225" y="1234440"/>
            <a:ext cx="2946584" cy="411480"/>
          </a:xfrm>
          <a:prstGeom prst="rect">
            <a:avLst/>
          </a:prstGeom>
          <a:noFill/>
          <a:ln/>
        </p:spPr>
        <p:txBody>
          <a:bodyPr wrap="square" lIns="0" tIns="0" rIns="0" bIns="0" rtlCol="0" anchor="ctr"/>
          <a:lstStyle/>
          <a:p>
            <a:pPr algn="l" indent="0" marL="0">
              <a:buNone/>
            </a:pPr>
            <a:r>
              <a:rPr lang="en-US" sz="1700" b="1" dirty="0">
                <a:solidFill>
                  <a:schemeClr val="tx2"/>
                </a:solidFill>
              </a:rPr>
              <a:t>No data: it says so</a:t>
            </a:r>
            <a:endParaRPr lang="en-US" sz="1700" dirty="0"/>
          </a:p>
        </p:txBody>
      </p:sp>
      <p:sp>
        <p:nvSpPr>
          <p:cNvPr id="12" name="Chat screenshot 3 frame"/>
          <p:cNvSpPr/>
          <p:nvPr/>
        </p:nvSpPr>
        <p:spPr>
          <a:xfrm>
            <a:off x="8479505" y="1691640"/>
            <a:ext cx="3038024" cy="3794760"/>
          </a:xfrm>
          <a:prstGeom prst="roundRect">
            <a:avLst>
              <a:gd name="adj" fmla="val 1806"/>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3" name="Chat screenshot 3" descr="Chat: a refusal for revenue, and the size of the washing drop with a note that the log holds no causes">    </p:cNvPr>
          <p:cNvPicPr>
            <a:picLocks noChangeAspect="1"/>
          </p:cNvPicPr>
          <p:nvPr/>
        </p:nvPicPr>
        <p:blipFill>
          <a:blip r:embed="rId3"/>
          <a:stretch>
            <a:fillRect/>
          </a:stretch>
        </p:blipFill>
        <p:spPr>
          <a:xfrm>
            <a:off x="8525225" y="1737360"/>
            <a:ext cx="2946584" cy="3703320"/>
          </a:xfrm>
          <a:prstGeom prst="rect">
            <a:avLst/>
          </a:prstGeom>
        </p:spPr>
      </p:pic>
      <p:sp>
        <p:nvSpPr>
          <p:cNvPr id="14" name="Note"/>
          <p:cNvSpPr txBox="1"/>
          <p:nvPr/>
        </p:nvSpPr>
        <p:spPr>
          <a:xfrm>
            <a:off x="8525225" y="5577840"/>
            <a:ext cx="2946584" cy="457200"/>
          </a:xfrm>
          <a:prstGeom prst="rect">
            <a:avLst/>
          </a:prstGeom>
          <a:noFill/>
          <a:ln/>
        </p:spPr>
        <p:txBody>
          <a:bodyPr wrap="square" lIns="0" tIns="0" rIns="0" bIns="0" rtlCol="0" anchor="t"/>
          <a:lstStyle/>
          <a:p>
            <a:pPr algn="l" indent="0" marL="0">
              <a:buNone/>
            </a:pPr>
            <a:r>
              <a:rPr lang="en-US" sz="1200" dirty="0">
                <a:solidFill>
                  <a:schemeClr val="tx1"/>
                </a:solidFill>
              </a:rPr>
              <a:t>Revenue: refused. Washing drop: the size, no invented cause.</a:t>
            </a:r>
            <a:endParaRPr lang="en-US" sz="1200" dirty="0"/>
          </a:p>
        </p:txBody>
      </p:sp>
      <p:sp>
        <p:nvSpPr>
          <p:cNvPr id="15" name="Found by recording"/>
          <p:cNvSpPr txBox="1"/>
          <p:nvPr/>
        </p:nvSpPr>
        <p:spPr>
          <a:xfrm>
            <a:off x="548640" y="6053328"/>
            <a:ext cx="11091672" cy="274320"/>
          </a:xfrm>
          <a:prstGeom prst="rect">
            <a:avLst/>
          </a:prstGeom>
          <a:noFill/>
          <a:ln/>
        </p:spPr>
        <p:txBody>
          <a:bodyPr wrap="square" lIns="0" tIns="0" rIns="0" bIns="0" rtlCol="0" anchor="ctr"/>
          <a:lstStyle/>
          <a:p>
            <a:pPr algn="l" indent="0" marL="0">
              <a:buNone/>
            </a:pPr>
            <a:r>
              <a:rPr lang="en-US" sz="1200" b="1" dirty="0">
                <a:solidFill>
                  <a:schemeClr val="accent2"/>
                </a:solidFill>
              </a:rPr>
              <a:t>Found by recording: </a:t>
            </a:r>
            <a:pPr algn="l" indent="0" marL="0">
              <a:buNone/>
            </a:pPr>
            <a:r>
              <a:rPr lang="en-US" sz="1200" dirty="0">
                <a:solidFill>
                  <a:schemeClr val="tx1"/>
                </a:solidFill>
              </a:rPr>
              <a:t>turning nine scenarios into scripts exposed six follow-ups that lost the thread. They are fixed, and a test re-records the scenarios on every run.</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 designed tool set, not a chat window</a:t>
            </a:r>
            <a:endParaRPr lang="en-US" sz="3200" dirty="0"/>
          </a:p>
        </p:txBody>
      </p:sp>
      <p:sp>
        <p:nvSpPr>
          <p:cNvPr id="3" name="Text 1"/>
          <p:cNvSpPr txBox="1"/>
          <p:nvPr/>
        </p:nvSpPr>
        <p:spPr>
          <a:xfrm>
            <a:off x="128016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TOOL KIND</a:t>
            </a:r>
            <a:endParaRPr lang="en-US" sz="1200" dirty="0"/>
          </a:p>
        </p:txBody>
      </p:sp>
      <p:sp>
        <p:nvSpPr>
          <p:cNvPr id="4" name="Text 2"/>
          <p:cNvSpPr txBox="1"/>
          <p:nvPr/>
        </p:nvSpPr>
        <p:spPr>
          <a:xfrm>
            <a:off x="301752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WHAT OURS DOES</a:t>
            </a:r>
            <a:endParaRPr lang="en-US" sz="1200" dirty="0"/>
          </a:p>
        </p:txBody>
      </p:sp>
      <p:sp>
        <p:nvSpPr>
          <p:cNvPr id="5" name="Text 3"/>
          <p:cNvSpPr txBox="1"/>
          <p:nvPr/>
        </p:nvSpPr>
        <p:spPr>
          <a:xfrm>
            <a:off x="841248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DELIBERATELY DOES NOT</a:t>
            </a:r>
            <a:endParaRPr lang="en-US" sz="1200" dirty="0"/>
          </a:p>
        </p:txBody>
      </p:sp>
      <p:sp>
        <p:nvSpPr>
          <p:cNvPr id="6" name="Row Retrieval"/>
          <p:cNvSpPr/>
          <p:nvPr/>
        </p:nvSpPr>
        <p:spPr>
          <a:xfrm>
            <a:off x="548640" y="1645920"/>
            <a:ext cx="11091672" cy="713232"/>
          </a:xfrm>
          <a:prstGeom prst="roundRect">
            <a:avLst>
              <a:gd name="adj" fmla="val 10256"/>
            </a:avLst>
          </a:prstGeom>
          <a:solidFill>
            <a:schemeClr val="bg2"/>
          </a:solidFill>
          <a:ln/>
        </p:spPr>
      </p:sp>
      <p:sp>
        <p:nvSpPr>
          <p:cNvPr id="7" name="Icon disc Retrieval"/>
          <p:cNvSpPr/>
          <p:nvPr/>
        </p:nvSpPr>
        <p:spPr>
          <a:xfrm>
            <a:off x="713232" y="1773936"/>
            <a:ext cx="457200" cy="457200"/>
          </a:xfrm>
          <a:prstGeom prst="ellipse">
            <a:avLst/>
          </a:prstGeom>
          <a:solidFill>
            <a:schemeClr val="accent1"/>
          </a:solidFill>
          <a:ln w="6350">
            <a:solidFill>
              <a:schemeClr val="accent1"/>
            </a:solidFill>
            <a:prstDash val="solid"/>
          </a:ln>
        </p:spPr>
      </p:sp>
      <p:pic>
        <p:nvPicPr>
          <p:cNvPr id="8" name="Image 0" descr="Retrieval icon">    </p:cNvPr>
          <p:cNvPicPr>
            <a:picLocks noChangeAspect="1"/>
          </p:cNvPicPr>
          <p:nvPr/>
        </p:nvPicPr>
        <p:blipFill>
          <a:blip r:embed="rId1"/>
          <a:stretch>
            <a:fillRect/>
          </a:stretch>
        </p:blipFill>
        <p:spPr>
          <a:xfrm>
            <a:off x="822960" y="1883664"/>
            <a:ext cx="237744" cy="237744"/>
          </a:xfrm>
          <a:prstGeom prst="rect">
            <a:avLst/>
          </a:prstGeom>
        </p:spPr>
      </p:pic>
      <p:sp>
        <p:nvSpPr>
          <p:cNvPr id="9" name="Text 6"/>
          <p:cNvSpPr txBox="1"/>
          <p:nvPr/>
        </p:nvSpPr>
        <p:spPr>
          <a:xfrm>
            <a:off x="1280160" y="1645920"/>
            <a:ext cx="1645920" cy="713232"/>
          </a:xfrm>
          <a:prstGeom prst="rect">
            <a:avLst/>
          </a:prstGeom>
          <a:noFill/>
          <a:ln/>
        </p:spPr>
        <p:txBody>
          <a:bodyPr wrap="square" lIns="0" tIns="0" rIns="0" bIns="0" rtlCol="0" anchor="ctr"/>
          <a:lstStyle/>
          <a:p>
            <a:pPr algn="l" indent="0" marL="0">
              <a:buNone/>
            </a:pPr>
            <a:r>
              <a:rPr lang="en-US" sz="1800" b="1" dirty="0">
                <a:solidFill>
                  <a:schemeClr val="tx2"/>
                </a:solidFill>
              </a:rPr>
              <a:t>Retrieval</a:t>
            </a:r>
            <a:endParaRPr lang="en-US" sz="1800" dirty="0"/>
          </a:p>
        </p:txBody>
      </p:sp>
      <p:sp>
        <p:nvSpPr>
          <p:cNvPr id="10" name="Text 7"/>
          <p:cNvSpPr txBox="1"/>
          <p:nvPr/>
        </p:nvSpPr>
        <p:spPr>
          <a:xfrm>
            <a:off x="3017520" y="1645920"/>
            <a:ext cx="5212080" cy="713232"/>
          </a:xfrm>
          <a:prstGeom prst="rect">
            <a:avLst/>
          </a:prstGeom>
          <a:noFill/>
          <a:ln/>
        </p:spPr>
        <p:txBody>
          <a:bodyPr wrap="square" lIns="0" tIns="0" rIns="0" bIns="0" rtlCol="0" anchor="ctr"/>
          <a:lstStyle/>
          <a:p>
            <a:pPr algn="l" indent="0" marL="0">
              <a:buNone/>
            </a:pPr>
            <a:r>
              <a:rPr lang="en-US" sz="1400" dirty="0">
                <a:solidFill>
                  <a:schemeClr val="tx1"/>
                </a:solidFill>
              </a:rPr>
              <a:t>Typed order look-ups, plus a read-only SQL agent (SELECT only) for everything else</a:t>
            </a:r>
            <a:endParaRPr lang="en-US" sz="1400" dirty="0"/>
          </a:p>
        </p:txBody>
      </p:sp>
      <p:sp>
        <p:nvSpPr>
          <p:cNvPr id="11" name="Text 8"/>
          <p:cNvSpPr txBox="1"/>
          <p:nvPr/>
        </p:nvSpPr>
        <p:spPr>
          <a:xfrm>
            <a:off x="8412480" y="1645920"/>
            <a:ext cx="3108960" cy="713232"/>
          </a:xfrm>
          <a:prstGeom prst="rect">
            <a:avLst/>
          </a:prstGeom>
          <a:noFill/>
          <a:ln/>
        </p:spPr>
        <p:txBody>
          <a:bodyPr wrap="square" lIns="0" tIns="0" rIns="0" bIns="0" rtlCol="0" anchor="ctr"/>
          <a:lstStyle/>
          <a:p>
            <a:pPr algn="l" indent="0" marL="0">
              <a:buNone/>
            </a:pPr>
            <a:r>
              <a:rPr lang="en-US" sz="1400" dirty="0">
                <a:solidFill>
                  <a:schemeClr val="tx1"/>
                </a:solidFill>
              </a:rPr>
              <a:t>Pick the first match when several fit</a:t>
            </a:r>
            <a:endParaRPr lang="en-US" sz="1400" dirty="0"/>
          </a:p>
        </p:txBody>
      </p:sp>
      <p:sp>
        <p:nvSpPr>
          <p:cNvPr id="12" name="Row Judgement"/>
          <p:cNvSpPr/>
          <p:nvPr/>
        </p:nvSpPr>
        <p:spPr>
          <a:xfrm>
            <a:off x="548640" y="2432304"/>
            <a:ext cx="11091672" cy="713232"/>
          </a:xfrm>
          <a:prstGeom prst="roundRect">
            <a:avLst>
              <a:gd name="adj" fmla="val 10256"/>
            </a:avLst>
          </a:prstGeom>
          <a:solidFill>
            <a:schemeClr val="bg2"/>
          </a:solidFill>
          <a:ln/>
        </p:spPr>
      </p:sp>
      <p:sp>
        <p:nvSpPr>
          <p:cNvPr id="13" name="Icon disc Judgement"/>
          <p:cNvSpPr/>
          <p:nvPr/>
        </p:nvSpPr>
        <p:spPr>
          <a:xfrm>
            <a:off x="713232" y="2560320"/>
            <a:ext cx="457200" cy="457200"/>
          </a:xfrm>
          <a:prstGeom prst="ellipse">
            <a:avLst/>
          </a:prstGeom>
          <a:solidFill>
            <a:schemeClr val="accent1"/>
          </a:solidFill>
          <a:ln w="6350">
            <a:solidFill>
              <a:schemeClr val="accent1"/>
            </a:solidFill>
            <a:prstDash val="solid"/>
          </a:ln>
        </p:spPr>
      </p:sp>
      <p:pic>
        <p:nvPicPr>
          <p:cNvPr id="14" name="Image 1" descr="Judgement icon">    </p:cNvPr>
          <p:cNvPicPr>
            <a:picLocks noChangeAspect="1"/>
          </p:cNvPicPr>
          <p:nvPr/>
        </p:nvPicPr>
        <p:blipFill>
          <a:blip r:embed="rId2"/>
          <a:stretch>
            <a:fillRect/>
          </a:stretch>
        </p:blipFill>
        <p:spPr>
          <a:xfrm>
            <a:off x="822960" y="2670048"/>
            <a:ext cx="237744" cy="237744"/>
          </a:xfrm>
          <a:prstGeom prst="rect">
            <a:avLst/>
          </a:prstGeom>
        </p:spPr>
      </p:pic>
      <p:sp>
        <p:nvSpPr>
          <p:cNvPr id="15" name="Text 11"/>
          <p:cNvSpPr txBox="1"/>
          <p:nvPr/>
        </p:nvSpPr>
        <p:spPr>
          <a:xfrm>
            <a:off x="1280160" y="2432304"/>
            <a:ext cx="1645920" cy="713232"/>
          </a:xfrm>
          <a:prstGeom prst="rect">
            <a:avLst/>
          </a:prstGeom>
          <a:noFill/>
          <a:ln/>
        </p:spPr>
        <p:txBody>
          <a:bodyPr wrap="square" lIns="0" tIns="0" rIns="0" bIns="0" rtlCol="0" anchor="ctr"/>
          <a:lstStyle/>
          <a:p>
            <a:pPr algn="l" indent="0" marL="0">
              <a:buNone/>
            </a:pPr>
            <a:r>
              <a:rPr lang="en-US" sz="1800" b="1" dirty="0">
                <a:solidFill>
                  <a:schemeClr val="tx2"/>
                </a:solidFill>
              </a:rPr>
              <a:t>Judgement</a:t>
            </a:r>
            <a:endParaRPr lang="en-US" sz="1800" dirty="0"/>
          </a:p>
        </p:txBody>
      </p:sp>
      <p:sp>
        <p:nvSpPr>
          <p:cNvPr id="16" name="Text 12"/>
          <p:cNvSpPr txBox="1"/>
          <p:nvPr/>
        </p:nvSpPr>
        <p:spPr>
          <a:xfrm>
            <a:off x="3017520" y="2432304"/>
            <a:ext cx="5212080" cy="713232"/>
          </a:xfrm>
          <a:prstGeom prst="rect">
            <a:avLst/>
          </a:prstGeom>
          <a:noFill/>
          <a:ln/>
        </p:spPr>
        <p:txBody>
          <a:bodyPr wrap="square" lIns="0" tIns="0" rIns="0" bIns="0" rtlCol="0" anchor="ctr"/>
          <a:lstStyle/>
          <a:p>
            <a:pPr algn="l" indent="0" marL="0">
              <a:buNone/>
            </a:pPr>
            <a:r>
              <a:rPr lang="en-US" sz="1400" dirty="0">
                <a:solidFill>
                  <a:schemeClr val="tx1"/>
                </a:solidFill>
              </a:rPr>
              <a:t>“Normal” = mean of the previous 8 same weekdays ± the larger of 1.5 SD or 5%; Sundays closed</a:t>
            </a:r>
            <a:endParaRPr lang="en-US" sz="1400" dirty="0"/>
          </a:p>
        </p:txBody>
      </p:sp>
      <p:sp>
        <p:nvSpPr>
          <p:cNvPr id="17" name="Text 13"/>
          <p:cNvSpPr txBox="1"/>
          <p:nvPr/>
        </p:nvSpPr>
        <p:spPr>
          <a:xfrm>
            <a:off x="8412480" y="2432304"/>
            <a:ext cx="3108960" cy="713232"/>
          </a:xfrm>
          <a:prstGeom prst="rect">
            <a:avLst/>
          </a:prstGeom>
          <a:noFill/>
          <a:ln/>
        </p:spPr>
        <p:txBody>
          <a:bodyPr wrap="square" lIns="0" tIns="0" rIns="0" bIns="0" rtlCol="0" anchor="ctr"/>
          <a:lstStyle/>
          <a:p>
            <a:pPr algn="l" indent="0" marL="0">
              <a:buNone/>
            </a:pPr>
            <a:r>
              <a:rPr lang="en-US" sz="1400" dirty="0">
                <a:solidFill>
                  <a:schemeClr val="tx1"/>
                </a:solidFill>
              </a:rPr>
              <a:t>Treat one low day as proof of a fault</a:t>
            </a:r>
            <a:endParaRPr lang="en-US" sz="1400" dirty="0"/>
          </a:p>
        </p:txBody>
      </p:sp>
      <p:sp>
        <p:nvSpPr>
          <p:cNvPr id="18" name="Row Tracing"/>
          <p:cNvSpPr/>
          <p:nvPr/>
        </p:nvSpPr>
        <p:spPr>
          <a:xfrm>
            <a:off x="548640" y="3218688"/>
            <a:ext cx="11091672" cy="713232"/>
          </a:xfrm>
          <a:prstGeom prst="roundRect">
            <a:avLst>
              <a:gd name="adj" fmla="val 10256"/>
            </a:avLst>
          </a:prstGeom>
          <a:solidFill>
            <a:schemeClr val="bg2"/>
          </a:solidFill>
          <a:ln/>
        </p:spPr>
      </p:sp>
      <p:sp>
        <p:nvSpPr>
          <p:cNvPr id="19" name="Icon disc Tracing"/>
          <p:cNvSpPr/>
          <p:nvPr/>
        </p:nvSpPr>
        <p:spPr>
          <a:xfrm>
            <a:off x="713232" y="3346704"/>
            <a:ext cx="457200" cy="457200"/>
          </a:xfrm>
          <a:prstGeom prst="ellipse">
            <a:avLst/>
          </a:prstGeom>
          <a:solidFill>
            <a:schemeClr val="accent1"/>
          </a:solidFill>
          <a:ln w="6350">
            <a:solidFill>
              <a:schemeClr val="accent1"/>
            </a:solidFill>
            <a:prstDash val="solid"/>
          </a:ln>
        </p:spPr>
      </p:sp>
      <p:pic>
        <p:nvPicPr>
          <p:cNvPr id="20" name="Image 2" descr="Tracing icon">    </p:cNvPr>
          <p:cNvPicPr>
            <a:picLocks noChangeAspect="1"/>
          </p:cNvPicPr>
          <p:nvPr/>
        </p:nvPicPr>
        <p:blipFill>
          <a:blip r:embed="rId3"/>
          <a:stretch>
            <a:fillRect/>
          </a:stretch>
        </p:blipFill>
        <p:spPr>
          <a:xfrm>
            <a:off x="822960" y="3456432"/>
            <a:ext cx="237744" cy="237744"/>
          </a:xfrm>
          <a:prstGeom prst="rect">
            <a:avLst/>
          </a:prstGeom>
        </p:spPr>
      </p:pic>
      <p:sp>
        <p:nvSpPr>
          <p:cNvPr id="21" name="Text 16"/>
          <p:cNvSpPr txBox="1"/>
          <p:nvPr/>
        </p:nvSpPr>
        <p:spPr>
          <a:xfrm>
            <a:off x="1280160" y="3218688"/>
            <a:ext cx="1645920" cy="713232"/>
          </a:xfrm>
          <a:prstGeom prst="rect">
            <a:avLst/>
          </a:prstGeom>
          <a:noFill/>
          <a:ln/>
        </p:spPr>
        <p:txBody>
          <a:bodyPr wrap="square" lIns="0" tIns="0" rIns="0" bIns="0" rtlCol="0" anchor="ctr"/>
          <a:lstStyle/>
          <a:p>
            <a:pPr algn="l" indent="0" marL="0">
              <a:buNone/>
            </a:pPr>
            <a:r>
              <a:rPr lang="en-US" sz="1800" b="1" dirty="0">
                <a:solidFill>
                  <a:schemeClr val="tx2"/>
                </a:solidFill>
              </a:rPr>
              <a:t>Tracing</a:t>
            </a:r>
            <a:endParaRPr lang="en-US" sz="1800" dirty="0"/>
          </a:p>
        </p:txBody>
      </p:sp>
      <p:sp>
        <p:nvSpPr>
          <p:cNvPr id="22" name="Text 17"/>
          <p:cNvSpPr txBox="1"/>
          <p:nvPr/>
        </p:nvSpPr>
        <p:spPr>
          <a:xfrm>
            <a:off x="3017520" y="3218688"/>
            <a:ext cx="5212080" cy="713232"/>
          </a:xfrm>
          <a:prstGeom prst="rect">
            <a:avLst/>
          </a:prstGeom>
          <a:noFill/>
          <a:ln/>
        </p:spPr>
        <p:txBody>
          <a:bodyPr wrap="square" lIns="0" tIns="0" rIns="0" bIns="0" rtlCol="0" anchor="ctr"/>
          <a:lstStyle/>
          <a:p>
            <a:pPr algn="l" indent="0" marL="0">
              <a:buNone/>
            </a:pPr>
            <a:r>
              <a:rPr lang="en-US" sz="1400" dirty="0">
                <a:solidFill>
                  <a:schemeClr val="tx1"/>
                </a:solidFill>
              </a:rPr>
              <a:t>Every number links to the source file and row behind it</a:t>
            </a:r>
            <a:endParaRPr lang="en-US" sz="1400" dirty="0"/>
          </a:p>
        </p:txBody>
      </p:sp>
      <p:sp>
        <p:nvSpPr>
          <p:cNvPr id="23" name="Text 18"/>
          <p:cNvSpPr txBox="1"/>
          <p:nvPr/>
        </p:nvSpPr>
        <p:spPr>
          <a:xfrm>
            <a:off x="8412480" y="3218688"/>
            <a:ext cx="3108960" cy="713232"/>
          </a:xfrm>
          <a:prstGeom prst="rect">
            <a:avLst/>
          </a:prstGeom>
          <a:noFill/>
          <a:ln/>
        </p:spPr>
        <p:txBody>
          <a:bodyPr wrap="square" lIns="0" tIns="0" rIns="0" bIns="0" rtlCol="0" anchor="ctr"/>
          <a:lstStyle/>
          <a:p>
            <a:pPr algn="l" indent="0" marL="0">
              <a:buNone/>
            </a:pPr>
            <a:r>
              <a:rPr lang="en-US" sz="1400" dirty="0">
                <a:solidFill>
                  <a:schemeClr val="tx1"/>
                </a:solidFill>
              </a:rPr>
              <a:t>Explain causes the data does not hold</a:t>
            </a:r>
            <a:endParaRPr lang="en-US" sz="1400" dirty="0"/>
          </a:p>
        </p:txBody>
      </p:sp>
      <p:sp>
        <p:nvSpPr>
          <p:cNvPr id="24" name="Row Discovery"/>
          <p:cNvSpPr/>
          <p:nvPr/>
        </p:nvSpPr>
        <p:spPr>
          <a:xfrm>
            <a:off x="548640" y="4005072"/>
            <a:ext cx="11091672" cy="713232"/>
          </a:xfrm>
          <a:prstGeom prst="roundRect">
            <a:avLst>
              <a:gd name="adj" fmla="val 10256"/>
            </a:avLst>
          </a:prstGeom>
          <a:solidFill>
            <a:schemeClr val="bg2"/>
          </a:solidFill>
          <a:ln/>
        </p:spPr>
      </p:sp>
      <p:sp>
        <p:nvSpPr>
          <p:cNvPr id="25" name="Icon disc Discovery"/>
          <p:cNvSpPr/>
          <p:nvPr/>
        </p:nvSpPr>
        <p:spPr>
          <a:xfrm>
            <a:off x="713232" y="4133088"/>
            <a:ext cx="457200" cy="457200"/>
          </a:xfrm>
          <a:prstGeom prst="ellipse">
            <a:avLst/>
          </a:prstGeom>
          <a:solidFill>
            <a:schemeClr val="accent1"/>
          </a:solidFill>
          <a:ln w="6350">
            <a:solidFill>
              <a:schemeClr val="accent1"/>
            </a:solidFill>
            <a:prstDash val="solid"/>
          </a:ln>
        </p:spPr>
      </p:sp>
      <p:pic>
        <p:nvPicPr>
          <p:cNvPr id="26" name="Image 3" descr="Discovery icon">    </p:cNvPr>
          <p:cNvPicPr>
            <a:picLocks noChangeAspect="1"/>
          </p:cNvPicPr>
          <p:nvPr/>
        </p:nvPicPr>
        <p:blipFill>
          <a:blip r:embed="rId4"/>
          <a:stretch>
            <a:fillRect/>
          </a:stretch>
        </p:blipFill>
        <p:spPr>
          <a:xfrm>
            <a:off x="822960" y="4242816"/>
            <a:ext cx="237744" cy="237744"/>
          </a:xfrm>
          <a:prstGeom prst="rect">
            <a:avLst/>
          </a:prstGeom>
        </p:spPr>
      </p:pic>
      <p:sp>
        <p:nvSpPr>
          <p:cNvPr id="27" name="Text 21"/>
          <p:cNvSpPr txBox="1"/>
          <p:nvPr/>
        </p:nvSpPr>
        <p:spPr>
          <a:xfrm>
            <a:off x="1280160" y="4005072"/>
            <a:ext cx="1645920" cy="713232"/>
          </a:xfrm>
          <a:prstGeom prst="rect">
            <a:avLst/>
          </a:prstGeom>
          <a:noFill/>
          <a:ln/>
        </p:spPr>
        <p:txBody>
          <a:bodyPr wrap="square" lIns="0" tIns="0" rIns="0" bIns="0" rtlCol="0" anchor="ctr"/>
          <a:lstStyle/>
          <a:p>
            <a:pPr algn="l" indent="0" marL="0">
              <a:buNone/>
            </a:pPr>
            <a:r>
              <a:rPr lang="en-US" sz="1800" b="1" dirty="0">
                <a:solidFill>
                  <a:schemeClr val="tx2"/>
                </a:solidFill>
              </a:rPr>
              <a:t>Discovery</a:t>
            </a:r>
            <a:endParaRPr lang="en-US" sz="1800" dirty="0"/>
          </a:p>
        </p:txBody>
      </p:sp>
      <p:sp>
        <p:nvSpPr>
          <p:cNvPr id="28" name="Text 22"/>
          <p:cNvSpPr txBox="1"/>
          <p:nvPr/>
        </p:nvSpPr>
        <p:spPr>
          <a:xfrm>
            <a:off x="3017520" y="4005072"/>
            <a:ext cx="5212080" cy="713232"/>
          </a:xfrm>
          <a:prstGeom prst="rect">
            <a:avLst/>
          </a:prstGeom>
          <a:noFill/>
          <a:ln/>
        </p:spPr>
        <p:txBody>
          <a:bodyPr wrap="square" lIns="0" tIns="0" rIns="0" bIns="0" rtlCol="0" anchor="ctr"/>
          <a:lstStyle/>
          <a:p>
            <a:pPr algn="l" indent="0" marL="0">
              <a:buNone/>
            </a:pPr>
            <a:r>
              <a:rPr lang="en-US" sz="1400" dirty="0">
                <a:solidFill>
                  <a:schemeClr val="tx1"/>
                </a:solidFill>
              </a:rPr>
              <a:t>Ranks stalled customers, quiet orders and stages below normal; the top five make the page</a:t>
            </a:r>
            <a:endParaRPr lang="en-US" sz="1400" dirty="0"/>
          </a:p>
        </p:txBody>
      </p:sp>
      <p:sp>
        <p:nvSpPr>
          <p:cNvPr id="29" name="Text 23"/>
          <p:cNvSpPr txBox="1"/>
          <p:nvPr/>
        </p:nvSpPr>
        <p:spPr>
          <a:xfrm>
            <a:off x="8412480" y="4005072"/>
            <a:ext cx="3108960" cy="713232"/>
          </a:xfrm>
          <a:prstGeom prst="rect">
            <a:avLst/>
          </a:prstGeom>
          <a:noFill/>
          <a:ln/>
        </p:spPr>
        <p:txBody>
          <a:bodyPr wrap="square" lIns="0" tIns="0" rIns="0" bIns="0" rtlCol="0" anchor="ctr"/>
          <a:lstStyle/>
          <a:p>
            <a:pPr algn="l" indent="0" marL="0">
              <a:buNone/>
            </a:pPr>
            <a:r>
              <a:rPr lang="en-US" sz="1400" dirty="0">
                <a:solidFill>
                  <a:schemeClr val="tx1"/>
                </a:solidFill>
              </a:rPr>
              <a:t>List every finding</a:t>
            </a:r>
            <a:endParaRPr lang="en-US" sz="1400" dirty="0"/>
          </a:p>
        </p:txBody>
      </p:sp>
      <p:sp>
        <p:nvSpPr>
          <p:cNvPr id="30" name="Row Action"/>
          <p:cNvSpPr/>
          <p:nvPr/>
        </p:nvSpPr>
        <p:spPr>
          <a:xfrm>
            <a:off x="548640" y="4791456"/>
            <a:ext cx="11091672" cy="713232"/>
          </a:xfrm>
          <a:prstGeom prst="roundRect">
            <a:avLst>
              <a:gd name="adj" fmla="val 10256"/>
            </a:avLst>
          </a:prstGeom>
          <a:solidFill>
            <a:schemeClr val="bg2"/>
          </a:solidFill>
          <a:ln/>
        </p:spPr>
      </p:sp>
      <p:sp>
        <p:nvSpPr>
          <p:cNvPr id="31" name="Icon disc Action"/>
          <p:cNvSpPr/>
          <p:nvPr/>
        </p:nvSpPr>
        <p:spPr>
          <a:xfrm>
            <a:off x="713232" y="4919472"/>
            <a:ext cx="457200" cy="457200"/>
          </a:xfrm>
          <a:prstGeom prst="ellipse">
            <a:avLst/>
          </a:prstGeom>
          <a:solidFill>
            <a:schemeClr val="accent1"/>
          </a:solidFill>
          <a:ln w="6350">
            <a:solidFill>
              <a:schemeClr val="accent1"/>
            </a:solidFill>
            <a:prstDash val="solid"/>
          </a:ln>
        </p:spPr>
      </p:sp>
      <p:pic>
        <p:nvPicPr>
          <p:cNvPr id="32" name="Image 4" descr="Action icon">    </p:cNvPr>
          <p:cNvPicPr>
            <a:picLocks noChangeAspect="1"/>
          </p:cNvPicPr>
          <p:nvPr/>
        </p:nvPicPr>
        <p:blipFill>
          <a:blip r:embed="rId5"/>
          <a:stretch>
            <a:fillRect/>
          </a:stretch>
        </p:blipFill>
        <p:spPr>
          <a:xfrm>
            <a:off x="822960" y="5029200"/>
            <a:ext cx="237744" cy="237744"/>
          </a:xfrm>
          <a:prstGeom prst="rect">
            <a:avLst/>
          </a:prstGeom>
        </p:spPr>
      </p:pic>
      <p:sp>
        <p:nvSpPr>
          <p:cNvPr id="33" name="Text 26"/>
          <p:cNvSpPr txBox="1"/>
          <p:nvPr/>
        </p:nvSpPr>
        <p:spPr>
          <a:xfrm>
            <a:off x="1280160" y="4791456"/>
            <a:ext cx="1645920" cy="713232"/>
          </a:xfrm>
          <a:prstGeom prst="rect">
            <a:avLst/>
          </a:prstGeom>
          <a:noFill/>
          <a:ln/>
        </p:spPr>
        <p:txBody>
          <a:bodyPr wrap="square" lIns="0" tIns="0" rIns="0" bIns="0" rtlCol="0" anchor="ctr"/>
          <a:lstStyle/>
          <a:p>
            <a:pPr algn="l" indent="0" marL="0">
              <a:buNone/>
            </a:pPr>
            <a:r>
              <a:rPr lang="en-US" sz="1800" b="1" dirty="0">
                <a:solidFill>
                  <a:schemeClr val="tx2"/>
                </a:solidFill>
              </a:rPr>
              <a:t>Action</a:t>
            </a:r>
            <a:endParaRPr lang="en-US" sz="1800" dirty="0"/>
          </a:p>
        </p:txBody>
      </p:sp>
      <p:sp>
        <p:nvSpPr>
          <p:cNvPr id="34" name="Text 27"/>
          <p:cNvSpPr txBox="1"/>
          <p:nvPr/>
        </p:nvSpPr>
        <p:spPr>
          <a:xfrm>
            <a:off x="3017520" y="4791456"/>
            <a:ext cx="5212080" cy="713232"/>
          </a:xfrm>
          <a:prstGeom prst="rect">
            <a:avLst/>
          </a:prstGeom>
          <a:noFill/>
          <a:ln/>
        </p:spPr>
        <p:txBody>
          <a:bodyPr wrap="square" lIns="0" tIns="0" rIns="0" bIns="0" rtlCol="0" anchor="ctr"/>
          <a:lstStyle/>
          <a:p>
            <a:pPr algn="l" indent="0" marL="0">
              <a:buNone/>
            </a:pPr>
            <a:r>
              <a:rPr lang="en-US" sz="1400" dirty="0">
                <a:solidFill>
                  <a:schemeClr val="tx1"/>
                </a:solidFill>
              </a:rPr>
              <a:t>Preview, then a 15-minute confirmation key; every executed action is logged</a:t>
            </a:r>
            <a:endParaRPr lang="en-US" sz="1400" dirty="0"/>
          </a:p>
        </p:txBody>
      </p:sp>
      <p:sp>
        <p:nvSpPr>
          <p:cNvPr id="35" name="Text 28"/>
          <p:cNvSpPr txBox="1"/>
          <p:nvPr/>
        </p:nvSpPr>
        <p:spPr>
          <a:xfrm>
            <a:off x="8412480" y="4791456"/>
            <a:ext cx="3108960" cy="713232"/>
          </a:xfrm>
          <a:prstGeom prst="rect">
            <a:avLst/>
          </a:prstGeom>
          <a:noFill/>
          <a:ln/>
        </p:spPr>
        <p:txBody>
          <a:bodyPr wrap="square" lIns="0" tIns="0" rIns="0" bIns="0" rtlCol="0" anchor="ctr"/>
          <a:lstStyle/>
          <a:p>
            <a:pPr algn="l" indent="0" marL="0">
              <a:buNone/>
            </a:pPr>
            <a:r>
              <a:rPr lang="en-US" sz="1400" dirty="0">
                <a:solidFill>
                  <a:schemeClr val="tx1"/>
                </a:solidFill>
              </a:rPr>
              <a:t>Send without a matching, unexpired key</a:t>
            </a:r>
            <a:endParaRPr lang="en-US" sz="1400" dirty="0"/>
          </a:p>
        </p:txBody>
      </p:sp>
      <p:sp>
        <p:nvSpPr>
          <p:cNvPr id="36" name="Banner"/>
          <p:cNvSpPr/>
          <p:nvPr/>
        </p:nvSpPr>
        <p:spPr>
          <a:xfrm>
            <a:off x="548640" y="5669280"/>
            <a:ext cx="11091672" cy="566928"/>
          </a:xfrm>
          <a:prstGeom prst="roundRect">
            <a:avLst>
              <a:gd name="adj" fmla="val 12903"/>
            </a:avLst>
          </a:prstGeom>
          <a:solidFill>
            <a:schemeClr val="tx2"/>
          </a:solidFill>
          <a:ln/>
        </p:spPr>
      </p:sp>
      <p:sp>
        <p:nvSpPr>
          <p:cNvPr id="37" name="Text 30"/>
          <p:cNvSpPr txBox="1"/>
          <p:nvPr/>
        </p:nvSpPr>
        <p:spPr>
          <a:xfrm>
            <a:off x="777240" y="5669280"/>
            <a:ext cx="10698480" cy="566928"/>
          </a:xfrm>
          <a:prstGeom prst="rect">
            <a:avLst/>
          </a:prstGeom>
          <a:noFill/>
          <a:ln/>
        </p:spPr>
        <p:txBody>
          <a:bodyPr wrap="square" lIns="0" tIns="0" rIns="0" bIns="0" rtlCol="0" anchor="ctr"/>
          <a:lstStyle/>
          <a:p>
            <a:pPr algn="l" indent="0" marL="0">
              <a:buNone/>
            </a:pPr>
            <a:r>
              <a:rPr lang="en-US" sz="1400" b="1" dirty="0">
                <a:solidFill>
                  <a:schemeClr val="accent3"/>
                </a:solidFill>
              </a:rPr>
              <a:t>33 tools</a:t>
            </a:r>
            <a:pPr algn="l" indent="0" marL="0">
              <a:buNone/>
            </a:pPr>
            <a:r>
              <a:rPr lang="en-US" sz="1400" dirty="0">
                <a:solidFill>
                  <a:schemeClr val="bg1"/>
                </a:solidFill>
              </a:rPr>
              <a:t> specified in one table: input, output, purpose, non-goals, failure mode.   </a:t>
            </a:r>
            <a:pPr algn="l" indent="0" marL="0">
              <a:buNone/>
            </a:pPr>
            <a:r>
              <a:rPr lang="en-US" sz="1400" b="1" dirty="0">
                <a:solidFill>
                  <a:schemeClr val="bg1"/>
                </a:solidFill>
              </a:rPr>
              <a:t>The language model never does the arithmetic.</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It gets things done, and only after you confirm</a:t>
            </a:r>
            <a:endParaRPr lang="en-US" sz="3200" dirty="0"/>
          </a:p>
        </p:txBody>
      </p:sp>
      <p:sp>
        <p:nvSpPr>
          <p:cNvPr id="3" name="Label"/>
          <p:cNvSpPr txBox="1"/>
          <p:nvPr/>
        </p:nvSpPr>
        <p:spPr>
          <a:xfrm>
            <a:off x="548640"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Preview: the card states the worst case</a:t>
            </a:r>
            <a:endParaRPr lang="en-US" sz="1600" dirty="0"/>
          </a:p>
        </p:txBody>
      </p:sp>
      <p:sp>
        <p:nvSpPr>
          <p:cNvPr id="4" name="Confirmation card screenshot frame"/>
          <p:cNvSpPr/>
          <p:nvPr/>
        </p:nvSpPr>
        <p:spPr>
          <a:xfrm>
            <a:off x="502920" y="1783080"/>
            <a:ext cx="3397207" cy="3840480"/>
          </a:xfrm>
          <a:prstGeom prst="roundRect">
            <a:avLst>
              <a:gd name="adj" fmla="val 161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Confirmation card screenshot" descr="Chat: 'Chase ORD-120' answered with a confirmation card showing the recipient, an editable message and the worst case">    </p:cNvPr>
          <p:cNvPicPr>
            <a:picLocks noChangeAspect="1"/>
          </p:cNvPicPr>
          <p:nvPr/>
        </p:nvPicPr>
        <p:blipFill>
          <a:blip r:embed="rId1"/>
          <a:stretch>
            <a:fillRect/>
          </a:stretch>
        </p:blipFill>
        <p:spPr>
          <a:xfrm>
            <a:off x="548640" y="1828800"/>
            <a:ext cx="3305767" cy="3749040"/>
          </a:xfrm>
          <a:prstGeom prst="rect">
            <a:avLst/>
          </a:prstGeom>
        </p:spPr>
      </p:pic>
      <p:sp>
        <p:nvSpPr>
          <p:cNvPr id="6" name="Label"/>
          <p:cNvSpPr txBox="1"/>
          <p:nvPr/>
        </p:nvSpPr>
        <p:spPr>
          <a:xfrm>
            <a:off x="4220167"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Then logged, and some things refused</a:t>
            </a:r>
            <a:endParaRPr lang="en-US" sz="1600" dirty="0"/>
          </a:p>
        </p:txBody>
      </p:sp>
      <p:sp>
        <p:nvSpPr>
          <p:cNvPr id="7" name="Logged and refused screenshot frame"/>
          <p:cNvSpPr/>
          <p:nvPr/>
        </p:nvSpPr>
        <p:spPr>
          <a:xfrm>
            <a:off x="4174447" y="1783080"/>
            <a:ext cx="3180537" cy="3840480"/>
          </a:xfrm>
          <a:prstGeom prst="roundRect">
            <a:avLst>
              <a:gd name="adj" fmla="val 172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Logged and refused screenshot" descr="Chat: the chase-up logged with 'nothing was actually sent', then 'Delete ORD-005' refused">    </p:cNvPr>
          <p:cNvPicPr>
            <a:picLocks noChangeAspect="1"/>
          </p:cNvPicPr>
          <p:nvPr/>
        </p:nvPicPr>
        <p:blipFill>
          <a:blip r:embed="rId2"/>
          <a:stretch>
            <a:fillRect/>
          </a:stretch>
        </p:blipFill>
        <p:spPr>
          <a:xfrm>
            <a:off x="4220167" y="1828800"/>
            <a:ext cx="3089097" cy="3749040"/>
          </a:xfrm>
          <a:prstGeom prst="rect">
            <a:avLst/>
          </a:prstGeom>
        </p:spPr>
      </p:pic>
      <p:sp>
        <p:nvSpPr>
          <p:cNvPr id="9" name="Label"/>
          <p:cNvSpPr txBox="1"/>
          <p:nvPr/>
        </p:nvSpPr>
        <p:spPr>
          <a:xfrm>
            <a:off x="7812183" y="1280160"/>
            <a:ext cx="3828129" cy="411480"/>
          </a:xfrm>
          <a:prstGeom prst="rect">
            <a:avLst/>
          </a:prstGeom>
          <a:noFill/>
          <a:ln/>
        </p:spPr>
        <p:txBody>
          <a:bodyPr wrap="square" lIns="0" tIns="0" rIns="0" bIns="0" rtlCol="0" anchor="ctr"/>
          <a:lstStyle/>
          <a:p>
            <a:pPr algn="l" indent="0" marL="0">
              <a:buNone/>
            </a:pPr>
            <a:r>
              <a:rPr lang="en-US" sz="1800" b="1" dirty="0">
                <a:solidFill>
                  <a:schemeClr val="tx2"/>
                </a:solidFill>
              </a:rPr>
              <a:t>Preview, confirm, log</a:t>
            </a:r>
            <a:endParaRPr lang="en-US" sz="1800" dirty="0"/>
          </a:p>
        </p:txBody>
      </p:sp>
      <p:sp>
        <p:nvSpPr>
          <p:cNvPr id="10" name="Safety rules"/>
          <p:cNvSpPr txBox="1"/>
          <p:nvPr/>
        </p:nvSpPr>
        <p:spPr>
          <a:xfrm>
            <a:off x="7812183" y="1783080"/>
            <a:ext cx="3828129" cy="3931920"/>
          </a:xfrm>
          <a:prstGeom prst="rect">
            <a:avLst/>
          </a:prstGeom>
          <a:noFill/>
          <a:ln/>
        </p:spPr>
        <p:txBody>
          <a:bodyPr wrap="square" lIns="0" tIns="0" rIns="0" bIns="0" rtlCol="0" anchor="t"/>
          <a:lstStyle/>
          <a:p>
            <a:pPr algn="l" marL="203200" indent="-203200">
              <a:spcAft>
                <a:spcPts val="1100"/>
              </a:spcAft>
              <a:buSzPct val="100000"/>
              <a:buChar char="•"/>
            </a:pPr>
            <a:r>
              <a:rPr lang="en-US" sz="1500" dirty="0">
                <a:solidFill>
                  <a:schemeClr val="tx1"/>
                </a:solidFill>
              </a:rPr>
              <a:t>Nothing is sent until you press Confirm. In the demo it is only logged.</a:t>
            </a:r>
            <a:endParaRPr lang="en-US" sz="1500" dirty="0"/>
          </a:p>
          <a:p>
            <a:pPr algn="l" marL="203200" indent="-203200">
              <a:spcAft>
                <a:spcPts val="1100"/>
              </a:spcAft>
              <a:buSzPct val="100000"/>
              <a:buChar char="•"/>
            </a:pPr>
            <a:r>
              <a:rPr lang="en-US" sz="1500" dirty="0">
                <a:solidFill>
                  <a:schemeClr val="tx1"/>
                </a:solidFill>
              </a:rPr>
              <a:t>A confirmation key covers one order and one text, expires in 15 minutes, and confirming twice does nothing.</a:t>
            </a:r>
            <a:endParaRPr lang="en-US" sz="1500" dirty="0"/>
          </a:p>
          <a:p>
            <a:pPr algn="l" marL="203200" indent="-203200">
              <a:spcAft>
                <a:spcPts val="1100"/>
              </a:spcAft>
              <a:buSzPct val="100000"/>
              <a:buChar char="•"/>
            </a:pPr>
            <a:r>
              <a:rPr lang="en-US" sz="1500" dirty="0">
                <a:solidFill>
                  <a:schemeClr val="tx1"/>
                </a:solidFill>
              </a:rPr>
              <a:t>It cannot cancel, delete or change an order, and says so.</a:t>
            </a:r>
            <a:endParaRPr lang="en-US" sz="1500" dirty="0"/>
          </a:p>
          <a:p>
            <a:pPr algn="l" marL="203200" indent="-203200">
              <a:spcAft>
                <a:spcPts val="1100"/>
              </a:spcAft>
              <a:buSzPct val="100000"/>
              <a:buChar char="•"/>
            </a:pPr>
            <a:r>
              <a:rPr lang="en-US" sz="1500" dirty="0">
                <a:solidFill>
                  <a:schemeClr val="tx1"/>
                </a:solidFill>
              </a:rPr>
              <a:t>It speaks first rarely: one briefing at 07:00, plus watches you set and a stage that misses its target 3 days running.</a:t>
            </a:r>
            <a:endParaRPr lang="en-US" sz="1500" dirty="0"/>
          </a:p>
        </p:txBody>
      </p:sp>
      <p:sp>
        <p:nvSpPr>
          <p:cNvPr id="11"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action, its worst case and what it cannot do: docs/actions_and_limits.md. What may interrupt the manager: docs/alert_triggers.md.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we measured, and what we haven't</a:t>
            </a:r>
            <a:endParaRPr lang="en-US" sz="3200" dirty="0"/>
          </a:p>
        </p:txBody>
      </p:sp>
      <p:graphicFrame>
        <p:nvGraphicFramePr>
          <p:cNvPr id="3" name="Chart 0" descr=""/>
          <p:cNvGraphicFramePr/>
          <p:nvPr/>
        </p:nvGraphicFramePr>
        <p:xfrm>
          <a:off x="548640" y="1325880"/>
          <a:ext cx="6126480" cy="4023360"/>
        </p:xfrm>
        <a:graphic xmlns:a="http://schemas.openxmlformats.org/drawingml/2006/main">
          <a:graphicData uri="http://schemas.openxmlformats.org/drawingml/2006/chart">
            <c:chart xmlns:c="http://schemas.openxmlformats.org/drawingml/2006/chart" r:id="rId1"/>
          </a:graphicData>
        </a:graphic>
      </p:graphicFrame>
      <p:sp>
        <p:nvSpPr>
          <p:cNvPr id="4" name="Stat 25 / 36"/>
          <p:cNvSpPr txBox="1"/>
          <p:nvPr/>
        </p:nvSpPr>
        <p:spPr>
          <a:xfrm>
            <a:off x="7040880" y="13258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25 / 36</a:t>
            </a:r>
            <a:endParaRPr lang="en-US" sz="3800" dirty="0"/>
          </a:p>
        </p:txBody>
      </p:sp>
      <p:sp>
        <p:nvSpPr>
          <p:cNvPr id="5" name="Text 2"/>
          <p:cNvSpPr txBox="1"/>
          <p:nvPr/>
        </p:nvSpPr>
        <p:spPr>
          <a:xfrm>
            <a:off x="9098280" y="13258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first pass, nothing fixed yet (69%): the honest figure</a:t>
            </a:r>
            <a:endParaRPr lang="en-US" sz="1400" dirty="0"/>
          </a:p>
        </p:txBody>
      </p:sp>
      <p:sp>
        <p:nvSpPr>
          <p:cNvPr id="6" name="Stat 18 / 21"/>
          <p:cNvSpPr txBox="1"/>
          <p:nvPr/>
        </p:nvSpPr>
        <p:spPr>
          <a:xfrm>
            <a:off x="7040880" y="22402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18 / 21</a:t>
            </a:r>
            <a:endParaRPr lang="en-US" sz="3800" dirty="0"/>
          </a:p>
        </p:txBody>
      </p:sp>
      <p:sp>
        <p:nvSpPr>
          <p:cNvPr id="7" name="Text 4"/>
          <p:cNvSpPr txBox="1"/>
          <p:nvPr/>
        </p:nvSpPr>
        <p:spPr>
          <a:xfrm>
            <a:off x="9098280" y="22402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held-out questions with new wording (86%)</a:t>
            </a:r>
            <a:endParaRPr lang="en-US" sz="1400" dirty="0"/>
          </a:p>
        </p:txBody>
      </p:sp>
      <p:sp>
        <p:nvSpPr>
          <p:cNvPr id="8" name="Stat 5 / 5"/>
          <p:cNvSpPr txBox="1"/>
          <p:nvPr/>
        </p:nvSpPr>
        <p:spPr>
          <a:xfrm>
            <a:off x="7040880" y="31546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5 / 5</a:t>
            </a:r>
            <a:endParaRPr lang="en-US" sz="3800" dirty="0"/>
          </a:p>
        </p:txBody>
      </p:sp>
      <p:sp>
        <p:nvSpPr>
          <p:cNvPr id="9" name="Text 6"/>
          <p:cNvSpPr txBox="1"/>
          <p:nvPr/>
        </p:nvSpPr>
        <p:spPr>
          <a:xfrm>
            <a:off x="9098280" y="31546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planted events found by discovery, 1 to 5 days after each began</a:t>
            </a:r>
            <a:endParaRPr lang="en-US" sz="1400" dirty="0"/>
          </a:p>
        </p:txBody>
      </p:sp>
      <p:sp>
        <p:nvSpPr>
          <p:cNvPr id="10" name="Stat 14 / 14"/>
          <p:cNvSpPr txBox="1"/>
          <p:nvPr/>
        </p:nvSpPr>
        <p:spPr>
          <a:xfrm>
            <a:off x="7040880" y="40690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14 / 14</a:t>
            </a:r>
            <a:endParaRPr lang="en-US" sz="3800" dirty="0"/>
          </a:p>
        </p:txBody>
      </p:sp>
      <p:sp>
        <p:nvSpPr>
          <p:cNvPr id="11" name="Text 8"/>
          <p:cNvSpPr txBox="1"/>
          <p:nvPr/>
        </p:nvSpPr>
        <p:spPr>
          <a:xfrm>
            <a:off x="9098280" y="40690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feasibility ranges that contained the real finish</a:t>
            </a:r>
            <a:endParaRPr lang="en-US" sz="1400" dirty="0"/>
          </a:p>
        </p:txBody>
      </p:sp>
      <p:sp>
        <p:nvSpPr>
          <p:cNvPr id="12" name="Stats caption"/>
          <p:cNvSpPr txBox="1"/>
          <p:nvPr/>
        </p:nvSpPr>
        <p:spPr>
          <a:xfrm>
            <a:off x="7040880" y="5029200"/>
            <a:ext cx="4617720" cy="365760"/>
          </a:xfrm>
          <a:prstGeom prst="rect">
            <a:avLst/>
          </a:prstGeom>
          <a:noFill/>
          <a:ln/>
        </p:spPr>
        <p:txBody>
          <a:bodyPr wrap="square" lIns="0" tIns="0" rIns="0" bIns="0" rtlCol="0" anchor="t"/>
          <a:lstStyle/>
          <a:p>
            <a:pPr algn="l" indent="0" marL="0">
              <a:buNone/>
            </a:pPr>
            <a:r>
              <a:rPr lang="en-US" sz="1100" dirty="0">
                <a:solidFill>
                  <a:schemeClr val="accent5"/>
                </a:solidFill>
              </a:rPr>
              <a:t>Dashboard chat. The last two come from our own simulator: internal consistency, not real-world accuracy.</a:t>
            </a:r>
            <a:endParaRPr lang="en-US" sz="1100" dirty="0"/>
          </a:p>
        </p:txBody>
      </p:sp>
      <p:sp>
        <p:nvSpPr>
          <p:cNvPr id="13" name="Not measured banner"/>
          <p:cNvSpPr/>
          <p:nvPr/>
        </p:nvSpPr>
        <p:spPr>
          <a:xfrm>
            <a:off x="548640" y="5532120"/>
            <a:ext cx="11091672" cy="749808"/>
          </a:xfrm>
          <a:prstGeom prst="roundRect">
            <a:avLst>
              <a:gd name="adj" fmla="val 9756"/>
            </a:avLst>
          </a:prstGeom>
          <a:solidFill>
            <a:schemeClr val="tx2"/>
          </a:solidFill>
          <a:ln/>
        </p:spPr>
      </p:sp>
      <p:sp>
        <p:nvSpPr>
          <p:cNvPr id="14" name="Text 11"/>
          <p:cNvSpPr txBox="1"/>
          <p:nvPr/>
        </p:nvSpPr>
        <p:spPr>
          <a:xfrm>
            <a:off x="777240" y="5532120"/>
            <a:ext cx="10698480" cy="749808"/>
          </a:xfrm>
          <a:prstGeom prst="rect">
            <a:avLst/>
          </a:prstGeom>
          <a:noFill/>
          <a:ln/>
        </p:spPr>
        <p:txBody>
          <a:bodyPr wrap="square" lIns="0" tIns="0" rIns="0" bIns="0" rtlCol="0" anchor="ctr"/>
          <a:lstStyle/>
          <a:p>
            <a:pPr algn="l" indent="0" marL="0">
              <a:buNone/>
            </a:pPr>
            <a:r>
              <a:rPr lang="en-US" sz="1400" b="1" dirty="0">
                <a:solidFill>
                  <a:schemeClr val="accent3"/>
                </a:solidFill>
              </a:rPr>
              <a:t>Live backend (OpenAI model + MySQL): </a:t>
            </a:r>
            <a:pPr algn="l" indent="0" marL="0">
              <a:buNone/>
            </a:pPr>
            <a:r>
              <a:rPr lang="en-US" sz="1400" dirty="0">
                <a:solidFill>
                  <a:schemeClr val="bg1"/>
                </a:solidFill>
              </a:rPr>
              <a:t>36 of 45 scripted turns passed on its first full batch (7 hit rate limits); all 45 pass only after re-running failures. Not yet run on these 36 questions: we will run it once and report that as first-pass.</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Where we are, and what comes next</a:t>
            </a:r>
            <a:endParaRPr lang="en-US" sz="3200" dirty="0"/>
          </a:p>
        </p:txBody>
      </p:sp>
      <p:sp>
        <p:nvSpPr>
          <p:cNvPr id="3" name="Text 1"/>
          <p:cNvSpPr txBox="1"/>
          <p:nvPr/>
        </p:nvSpPr>
        <p:spPr>
          <a:xfrm>
            <a:off x="548640" y="1325880"/>
            <a:ext cx="5394960" cy="411480"/>
          </a:xfrm>
          <a:prstGeom prst="rect">
            <a:avLst/>
          </a:prstGeom>
          <a:noFill/>
          <a:ln/>
        </p:spPr>
        <p:txBody>
          <a:bodyPr wrap="square" lIns="0" tIns="0" rIns="0" bIns="0" rtlCol="0" anchor="ctr"/>
          <a:lstStyle/>
          <a:p>
            <a:pPr algn="l" indent="0" marL="0">
              <a:buNone/>
            </a:pPr>
            <a:r>
              <a:rPr lang="en-US" sz="2000" b="1" dirty="0">
                <a:solidFill>
                  <a:schemeClr val="tx2"/>
                </a:solidFill>
              </a:rPr>
              <a:t>What we have not proven</a:t>
            </a:r>
            <a:endParaRPr lang="en-US" sz="2000" dirty="0"/>
          </a:p>
        </p:txBody>
      </p:sp>
      <p:sp>
        <p:nvSpPr>
          <p:cNvPr id="4" name="Limits list"/>
          <p:cNvSpPr txBox="1"/>
          <p:nvPr/>
        </p:nvSpPr>
        <p:spPr>
          <a:xfrm>
            <a:off x="548640" y="1828800"/>
            <a:ext cx="5394960" cy="2743200"/>
          </a:xfrm>
          <a:prstGeom prst="rect">
            <a:avLst/>
          </a:prstGeom>
          <a:noFill/>
          <a:ln/>
        </p:spPr>
        <p:txBody>
          <a:bodyPr wrap="square" lIns="0" tIns="0" rIns="0" bIns="0" rtlCol="0" anchor="t"/>
          <a:lstStyle/>
          <a:p>
            <a:pPr algn="l" marL="203200" indent="-203200">
              <a:spcAft>
                <a:spcPts val="900"/>
              </a:spcAft>
              <a:buSzPct val="100000"/>
              <a:buChar char="•"/>
            </a:pPr>
            <a:r>
              <a:rPr lang="en-US" sz="1500" dirty="0">
                <a:solidFill>
                  <a:schemeClr val="tx1"/>
                </a:solidFill>
              </a:rPr>
              <a:t>Predictions were checked against our own simulator, which follows the same scheduling rule</a:t>
            </a:r>
            <a:endParaRPr lang="en-US" sz="1500" dirty="0"/>
          </a:p>
          <a:p>
            <a:pPr algn="l" marL="203200" indent="-203200">
              <a:spcAft>
                <a:spcPts val="900"/>
              </a:spcAft>
              <a:buSzPct val="100000"/>
              <a:buChar char="•"/>
            </a:pPr>
            <a:r>
              <a:rPr lang="en-US" sz="1500" dirty="0">
                <a:solidFill>
                  <a:schemeClr val="tx1"/>
                </a:solidFill>
              </a:rPr>
              <a:t>The two-week order forecast is no better than repeating the last period</a:t>
            </a:r>
            <a:endParaRPr lang="en-US" sz="1500" dirty="0"/>
          </a:p>
          <a:p>
            <a:pPr algn="l" marL="203200" indent="-203200">
              <a:spcAft>
                <a:spcPts val="900"/>
              </a:spcAft>
              <a:buSzPct val="100000"/>
              <a:buChar char="•"/>
            </a:pPr>
            <a:r>
              <a:rPr lang="en-US" sz="1500" dirty="0">
                <a:solidFill>
                  <a:schemeClr val="tx1"/>
                </a:solidFill>
              </a:rPr>
              <a:t>27 of 34 orders are at risk and 6 are late: the data holds about 29 working days of work in progress against 12 to 30 days allowed</a:t>
            </a:r>
            <a:endParaRPr lang="en-US" sz="1500" dirty="0"/>
          </a:p>
          <a:p>
            <a:pPr algn="l" marL="203200" indent="-203200">
              <a:spcAft>
                <a:spcPts val="900"/>
              </a:spcAft>
              <a:buSzPct val="100000"/>
              <a:buChar char="•"/>
            </a:pPr>
            <a:r>
              <a:rPr lang="en-US" sz="1500" dirty="0">
                <a:solidFill>
                  <a:schemeClr val="tx1"/>
                </a:solidFill>
              </a:rPr>
              <a:t>No real general manager has used it yet, so no time saved is measured</a:t>
            </a:r>
            <a:endParaRPr lang="en-US" sz="1500" dirty="0"/>
          </a:p>
        </p:txBody>
      </p:sp>
      <p:sp>
        <p:nvSpPr>
          <p:cNvPr id="5" name="Text 3"/>
          <p:cNvSpPr txBox="1"/>
          <p:nvPr/>
        </p:nvSpPr>
        <p:spPr>
          <a:xfrm>
            <a:off x="6309360" y="1325880"/>
            <a:ext cx="5330952" cy="411480"/>
          </a:xfrm>
          <a:prstGeom prst="rect">
            <a:avLst/>
          </a:prstGeom>
          <a:noFill/>
          <a:ln/>
        </p:spPr>
        <p:txBody>
          <a:bodyPr wrap="square" lIns="0" tIns="0" rIns="0" bIns="0" rtlCol="0" anchor="ctr"/>
          <a:lstStyle/>
          <a:p>
            <a:pPr algn="l" indent="0" marL="0">
              <a:buNone/>
            </a:pPr>
            <a:r>
              <a:rPr lang="en-US" sz="2000" b="1" dirty="0">
                <a:solidFill>
                  <a:schemeClr val="tx2"/>
                </a:solidFill>
              </a:rPr>
              <a:t>Next, from our own documents</a:t>
            </a:r>
            <a:endParaRPr lang="en-US" sz="2000" dirty="0"/>
          </a:p>
        </p:txBody>
      </p:sp>
      <p:sp>
        <p:nvSpPr>
          <p:cNvPr id="6" name="Next 1"/>
          <p:cNvSpPr txBox="1"/>
          <p:nvPr/>
        </p:nvSpPr>
        <p:spPr>
          <a:xfrm>
            <a:off x="6309360" y="188366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6858000" y="1828800"/>
            <a:ext cx="4782312" cy="566928"/>
          </a:xfrm>
          <a:prstGeom prst="rect">
            <a:avLst/>
          </a:prstGeom>
          <a:noFill/>
          <a:ln/>
        </p:spPr>
        <p:txBody>
          <a:bodyPr wrap="square" lIns="0" tIns="0" rIns="0" bIns="0" rtlCol="0" anchor="ctr"/>
          <a:lstStyle/>
          <a:p>
            <a:pPr algn="l" indent="0" marL="0">
              <a:buNone/>
            </a:pPr>
            <a:r>
              <a:rPr lang="en-US" sz="1500" dirty="0">
                <a:solidFill>
                  <a:schemeClr val="tx1"/>
                </a:solidFill>
              </a:rPr>
              <a:t>Run the live-model evaluation once and report it as first-pass</a:t>
            </a:r>
            <a:endParaRPr lang="en-US" sz="1500" dirty="0"/>
          </a:p>
        </p:txBody>
      </p:sp>
      <p:sp>
        <p:nvSpPr>
          <p:cNvPr id="8" name="Next 2"/>
          <p:cNvSpPr txBox="1"/>
          <p:nvPr/>
        </p:nvSpPr>
        <p:spPr>
          <a:xfrm>
            <a:off x="6309360" y="2542032"/>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6858000" y="2487168"/>
            <a:ext cx="4782312" cy="566928"/>
          </a:xfrm>
          <a:prstGeom prst="rect">
            <a:avLst/>
          </a:prstGeom>
          <a:noFill/>
          <a:ln/>
        </p:spPr>
        <p:txBody>
          <a:bodyPr wrap="square" lIns="0" tIns="0" rIns="0" bIns="0" rtlCol="0" anchor="ctr"/>
          <a:lstStyle/>
          <a:p>
            <a:pPr algn="l" indent="0" marL="0">
              <a:buNone/>
            </a:pPr>
            <a:r>
              <a:rPr lang="en-US" sz="1500" dirty="0">
                <a:solidFill>
                  <a:schemeClr val="tx1"/>
                </a:solidFill>
              </a:rPr>
              <a:t>Teammates add at least 10 questions each, written without reading the code</a:t>
            </a:r>
            <a:endParaRPr lang="en-US" sz="1500" dirty="0"/>
          </a:p>
        </p:txBody>
      </p:sp>
      <p:sp>
        <p:nvSpPr>
          <p:cNvPr id="10" name="Next 3"/>
          <p:cNvSpPr txBox="1"/>
          <p:nvPr/>
        </p:nvSpPr>
        <p:spPr>
          <a:xfrm>
            <a:off x="6309360" y="320040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6858000" y="3145536"/>
            <a:ext cx="4782312" cy="566928"/>
          </a:xfrm>
          <a:prstGeom prst="rect">
            <a:avLst/>
          </a:prstGeom>
          <a:noFill/>
          <a:ln/>
        </p:spPr>
        <p:txBody>
          <a:bodyPr wrap="square" lIns="0" tIns="0" rIns="0" bIns="0" rtlCol="0" anchor="ctr"/>
          <a:lstStyle/>
          <a:p>
            <a:pPr algn="l" indent="0" marL="0">
              <a:buNone/>
            </a:pPr>
            <a:r>
              <a:rPr lang="en-US" sz="1500" dirty="0">
                <a:solidFill>
                  <a:schemeClr val="tx1"/>
                </a:solidFill>
              </a:rPr>
              <a:t>Move the briefing's findings onto the live MySQL data</a:t>
            </a:r>
            <a:endParaRPr lang="en-US" sz="1500" dirty="0"/>
          </a:p>
        </p:txBody>
      </p:sp>
      <p:sp>
        <p:nvSpPr>
          <p:cNvPr id="12" name="Next 4"/>
          <p:cNvSpPr txBox="1"/>
          <p:nvPr/>
        </p:nvSpPr>
        <p:spPr>
          <a:xfrm>
            <a:off x="6309360" y="385876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3" name="Text 11"/>
          <p:cNvSpPr txBox="1"/>
          <p:nvPr/>
        </p:nvSpPr>
        <p:spPr>
          <a:xfrm>
            <a:off x="6858000" y="3803904"/>
            <a:ext cx="4782312" cy="566928"/>
          </a:xfrm>
          <a:prstGeom prst="rect">
            <a:avLst/>
          </a:prstGeom>
          <a:noFill/>
          <a:ln/>
        </p:spPr>
        <p:txBody>
          <a:bodyPr wrap="square" lIns="0" tIns="0" rIns="0" bIns="0" rtlCol="0" anchor="ctr"/>
          <a:lstStyle/>
          <a:p>
            <a:pPr algn="l" indent="0" marL="0">
              <a:buNone/>
            </a:pPr>
            <a:r>
              <a:rPr lang="en-US" sz="1500" dirty="0">
                <a:solidFill>
                  <a:schemeClr val="tx1"/>
                </a:solidFill>
              </a:rPr>
              <a:t>Bring Morning Briefing into the team's cloud site (merge prepared)</a:t>
            </a:r>
            <a:endParaRPr lang="en-US" sz="1500" dirty="0"/>
          </a:p>
        </p:txBody>
      </p:sp>
      <p:sp>
        <p:nvSpPr>
          <p:cNvPr id="14" name="Timeline"/>
          <p:cNvSpPr/>
          <p:nvPr/>
        </p:nvSpPr>
        <p:spPr>
          <a:xfrm>
            <a:off x="1280160" y="4846320"/>
            <a:ext cx="9052560" cy="0"/>
          </a:xfrm>
          <a:prstGeom prst="line">
            <a:avLst/>
          </a:prstGeom>
          <a:noFill/>
          <a:ln w="25400">
            <a:solidFill>
              <a:schemeClr val="accent5"/>
            </a:solidFill>
            <a:prstDash val="solid"/>
          </a:ln>
        </p:spPr>
      </p:sp>
      <p:sp>
        <p:nvSpPr>
          <p:cNvPr id="15" name="Milestone Sprint 1"/>
          <p:cNvSpPr/>
          <p:nvPr/>
        </p:nvSpPr>
        <p:spPr>
          <a:xfrm>
            <a:off x="1161288" y="4718304"/>
            <a:ext cx="256032" cy="256032"/>
          </a:xfrm>
          <a:prstGeom prst="ellipse">
            <a:avLst/>
          </a:prstGeom>
          <a:solidFill>
            <a:schemeClr val="accent2"/>
          </a:solidFill>
          <a:ln w="25400">
            <a:solidFill>
              <a:schemeClr val="bg1"/>
            </a:solidFill>
            <a:prstDash val="solid"/>
          </a:ln>
        </p:spPr>
      </p:sp>
      <p:sp>
        <p:nvSpPr>
          <p:cNvPr id="16" name="Text 14"/>
          <p:cNvSpPr txBox="1"/>
          <p:nvPr/>
        </p:nvSpPr>
        <p:spPr>
          <a:xfrm>
            <a:off x="182880" y="5074920"/>
            <a:ext cx="2194560" cy="292608"/>
          </a:xfrm>
          <a:prstGeom prst="rect">
            <a:avLst/>
          </a:prstGeom>
          <a:noFill/>
          <a:ln/>
        </p:spPr>
        <p:txBody>
          <a:bodyPr wrap="square" lIns="0" tIns="0" rIns="0" bIns="0" rtlCol="0" anchor="ctr"/>
          <a:lstStyle/>
          <a:p>
            <a:pPr algn="ctr" indent="0" marL="0">
              <a:buNone/>
            </a:pPr>
            <a:r>
              <a:rPr lang="en-US" sz="1600" b="1" dirty="0">
                <a:solidFill>
                  <a:schemeClr val="tx2"/>
                </a:solidFill>
              </a:rPr>
              <a:t>Sprint 1</a:t>
            </a:r>
            <a:endParaRPr lang="en-US" sz="1600" dirty="0"/>
          </a:p>
        </p:txBody>
      </p:sp>
      <p:sp>
        <p:nvSpPr>
          <p:cNvPr id="17" name="Text 15"/>
          <p:cNvSpPr txBox="1"/>
          <p:nvPr/>
        </p:nvSpPr>
        <p:spPr>
          <a:xfrm>
            <a:off x="0" y="5367528"/>
            <a:ext cx="2560320" cy="274320"/>
          </a:xfrm>
          <a:prstGeom prst="rect">
            <a:avLst/>
          </a:prstGeom>
          <a:noFill/>
          <a:ln/>
        </p:spPr>
        <p:txBody>
          <a:bodyPr wrap="square" lIns="0" tIns="0" rIns="0" bIns="0" rtlCol="0" anchor="ctr"/>
          <a:lstStyle/>
          <a:p>
            <a:pPr algn="ctr" indent="0" marL="0">
              <a:buNone/>
            </a:pPr>
            <a:r>
              <a:rPr lang="en-US" sz="1300" dirty="0">
                <a:solidFill>
                  <a:schemeClr val="tx1"/>
                </a:solidFill>
              </a:rPr>
              <a:t>Fri 16 Oct  ·  this talk</a:t>
            </a:r>
            <a:endParaRPr lang="en-US" sz="1300" dirty="0"/>
          </a:p>
        </p:txBody>
      </p:sp>
      <p:sp>
        <p:nvSpPr>
          <p:cNvPr id="18" name="Milestone Sprint 2"/>
          <p:cNvSpPr/>
          <p:nvPr/>
        </p:nvSpPr>
        <p:spPr>
          <a:xfrm>
            <a:off x="4178808" y="4718304"/>
            <a:ext cx="256032" cy="256032"/>
          </a:xfrm>
          <a:prstGeom prst="ellipse">
            <a:avLst/>
          </a:prstGeom>
          <a:solidFill>
            <a:schemeClr val="tx2"/>
          </a:solidFill>
          <a:ln w="25400">
            <a:solidFill>
              <a:schemeClr val="bg1"/>
            </a:solidFill>
            <a:prstDash val="solid"/>
          </a:ln>
        </p:spPr>
      </p:sp>
      <p:sp>
        <p:nvSpPr>
          <p:cNvPr id="19" name="Text 17"/>
          <p:cNvSpPr txBox="1"/>
          <p:nvPr/>
        </p:nvSpPr>
        <p:spPr>
          <a:xfrm>
            <a:off x="3200400" y="5074920"/>
            <a:ext cx="2194560" cy="292608"/>
          </a:xfrm>
          <a:prstGeom prst="rect">
            <a:avLst/>
          </a:prstGeom>
          <a:noFill/>
          <a:ln/>
        </p:spPr>
        <p:txBody>
          <a:bodyPr wrap="square" lIns="0" tIns="0" rIns="0" bIns="0" rtlCol="0" anchor="ctr"/>
          <a:lstStyle/>
          <a:p>
            <a:pPr algn="ctr" indent="0" marL="0">
              <a:buNone/>
            </a:pPr>
            <a:r>
              <a:rPr lang="en-US" sz="1600" b="1" dirty="0">
                <a:solidFill>
                  <a:schemeClr val="tx2"/>
                </a:solidFill>
              </a:rPr>
              <a:t>Sprint 2</a:t>
            </a:r>
            <a:endParaRPr lang="en-US" sz="1600" dirty="0"/>
          </a:p>
        </p:txBody>
      </p:sp>
      <p:sp>
        <p:nvSpPr>
          <p:cNvPr id="20" name="Text 18"/>
          <p:cNvSpPr txBox="1"/>
          <p:nvPr/>
        </p:nvSpPr>
        <p:spPr>
          <a:xfrm>
            <a:off x="3017520" y="5367528"/>
            <a:ext cx="2560320" cy="274320"/>
          </a:xfrm>
          <a:prstGeom prst="rect">
            <a:avLst/>
          </a:prstGeom>
          <a:noFill/>
          <a:ln/>
        </p:spPr>
        <p:txBody>
          <a:bodyPr wrap="square" lIns="0" tIns="0" rIns="0" bIns="0" rtlCol="0" anchor="ctr"/>
          <a:lstStyle/>
          <a:p>
            <a:pPr algn="ctr" indent="0" marL="0">
              <a:buNone/>
            </a:pPr>
            <a:r>
              <a:rPr lang="en-US" sz="1300" dirty="0">
                <a:solidFill>
                  <a:schemeClr val="tx1"/>
                </a:solidFill>
              </a:rPr>
              <a:t>Fri 30 Oct</a:t>
            </a:r>
            <a:endParaRPr lang="en-US" sz="1300" dirty="0"/>
          </a:p>
        </p:txBody>
      </p:sp>
      <p:sp>
        <p:nvSpPr>
          <p:cNvPr id="21" name="Milestone Sprint 3"/>
          <p:cNvSpPr/>
          <p:nvPr/>
        </p:nvSpPr>
        <p:spPr>
          <a:xfrm>
            <a:off x="7196328" y="4718304"/>
            <a:ext cx="256032" cy="256032"/>
          </a:xfrm>
          <a:prstGeom prst="ellipse">
            <a:avLst/>
          </a:prstGeom>
          <a:solidFill>
            <a:schemeClr val="tx2"/>
          </a:solidFill>
          <a:ln w="25400">
            <a:solidFill>
              <a:schemeClr val="bg1"/>
            </a:solidFill>
            <a:prstDash val="solid"/>
          </a:ln>
        </p:spPr>
      </p:sp>
      <p:sp>
        <p:nvSpPr>
          <p:cNvPr id="22" name="Text 20"/>
          <p:cNvSpPr txBox="1"/>
          <p:nvPr/>
        </p:nvSpPr>
        <p:spPr>
          <a:xfrm>
            <a:off x="6217920" y="5074920"/>
            <a:ext cx="2194560" cy="292608"/>
          </a:xfrm>
          <a:prstGeom prst="rect">
            <a:avLst/>
          </a:prstGeom>
          <a:noFill/>
          <a:ln/>
        </p:spPr>
        <p:txBody>
          <a:bodyPr wrap="square" lIns="0" tIns="0" rIns="0" bIns="0" rtlCol="0" anchor="ctr"/>
          <a:lstStyle/>
          <a:p>
            <a:pPr algn="ctr" indent="0" marL="0">
              <a:buNone/>
            </a:pPr>
            <a:r>
              <a:rPr lang="en-US" sz="1600" b="1" dirty="0">
                <a:solidFill>
                  <a:schemeClr val="tx2"/>
                </a:solidFill>
              </a:rPr>
              <a:t>Sprint 3</a:t>
            </a:r>
            <a:endParaRPr lang="en-US" sz="1600" dirty="0"/>
          </a:p>
        </p:txBody>
      </p:sp>
      <p:sp>
        <p:nvSpPr>
          <p:cNvPr id="23" name="Text 21"/>
          <p:cNvSpPr txBox="1"/>
          <p:nvPr/>
        </p:nvSpPr>
        <p:spPr>
          <a:xfrm>
            <a:off x="6035040" y="5367528"/>
            <a:ext cx="2560320" cy="274320"/>
          </a:xfrm>
          <a:prstGeom prst="rect">
            <a:avLst/>
          </a:prstGeom>
          <a:noFill/>
          <a:ln/>
        </p:spPr>
        <p:txBody>
          <a:bodyPr wrap="square" lIns="0" tIns="0" rIns="0" bIns="0" rtlCol="0" anchor="ctr"/>
          <a:lstStyle/>
          <a:p>
            <a:pPr algn="ctr" indent="0" marL="0">
              <a:buNone/>
            </a:pPr>
            <a:r>
              <a:rPr lang="en-US" sz="1300" dirty="0">
                <a:solidFill>
                  <a:schemeClr val="tx1"/>
                </a:solidFill>
              </a:rPr>
              <a:t>Fri 13 Nov</a:t>
            </a:r>
            <a:endParaRPr lang="en-US" sz="1300" dirty="0"/>
          </a:p>
        </p:txBody>
      </p:sp>
      <p:sp>
        <p:nvSpPr>
          <p:cNvPr id="24" name="Milestone Final zip"/>
          <p:cNvSpPr/>
          <p:nvPr/>
        </p:nvSpPr>
        <p:spPr>
          <a:xfrm>
            <a:off x="10213848" y="4718304"/>
            <a:ext cx="256032" cy="256032"/>
          </a:xfrm>
          <a:prstGeom prst="ellipse">
            <a:avLst/>
          </a:prstGeom>
          <a:solidFill>
            <a:schemeClr val="tx2"/>
          </a:solidFill>
          <a:ln w="25400">
            <a:solidFill>
              <a:schemeClr val="bg1"/>
            </a:solidFill>
            <a:prstDash val="solid"/>
          </a:ln>
        </p:spPr>
      </p:sp>
      <p:sp>
        <p:nvSpPr>
          <p:cNvPr id="25" name="Text 23"/>
          <p:cNvSpPr txBox="1"/>
          <p:nvPr/>
        </p:nvSpPr>
        <p:spPr>
          <a:xfrm>
            <a:off x="9235440" y="5074920"/>
            <a:ext cx="2194560" cy="292608"/>
          </a:xfrm>
          <a:prstGeom prst="rect">
            <a:avLst/>
          </a:prstGeom>
          <a:noFill/>
          <a:ln/>
        </p:spPr>
        <p:txBody>
          <a:bodyPr wrap="square" lIns="0" tIns="0" rIns="0" bIns="0" rtlCol="0" anchor="ctr"/>
          <a:lstStyle/>
          <a:p>
            <a:pPr algn="ctr" indent="0" marL="0">
              <a:buNone/>
            </a:pPr>
            <a:r>
              <a:rPr lang="en-US" sz="1600" b="1" dirty="0">
                <a:solidFill>
                  <a:schemeClr val="tx2"/>
                </a:solidFill>
              </a:rPr>
              <a:t>Final zip</a:t>
            </a:r>
            <a:endParaRPr lang="en-US" sz="1600" dirty="0"/>
          </a:p>
        </p:txBody>
      </p:sp>
      <p:sp>
        <p:nvSpPr>
          <p:cNvPr id="26" name="Text 24"/>
          <p:cNvSpPr txBox="1"/>
          <p:nvPr/>
        </p:nvSpPr>
        <p:spPr>
          <a:xfrm>
            <a:off x="9052560" y="5367528"/>
            <a:ext cx="2560320" cy="274320"/>
          </a:xfrm>
          <a:prstGeom prst="rect">
            <a:avLst/>
          </a:prstGeom>
          <a:noFill/>
          <a:ln/>
        </p:spPr>
        <p:txBody>
          <a:bodyPr wrap="square" lIns="0" tIns="0" rIns="0" bIns="0" rtlCol="0" anchor="ctr"/>
          <a:lstStyle/>
          <a:p>
            <a:pPr algn="ctr" indent="0" marL="0">
              <a:buNone/>
            </a:pPr>
            <a:r>
              <a:rPr lang="en-US" sz="1300" dirty="0">
                <a:solidFill>
                  <a:schemeClr val="tx1"/>
                </a:solidFill>
              </a:rPr>
              <a:t>Sun 15 Nov  ·  GroupNN.zip</a:t>
            </a:r>
            <a:endParaRPr lang="en-US" sz="1300" dirty="0"/>
          </a:p>
        </p:txBody>
      </p:sp>
      <p:sp>
        <p:nvSpPr>
          <p:cNvPr id="27" name="Missing info"/>
          <p:cNvSpPr txBox="1"/>
          <p:nvPr/>
        </p:nvSpPr>
        <p:spPr>
          <a:xfrm>
            <a:off x="548640" y="5806440"/>
            <a:ext cx="6766560" cy="384048"/>
          </a:xfrm>
          <a:prstGeom prst="roundRect">
            <a:avLst>
              <a:gd name="adj" fmla="val 19048"/>
            </a:avLst>
          </a:prstGeom>
          <a:solidFill>
            <a:schemeClr val="accent3">
              <a:alpha val="30000"/>
            </a:schemeClr>
          </a:solidFill>
          <a:ln w="15875">
            <a:solidFill>
              <a:schemeClr val="accent3"/>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what Sprint 2 and Sprint 3 will deliver, and who owns each part</a:t>
            </a:r>
            <a:endParaRPr lang="en-US" sz="13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an estimate, and a watch that fires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34440"/>
            <a:ext cx="4297680" cy="411480"/>
          </a:xfrm>
          <a:prstGeom prst="rect">
            <a:avLst/>
          </a:prstGeom>
          <a:noFill/>
          <a:ln/>
        </p:spPr>
        <p:txBody>
          <a:bodyPr wrap="square" lIns="0" tIns="0" rIns="0" bIns="0" rtlCol="0" anchor="ctr"/>
          <a:lstStyle/>
          <a:p>
            <a:pPr algn="l" indent="0" marL="0">
              <a:buNone/>
            </a:pPr>
            <a:r>
              <a:rPr lang="en-US" sz="1500" b="1" dirty="0">
                <a:solidFill>
                  <a:schemeClr val="tx2"/>
                </a:solidFill>
              </a:rPr>
              <a:t>“Can we take 800 hoodies by the 25th?”</a:t>
            </a:r>
            <a:endParaRPr lang="en-US" sz="1500" dirty="0"/>
          </a:p>
        </p:txBody>
      </p:sp>
      <p:sp>
        <p:nvSpPr>
          <p:cNvPr id="5" name="Feasibility screenshot frame"/>
          <p:cNvSpPr/>
          <p:nvPr/>
        </p:nvSpPr>
        <p:spPr>
          <a:xfrm>
            <a:off x="502920" y="1737360"/>
            <a:ext cx="4335258"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Feasibility screenshot" descr="Chat: a feasibility answer with a date range, the bottleneck stage and the assumptions">    </p:cNvPr>
          <p:cNvPicPr>
            <a:picLocks noChangeAspect="1"/>
          </p:cNvPicPr>
          <p:nvPr/>
        </p:nvPicPr>
        <p:blipFill>
          <a:blip r:embed="rId1"/>
          <a:stretch>
            <a:fillRect/>
          </a:stretch>
        </p:blipFill>
        <p:spPr>
          <a:xfrm>
            <a:off x="548640" y="1783080"/>
            <a:ext cx="4243818" cy="3520440"/>
          </a:xfrm>
          <a:prstGeom prst="rect">
            <a:avLst/>
          </a:prstGeom>
        </p:spPr>
      </p:pic>
      <p:sp>
        <p:nvSpPr>
          <p:cNvPr id="7" name="Label"/>
          <p:cNvSpPr txBox="1"/>
          <p:nvPr/>
        </p:nvSpPr>
        <p:spPr>
          <a:xfrm>
            <a:off x="5203938" y="1234440"/>
            <a:ext cx="6436374" cy="411480"/>
          </a:xfrm>
          <a:prstGeom prst="rect">
            <a:avLst/>
          </a:prstGeom>
          <a:noFill/>
          <a:ln/>
        </p:spPr>
        <p:txBody>
          <a:bodyPr wrap="square" lIns="0" tIns="0" rIns="0" bIns="0" rtlCol="0" anchor="ctr"/>
          <a:lstStyle/>
          <a:p>
            <a:pPr algn="l" indent="0" marL="0">
              <a:buNone/>
            </a:pPr>
            <a:r>
              <a:rPr lang="en-US" sz="1500" b="1" dirty="0">
                <a:solidFill>
                  <a:schemeClr val="tx2"/>
                </a:solidFill>
              </a:rPr>
              <a:t>A watch set yesterday fires in the next morning's briefing</a:t>
            </a:r>
            <a:endParaRPr lang="en-US" sz="1500" dirty="0"/>
          </a:p>
        </p:txBody>
      </p:sp>
      <p:sp>
        <p:nvSpPr>
          <p:cNvPr id="8" name="Watch fired screenshot frame"/>
          <p:cNvSpPr/>
          <p:nvPr/>
        </p:nvSpPr>
        <p:spPr>
          <a:xfrm>
            <a:off x="5158218" y="1737360"/>
            <a:ext cx="5331165"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Watch fired screenshot" descr="The morning page on Friday 10 April with a 'Watch fired' notice and the chat showing the alert for ORD-120">    </p:cNvPr>
          <p:cNvPicPr>
            <a:picLocks noChangeAspect="1"/>
          </p:cNvPicPr>
          <p:nvPr/>
        </p:nvPicPr>
        <p:blipFill>
          <a:blip r:embed="rId2"/>
          <a:stretch>
            <a:fillRect/>
          </a:stretch>
        </p:blipFill>
        <p:spPr>
          <a:xfrm>
            <a:off x="5203938" y="1783080"/>
            <a:ext cx="5239725" cy="3520440"/>
          </a:xfrm>
          <a:prstGeom prst="rect">
            <a:avLst/>
          </a:prstGeom>
        </p:spPr>
      </p:pic>
      <p:sp>
        <p:nvSpPr>
          <p:cNvPr id="10" name="Note"/>
          <p:cNvSpPr txBox="1"/>
          <p:nvPr/>
        </p:nvSpPr>
        <p:spPr>
          <a:xfrm>
            <a:off x="548640" y="5486400"/>
            <a:ext cx="4243818" cy="731520"/>
          </a:xfrm>
          <a:prstGeom prst="rect">
            <a:avLst/>
          </a:prstGeom>
          <a:noFill/>
          <a:ln/>
        </p:spPr>
        <p:txBody>
          <a:bodyPr wrap="square" lIns="0" tIns="0" rIns="0" bIns="0" rtlCol="0" anchor="t"/>
          <a:lstStyle/>
          <a:p>
            <a:pPr algn="l" indent="0" marL="0">
              <a:buNone/>
            </a:pPr>
            <a:r>
              <a:rPr lang="en-US" sz="1200" dirty="0">
                <a:solidFill>
                  <a:schemeClr val="tx1"/>
                </a:solidFill>
              </a:rPr>
              <a:t>Unlikely by Sat 25 Apr: finishes between Fri 1 May and Fri 8 May. Bottleneck: Packing. An estimate with assumptions, not a commitment.</a:t>
            </a:r>
            <a:endParaRPr lang="en-US" sz="1200" dirty="0"/>
          </a:p>
        </p:txBody>
      </p:sp>
      <p:sp>
        <p:nvSpPr>
          <p:cNvPr id="11" name="Note"/>
          <p:cNvSpPr txBox="1"/>
          <p:nvPr/>
        </p:nvSpPr>
        <p:spPr>
          <a:xfrm>
            <a:off x="5203938" y="5486400"/>
            <a:ext cx="5239725" cy="731520"/>
          </a:xfrm>
          <a:prstGeom prst="rect">
            <a:avLst/>
          </a:prstGeom>
          <a:noFill/>
          <a:ln/>
        </p:spPr>
        <p:txBody>
          <a:bodyPr wrap="square" lIns="0" tIns="0" rIns="0" bIns="0" rtlCol="0" anchor="t"/>
          <a:lstStyle/>
          <a:p>
            <a:pPr algn="l" indent="0" marL="0">
              <a:buNone/>
            </a:pPr>
            <a:r>
              <a:rPr lang="en-US" sz="1200" dirty="0">
                <a:solidFill>
                  <a:schemeClr val="tx1"/>
                </a:solidFill>
              </a:rPr>
              <a:t>Confirmed on 9 April. On 10 April the briefing re-checks the data, finds no activity since 3 April and raises the alert. Nothing is sent outside the system.</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ThreadPilot">
  <a:themeElements>
    <a:clrScheme name="ThreadPilot">
      <a:dk1>
        <a:srgbClr val="16262B"/>
      </a:dk1>
      <a:lt1>
        <a:srgbClr val="FFFFFF"/>
      </a:lt1>
      <a:dk2>
        <a:srgbClr val="14303A"/>
      </a:dk2>
      <a:lt2>
        <a:srgbClr val="EAF2F2"/>
      </a:lt2>
      <a:accent1>
        <a:srgbClr val="2E6F77"/>
      </a:accent1>
      <a:accent2>
        <a:srgbClr val="D9532B"/>
      </a:accent2>
      <a:accent3>
        <a:srgbClr val="F2B134"/>
      </a:accent3>
      <a:accent4>
        <a:srgbClr val="6B8F71"/>
      </a:accent4>
      <a:accent5>
        <a:srgbClr val="5E6E7A"/>
      </a:accent5>
      <a:accent6>
        <a:srgbClr val="A23B2A"/>
      </a:accent6>
      <a:hlink>
        <a:srgbClr val="2E6F77"/>
      </a:hlink>
      <a:folHlink>
        <a:srgbClr val="5E6E7A"/>
      </a:folHlink>
    </a:clrScheme>
    <a:fontScheme name="Thread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ThreadPilot: the General Manager's Co-Pilot (Sprint 1)</dc:title>
  <dc:subject>DSS5105 Track 1, Sprint 1 live presentation</dc:subject>
  <dc:creator>DSS5105 Track 1 team</dc:creator>
  <cp:lastModifiedBy>DSS5105 Track 1 team</cp:lastModifiedBy>
  <cp:revision>1</cp:revision>
  <dcterms:created xsi:type="dcterms:W3CDTF">2026-10-10T14:58:45Z</dcterms:created>
  <dcterms:modified xsi:type="dcterms:W3CDTF">2026-10-10T14:58:45Z</dcterms:modified>
</cp:coreProperties>
</file>