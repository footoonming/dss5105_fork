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print 1" id="{77ef7a15-b156-e0f5-160d-d29d093effd3}">
          <p14:sldIdLst>
            <p14:sldId id="256"/>
            <p14:sldId id="257"/>
            <p14:sldId id="258"/>
            <p14:sldId id="259"/>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4303A"/>
                </a:solidFill>
                <a:latin typeface="+mn-lt"/>
              </a:defRPr>
            </a:pPr>
            <a:r>
              <a:rPr sz="1600" b="0" i="0" u="none" strike="noStrike">
                <a:solidFill>
                  <a:srgbClr val="14303A"/>
                </a:solidFill>
                <a:latin typeface="+mn-lt"/>
              </a:rPr>
              <a:t>First pass, 36 questions: % passed (orange = weakest)</a:t>
            </a:r>
          </a:p>
        </c:rich>
      </c:tx>
      <c:layout/>
      <c:overlay val="0"/>
    </c:title>
    <c:autoTitleDeleted val="0"/>
    <c:plotArea>
      <c:layout/>
      <c:barChart>
        <c:barDir val="bar"/>
        <c:grouping val="clustered"/>
        <c:varyColors val="0"/>
        <c:ser>
          <c:idx val="0"/>
          <c:order val="0"/>
          <c:tx>
            <c:strRef>
              <c:f>Sheet1!$B$1</c:f>
              <c:strCache>
                <c:ptCount val="1"/>
                <c:pt idx="0">
                  <c:v>Passed on first try</c:v>
                </c:pt>
              </c:strCache>
            </c:strRef>
          </c:tx>
          <c:spPr>
            <a:solidFill>
              <a:srgbClr val="2E6F77"/>
            </a:solidFill>
            <a:effectLst/>
          </c:spPr>
          <c:invertIfNegative val="0"/>
          <c:dLbls>
            <c:numFmt formatCode="0&quot;%&quot;" sourceLinked="0"/>
            <c:txPr>
              <a:bodyPr/>
              <a:lstStyle/>
              <a:p>
                <a:pPr>
                  <a:defRPr b="0" i="0" strike="noStrike" sz="1400" u="none">
                    <a:solidFill>
                      <a:srgbClr val="16262B"/>
                    </a:solidFill>
                    <a:latin typeface="+mn-lt"/>
                  </a:defRPr>
                </a:pPr>
              </a:p>
            </c:txPr>
            <c:showLegendKey val="0"/>
            <c:showVal val="1"/>
            <c:showCatName val="0"/>
            <c:showSerName val="0"/>
            <c:showPercent val="0"/>
            <c:showBubbleSize val="0"/>
            <c:showLeaderLines val="0"/>
          </c:dLbls>
          <c:dPt>
            <c:idx val="0"/>
            <c:invertIfNegative val="0"/>
            <c:bubble3D val="0"/>
            <c:spPr>
              <a:solidFill>
                <a:srgbClr val="2E6F77"/>
              </a:solidFill>
              <a:effectLst/>
            </c:spPr>
          </c:dPt>
          <c:dPt>
            <c:idx val="1"/>
            <c:invertIfNegative val="0"/>
            <c:bubble3D val="0"/>
            <c:spPr>
              <a:solidFill>
                <a:srgbClr val="D9532B"/>
              </a:solidFill>
              <a:effectLst/>
            </c:spPr>
          </c:dPt>
          <c:dPt>
            <c:idx val="2"/>
            <c:invertIfNegative val="0"/>
            <c:bubble3D val="0"/>
            <c:spPr>
              <a:solidFill>
                <a:srgbClr val="D9532B"/>
              </a:solidFill>
              <a:effectLst/>
            </c:spPr>
          </c:dPt>
          <c:dPt>
            <c:idx val="3"/>
            <c:invertIfNegative val="0"/>
            <c:bubble3D val="0"/>
            <c:spPr>
              <a:solidFill>
                <a:srgbClr val="2E6F77"/>
              </a:solidFill>
              <a:effectLst/>
            </c:spPr>
          </c:dPt>
          <c:dPt>
            <c:idx val="4"/>
            <c:invertIfNegative val="0"/>
            <c:bubble3D val="0"/>
            <c:spPr>
              <a:solidFill>
                <a:srgbClr val="2E6F77"/>
              </a:solidFill>
              <a:effectLst/>
            </c:spPr>
          </c:dPt>
          <c:dPt>
            <c:idx val="5"/>
            <c:invertIfNegative val="0"/>
            <c:bubble3D val="0"/>
            <c:spPr>
              <a:solidFill>
                <a:srgbClr val="D9532B"/>
              </a:solidFill>
              <a:effectLst/>
            </c:spPr>
          </c:dPt>
          <c:cat>
            <c:multiLvlStrRef>
              <c:f>Sheet1!$A$2:$A$7</c:f>
              <c:multiLvlStrCache>
                <c:ptCount val="6"/>
                <c:lvl>
                  <c:pt idx="0">
                    <c:v>Facts (7/10)</c:v>
                  </c:pt>
                  <c:pt idx="1">
                    <c:v>Multi-turn (2/4)</c:v>
                  </c:pt>
                  <c:pt idx="2">
                    <c:v>Ambiguous (2/5)</c:v>
                  </c:pt>
                  <c:pt idx="3">
                    <c:v>Unanswerable (6/6)</c:v>
                  </c:pt>
                  <c:pt idx="4">
                    <c:v>Feasibility (6/6)</c:v>
                  </c:pt>
                  <c:pt idx="5">
                    <c:v>Actions (2/5)</c:v>
                  </c:pt>
                </c:lvl>
              </c:multiLvlStrCache>
            </c:multiLvlStrRef>
          </c:cat>
          <c:val>
            <c:numRef>
              <c:f>Sheet1!$B$2:$B$7</c:f>
              <c:numCache>
                <c:formatCode>General</c:formatCode>
                <c:ptCount val="6"/>
                <c:pt idx="0">
                  <c:v>70</c:v>
                </c:pt>
                <c:pt idx="1">
                  <c:v>50</c:v>
                </c:pt>
                <c:pt idx="2">
                  <c:v>40</c:v>
                </c:pt>
                <c:pt idx="3">
                  <c:v>100</c:v>
                </c:pt>
                <c:pt idx="4">
                  <c:v>100</c:v>
                </c:pt>
                <c:pt idx="5">
                  <c:v>40</c:v>
                </c:pt>
              </c:numCache>
            </c:numRef>
          </c:val>
        </c:ser>
        <c:dLbls>
          <c:numFmt formatCode="0&quot;%&quot;" sourceLinked="0"/>
          <c:txPr>
            <a:bodyPr/>
            <a:lstStyle/>
            <a:p>
              <a:pPr>
                <a:defRPr b="0" i="0" strike="noStrike" sz="1400" u="none">
                  <a:solidFill>
                    <a:srgbClr val="16262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6262B"/>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seconds. Whole talk about 4:40, leaving about 20 seconds of slack.
ThreadPilot is a co-pilot for the general manager of a knitwear factory. The card on the right is what the manager sees first: three lines, from our briefing demo on a simulated morning, 9 April 2026.
[Add before presenting: group number and the sixth team member's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seconds.
These five questions come straight from the Track 1 brief. Today each one costs a phone call to a planner and a wait. The right-hand column is how ThreadPilot answers: a three-line briefing, ask rather than guess, estimates with assumptions, confirm before acting, and watches that fire on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seconds.
The brief says the centre of the track is the tool set, so we specified every tool before building it: 33 in one table, each with its limits. Five kinds are the minimum.
Judgement is the one to remember: 'normal' is an explicit rule, the previous 8 same weekdays with Sundays closed, and the briefing, the chat and the dashboard share it. A test holds them to identical numbers. Action tools never send on their own: preview, confirmation key, audit log.
(Reference, if asked) Stack: FastAPI, MySQL 8, a SQLite store for sessions and confirmations, the OpenAI API for understanding and wording only, and a LangChain read-only SQL agent. docs/tool_spec.md lists 15 tools for the live backend and 18 for the dashboard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seconds. Live demo or screenshot walk-through.
Run these on 9 April (date picker, 'Simulated day 8'), in this order:
1. 'Did anything go wrong yesterday?' The three-line briefing, then Show detail.
2. 'Which orders are high risk?'
3. 'Should we expedite ORD-120?' The answer is 'find the blocker first': it is part of the stalled TrendCart group.
4. 'How is the TrendCart order doing?' It asks which of the six orders you mean.
5. 'Can we take 800 hoodies by the 25th?' A range with stated assumptions.
6. 'What's our revenue this month?' A refusal: the data holds no prices.
7. 'Chase ORD-120', then confirm.
Say clearly: this demo chat is built-in tools, not a language model. The live backend (OpenAI model + MySQL) is the full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36 questions, with expected answers computed from the CSV files by code that does not use the briefing. First pass, nothing fixed: 25 of 36, 69%. That is the number we stand behind. After the first fixes, 21 new held-out questions with different wording gave 18 of 21.
Weakest first-pass areas were multi-turn, ambiguous questions and actions; unanswerable and feasibility questions passed 6 of 6. The set has 11 ambiguous-or-unanswerable and 11 feasibility-or-action questions, against the brief's minimum of 5 and 5.
Discovery and feasibility results come from our own simulator, so they show consistency, not real-world accuracy. Not yet measured: the live OpenAI-backed system. We wrote these questions ourselves, so teammates will add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seconds.
Limits first. Predictions were validated against our own simulator, so they show consistency, not real-world accuracy. The order forecast is no better than repeating the last period, and the dashboard says so. The data holds about 29 working days of work in progress against 12 to 30 allowed, so nearly every order is late.
Next: run the live-model evaluation once, add teammates' questions, move the briefing onto the live MySQL data, and bring Morning Briefing into the team's cloud site. Sprint 2 is Friday 30 October, Sprint 3 Friday 13 November, final zip Sunday 15 November.
[Add before presenting: what Sprint 2 and Sprint 3 will deliver, and who owns each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P_TITLE">
    <p:spTree>
      <p:nvGrpSpPr>
        <p:cNvPr id="1" name=""/>
        <p:cNvGrpSpPr/>
        <p:nvPr/>
      </p:nvGrpSpPr>
      <p:grpSpPr>
        <a:xfrm>
          <a:off x="0" y="0"/>
          <a:ext cx="0" cy="0"/>
          <a:chOff x="0" y="0"/>
          <a:chExt cx="0" cy="0"/>
        </a:xfrm>
      </p:grpSpPr>
      <p:sp>
        <p:nvSpPr>
          <p:cNvPr id="2" name="Background"/>
          <p:cNvSpPr/>
          <p:nvPr/>
        </p:nvSpPr>
        <p:spPr>
          <a:xfrm>
            <a:off x="0" y="0"/>
            <a:ext cx="12191695" cy="6858000"/>
          </a:xfrm>
          <a:prstGeom prst="rect">
            <a:avLst/>
          </a:prstGeom>
          <a:solidFill>
            <a:schemeClr val="tx2"/>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P_CONTENT">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382512"/>
            <a:ext cx="7315200" cy="274320"/>
          </a:xfrm>
          <a:prstGeom prst="rect">
            <a:avLst/>
          </a:prstGeom>
          <a:noFill/>
          <a:ln/>
        </p:spPr>
        <p:txBody>
          <a:bodyPr wrap="square" lIns="0" tIns="0" rIns="0" bIns="0" rtlCol="0" anchor="ctr"/>
          <a:lstStyle/>
          <a:p>
            <a:pPr algn="l" indent="0" marL="0">
              <a:buNone/>
            </a:pPr>
            <a:r>
              <a:rPr lang="en-US" sz="1000" dirty="0">
                <a:solidFill>
                  <a:schemeClr val="accent5"/>
                </a:solidFill>
              </a:rPr>
              <a:t>ThreadPilot  ·  DSS5105 Track 1  ·  Sprint 1</a:t>
            </a:r>
            <a:endParaRPr lang="en-US" sz="10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731520" y="1188720"/>
            <a:ext cx="6217920" cy="1097280"/>
          </a:xfrm>
          <a:prstGeom prst="rect">
            <a:avLst/>
          </a:prstGeom>
          <a:noFill/>
          <a:ln/>
        </p:spPr>
        <p:txBody>
          <a:bodyPr wrap="square" lIns="0" tIns="0" rIns="0" bIns="0" rtlCol="0" anchor="ctr"/>
          <a:lstStyle/>
          <a:p>
            <a:pPr algn="l" indent="0" marL="0">
              <a:buNone/>
            </a:pPr>
            <a:r>
              <a:rPr lang="en-US" sz="6000" b="1" dirty="0">
                <a:solidFill>
                  <a:schemeClr val="bg1"/>
                </a:solidFill>
                <a:latin typeface="Cambria" pitchFamily="34" charset="0"/>
                <a:ea typeface="Cambria" pitchFamily="34" charset="-122"/>
                <a:cs typeface="Cambria" pitchFamily="34" charset="-120"/>
              </a:rPr>
              <a:t>ThreadPilot</a:t>
            </a:r>
            <a:endParaRPr lang="en-US" sz="6000" dirty="0"/>
          </a:p>
        </p:txBody>
      </p:sp>
      <p:sp>
        <p:nvSpPr>
          <p:cNvPr id="3" name="Subtitle"/>
          <p:cNvSpPr txBox="1"/>
          <p:nvPr/>
        </p:nvSpPr>
        <p:spPr>
          <a:xfrm>
            <a:off x="731520" y="2331720"/>
            <a:ext cx="6217920" cy="548640"/>
          </a:xfrm>
          <a:prstGeom prst="rect">
            <a:avLst/>
          </a:prstGeom>
          <a:noFill/>
          <a:ln/>
        </p:spPr>
        <p:txBody>
          <a:bodyPr wrap="square" lIns="0" tIns="0" rIns="0" bIns="0" rtlCol="0" anchor="ctr"/>
          <a:lstStyle/>
          <a:p>
            <a:pPr algn="l" indent="0" marL="0">
              <a:buNone/>
            </a:pPr>
            <a:r>
              <a:rPr lang="en-US" sz="2600" dirty="0">
                <a:solidFill>
                  <a:schemeClr val="bg2"/>
                </a:solidFill>
              </a:rPr>
              <a:t>The General Manager's Co-Pilot</a:t>
            </a:r>
            <a:endParaRPr lang="en-US" sz="2600" dirty="0"/>
          </a:p>
        </p:txBody>
      </p:sp>
      <p:sp>
        <p:nvSpPr>
          <p:cNvPr id="4" name="Course line"/>
          <p:cNvSpPr txBox="1"/>
          <p:nvPr/>
        </p:nvSpPr>
        <p:spPr>
          <a:xfrm>
            <a:off x="731520" y="3246120"/>
            <a:ext cx="6217920" cy="777240"/>
          </a:xfrm>
          <a:prstGeom prst="rect">
            <a:avLst/>
          </a:prstGeom>
          <a:noFill/>
          <a:ln/>
        </p:spPr>
        <p:txBody>
          <a:bodyPr wrap="square" lIns="0" tIns="0" rIns="0" bIns="0" rtlCol="0" anchor="t"/>
          <a:lstStyle/>
          <a:p>
            <a:pPr algn="l" indent="0" marL="0">
              <a:spcAft>
                <a:spcPts val="400"/>
              </a:spcAft>
              <a:buNone/>
            </a:pPr>
            <a:r>
              <a:rPr lang="en-US" sz="1800" dirty="0">
                <a:solidFill>
                  <a:schemeClr val="bg1"/>
                </a:solidFill>
              </a:rPr>
              <a:t>DSS5105 Capstone  ·  Track 1</a:t>
            </a:r>
            <a:endParaRPr lang="en-US" sz="1800" dirty="0"/>
          </a:p>
          <a:p>
            <a:pPr algn="l" indent="0" marL="0">
              <a:spcAft>
                <a:spcPts val="400"/>
              </a:spcAft>
              <a:buNone/>
            </a:pPr>
            <a:r>
              <a:rPr lang="en-US" sz="1800" dirty="0">
                <a:solidFill>
                  <a:schemeClr val="bg1"/>
                </a:solidFill>
              </a:rPr>
              <a:t>Sprint 1 live presentation  ·  Friday 16 October 2026</a:t>
            </a:r>
            <a:endParaRPr lang="en-US" sz="1800" dirty="0"/>
          </a:p>
        </p:txBody>
      </p:sp>
      <p:sp>
        <p:nvSpPr>
          <p:cNvPr id="5" name="Team"/>
          <p:cNvSpPr txBox="1"/>
          <p:nvPr/>
        </p:nvSpPr>
        <p:spPr>
          <a:xfrm>
            <a:off x="731520" y="4343400"/>
            <a:ext cx="6309360" cy="365760"/>
          </a:xfrm>
          <a:prstGeom prst="rect">
            <a:avLst/>
          </a:prstGeom>
          <a:noFill/>
          <a:ln/>
        </p:spPr>
        <p:txBody>
          <a:bodyPr wrap="square" lIns="0" tIns="0" rIns="0" bIns="0" rtlCol="0" anchor="ctr"/>
          <a:lstStyle/>
          <a:p>
            <a:pPr algn="l" indent="0" marL="0">
              <a:buNone/>
            </a:pPr>
            <a:r>
              <a:rPr lang="en-US" sz="1600" dirty="0">
                <a:solidFill>
                  <a:schemeClr val="bg2"/>
                </a:solidFill>
              </a:rPr>
              <a:t>Matthew  ·  LIU JING  ·  Kevin Royce Thomson  ·  Anqi Lin  ·  Wendy</a:t>
            </a:r>
            <a:endParaRPr lang="en-US" sz="1600" dirty="0"/>
          </a:p>
        </p:txBody>
      </p:sp>
      <p:sp>
        <p:nvSpPr>
          <p:cNvPr id="6" name="Missing info"/>
          <p:cNvSpPr txBox="1"/>
          <p:nvPr/>
        </p:nvSpPr>
        <p:spPr>
          <a:xfrm>
            <a:off x="731520" y="4892040"/>
            <a:ext cx="5486400" cy="384048"/>
          </a:xfrm>
          <a:prstGeom prst="roundRect">
            <a:avLst>
              <a:gd name="adj" fmla="val 19048"/>
            </a:avLst>
          </a:prstGeom>
          <a:solidFill>
            <a:schemeClr val="accent3"/>
          </a:solidFill>
          <a:ln w="15875">
            <a:solidFill>
              <a:schemeClr val="bg1"/>
            </a:solidFill>
            <a:prstDash val="dash"/>
          </a:ln>
        </p:spPr>
        <p:txBody>
          <a:bodyPr wrap="square" lIns="76200" tIns="76200" rIns="76200" bIns="76200" rtlCol="0" anchor="ctr"/>
          <a:lstStyle/>
          <a:p>
            <a:pPr algn="l" indent="0" marL="0">
              <a:buNone/>
            </a:pPr>
            <a:r>
              <a:rPr lang="en-US" sz="1300" b="1" dirty="0">
                <a:solidFill>
                  <a:schemeClr val="tx1"/>
                </a:solidFill>
              </a:rPr>
              <a:t>ADD: </a:t>
            </a:r>
            <a:pPr algn="l" indent="0" marL="0">
              <a:buNone/>
            </a:pPr>
            <a:r>
              <a:rPr lang="en-US" sz="1300" dirty="0">
                <a:solidFill>
                  <a:schemeClr val="tx1"/>
                </a:solidFill>
              </a:rPr>
              <a:t>sixth team member's name and the group number</a:t>
            </a:r>
            <a:endParaRPr lang="en-US" sz="1300" dirty="0"/>
          </a:p>
        </p:txBody>
      </p:sp>
      <p:sp>
        <p:nvSpPr>
          <p:cNvPr id="7" name="Briefing card"/>
          <p:cNvSpPr/>
          <p:nvPr/>
        </p:nvSpPr>
        <p:spPr>
          <a:xfrm>
            <a:off x="7406640" y="1188720"/>
            <a:ext cx="4206240" cy="3611880"/>
          </a:xfrm>
          <a:prstGeom prst="roundRect">
            <a:avLst>
              <a:gd name="adj" fmla="val 3038"/>
            </a:avLst>
          </a:prstGeom>
          <a:solidFill>
            <a:schemeClr val="bg1"/>
          </a:solidFill>
          <a:ln/>
          <a:effectLst>
            <a:outerShdw sx="100000" sy="100000" kx="0" ky="0" algn="bl" rotWithShape="0" blurRad="101600" dist="25400" dir="5400000">
              <a:srgbClr val="000000">
                <a:alpha val="16000"/>
              </a:srgbClr>
            </a:outerShdw>
          </a:effectLst>
        </p:spPr>
      </p:sp>
      <p:sp>
        <p:nvSpPr>
          <p:cNvPr id="8" name="Text 6"/>
          <p:cNvSpPr txBox="1"/>
          <p:nvPr/>
        </p:nvSpPr>
        <p:spPr>
          <a:xfrm>
            <a:off x="7680960" y="1371600"/>
            <a:ext cx="2377440" cy="365760"/>
          </a:xfrm>
          <a:prstGeom prst="rect">
            <a:avLst/>
          </a:prstGeom>
          <a:noFill/>
          <a:ln/>
        </p:spPr>
        <p:txBody>
          <a:bodyPr wrap="square" lIns="0" tIns="0" rIns="0" bIns="0" rtlCol="0" anchor="ctr"/>
          <a:lstStyle/>
          <a:p>
            <a:pPr algn="l" indent="0" marL="0">
              <a:buNone/>
            </a:pPr>
            <a:r>
              <a:rPr lang="en-US" sz="1800" b="1" dirty="0">
                <a:solidFill>
                  <a:schemeClr val="tx2"/>
                </a:solidFill>
              </a:rPr>
              <a:t>Morning summary</a:t>
            </a:r>
            <a:endParaRPr lang="en-US" sz="1800" dirty="0"/>
          </a:p>
        </p:txBody>
      </p:sp>
      <p:sp>
        <p:nvSpPr>
          <p:cNvPr id="9" name="Text 7"/>
          <p:cNvSpPr txBox="1"/>
          <p:nvPr/>
        </p:nvSpPr>
        <p:spPr>
          <a:xfrm>
            <a:off x="9692640" y="1371600"/>
            <a:ext cx="1645920" cy="365760"/>
          </a:xfrm>
          <a:prstGeom prst="rect">
            <a:avLst/>
          </a:prstGeom>
          <a:noFill/>
          <a:ln/>
        </p:spPr>
        <p:txBody>
          <a:bodyPr wrap="square" lIns="0" tIns="0" rIns="0" bIns="0" rtlCol="0" anchor="ctr"/>
          <a:lstStyle/>
          <a:p>
            <a:pPr algn="r" indent="0" marL="0">
              <a:buNone/>
            </a:pPr>
            <a:r>
              <a:rPr lang="en-US" sz="1200" dirty="0">
                <a:solidFill>
                  <a:schemeClr val="accent5"/>
                </a:solidFill>
              </a:rPr>
              <a:t>Generated 07:00</a:t>
            </a:r>
            <a:endParaRPr lang="en-US" sz="1200" dirty="0"/>
          </a:p>
        </p:txBody>
      </p:sp>
      <p:sp>
        <p:nvSpPr>
          <p:cNvPr id="10" name="Shape 8"/>
          <p:cNvSpPr/>
          <p:nvPr/>
        </p:nvSpPr>
        <p:spPr>
          <a:xfrm>
            <a:off x="7680960" y="1911096"/>
            <a:ext cx="3657600" cy="10973"/>
          </a:xfrm>
          <a:prstGeom prst="rect">
            <a:avLst/>
          </a:prstGeom>
          <a:solidFill>
            <a:schemeClr val="bg2"/>
          </a:solidFill>
          <a:ln w="6350">
            <a:solidFill>
              <a:schemeClr val="bg2"/>
            </a:solidFill>
            <a:prstDash val="solid"/>
          </a:ln>
        </p:spPr>
      </p:sp>
      <p:sp>
        <p:nvSpPr>
          <p:cNvPr id="11" name="Text 9"/>
          <p:cNvSpPr txBox="1"/>
          <p:nvPr/>
        </p:nvSpPr>
        <p:spPr>
          <a:xfrm>
            <a:off x="7680960" y="2002536"/>
            <a:ext cx="3657600" cy="256032"/>
          </a:xfrm>
          <a:prstGeom prst="rect">
            <a:avLst/>
          </a:prstGeom>
          <a:noFill/>
          <a:ln/>
        </p:spPr>
        <p:txBody>
          <a:bodyPr wrap="square" lIns="0" tIns="0" rIns="0" bIns="0" rtlCol="0" anchor="ctr"/>
          <a:lstStyle/>
          <a:p>
            <a:pPr algn="l" indent="0" marL="0">
              <a:buNone/>
            </a:pPr>
            <a:r>
              <a:rPr lang="en-US" sz="1200" b="1" dirty="0">
                <a:solidFill>
                  <a:schemeClr val="accent5"/>
                </a:solidFill>
              </a:rPr>
              <a:t>Yesterday</a:t>
            </a:r>
            <a:endParaRPr lang="en-US" sz="1200" dirty="0"/>
          </a:p>
        </p:txBody>
      </p:sp>
      <p:sp>
        <p:nvSpPr>
          <p:cNvPr id="12" name="Text 10"/>
          <p:cNvSpPr txBox="1"/>
          <p:nvPr/>
        </p:nvSpPr>
        <p:spPr>
          <a:xfrm>
            <a:off x="7680960" y="2258568"/>
            <a:ext cx="3657600" cy="566928"/>
          </a:xfrm>
          <a:prstGeom prst="rect">
            <a:avLst/>
          </a:prstGeom>
          <a:noFill/>
          <a:ln/>
        </p:spPr>
        <p:txBody>
          <a:bodyPr wrap="square" lIns="0" tIns="0" rIns="0" bIns="0" rtlCol="0" anchor="t"/>
          <a:lstStyle/>
          <a:p>
            <a:pPr algn="l" indent="0" marL="0">
              <a:buNone/>
            </a:pPr>
            <a:r>
              <a:rPr lang="en-US" sz="1600" dirty="0">
                <a:solidFill>
                  <a:schemeClr val="tx1"/>
                </a:solidFill>
              </a:rPr>
              <a:t>2,567 pieces across four stages; Washing below normal.</a:t>
            </a:r>
            <a:endParaRPr lang="en-US" sz="1600" dirty="0"/>
          </a:p>
        </p:txBody>
      </p:sp>
      <p:sp>
        <p:nvSpPr>
          <p:cNvPr id="13" name="Shape 11"/>
          <p:cNvSpPr/>
          <p:nvPr/>
        </p:nvSpPr>
        <p:spPr>
          <a:xfrm>
            <a:off x="7680960" y="2898648"/>
            <a:ext cx="3657600" cy="10973"/>
          </a:xfrm>
          <a:prstGeom prst="rect">
            <a:avLst/>
          </a:prstGeom>
          <a:solidFill>
            <a:schemeClr val="bg2"/>
          </a:solidFill>
          <a:ln w="6350">
            <a:solidFill>
              <a:schemeClr val="bg2"/>
            </a:solidFill>
            <a:prstDash val="solid"/>
          </a:ln>
        </p:spPr>
      </p:sp>
      <p:sp>
        <p:nvSpPr>
          <p:cNvPr id="14" name="Text 12"/>
          <p:cNvSpPr txBox="1"/>
          <p:nvPr/>
        </p:nvSpPr>
        <p:spPr>
          <a:xfrm>
            <a:off x="7680960" y="2990088"/>
            <a:ext cx="3657600" cy="256032"/>
          </a:xfrm>
          <a:prstGeom prst="rect">
            <a:avLst/>
          </a:prstGeom>
          <a:noFill/>
          <a:ln/>
        </p:spPr>
        <p:txBody>
          <a:bodyPr wrap="square" lIns="0" tIns="0" rIns="0" bIns="0" rtlCol="0" anchor="ctr"/>
          <a:lstStyle/>
          <a:p>
            <a:pPr algn="l" indent="0" marL="0">
              <a:buNone/>
            </a:pPr>
            <a:r>
              <a:rPr lang="en-US" sz="1200" b="1" dirty="0">
                <a:solidFill>
                  <a:schemeClr val="accent5"/>
                </a:solidFill>
              </a:rPr>
              <a:t>Top issue</a:t>
            </a:r>
            <a:endParaRPr lang="en-US" sz="1200" dirty="0"/>
          </a:p>
        </p:txBody>
      </p:sp>
      <p:sp>
        <p:nvSpPr>
          <p:cNvPr id="15" name="Text 13"/>
          <p:cNvSpPr txBox="1"/>
          <p:nvPr/>
        </p:nvSpPr>
        <p:spPr>
          <a:xfrm>
            <a:off x="7680960" y="3246120"/>
            <a:ext cx="3657600" cy="566928"/>
          </a:xfrm>
          <a:prstGeom prst="rect">
            <a:avLst/>
          </a:prstGeom>
          <a:noFill/>
          <a:ln/>
        </p:spPr>
        <p:txBody>
          <a:bodyPr wrap="square" lIns="0" tIns="0" rIns="0" bIns="0" rtlCol="0" anchor="t"/>
          <a:lstStyle/>
          <a:p>
            <a:pPr algn="l" indent="0" marL="0">
              <a:buNone/>
            </a:pPr>
            <a:r>
              <a:rPr lang="en-US" sz="1600" dirty="0">
                <a:solidFill>
                  <a:schemeClr val="tx1"/>
                </a:solidFill>
              </a:rPr>
              <a:t>Still open: All 6 active TrendCart orders have stopped moving.</a:t>
            </a:r>
            <a:endParaRPr lang="en-US" sz="1600" dirty="0"/>
          </a:p>
        </p:txBody>
      </p:sp>
      <p:sp>
        <p:nvSpPr>
          <p:cNvPr id="16" name="Shape 14"/>
          <p:cNvSpPr/>
          <p:nvPr/>
        </p:nvSpPr>
        <p:spPr>
          <a:xfrm>
            <a:off x="7680960" y="3886200"/>
            <a:ext cx="3657600" cy="10973"/>
          </a:xfrm>
          <a:prstGeom prst="rect">
            <a:avLst/>
          </a:prstGeom>
          <a:solidFill>
            <a:schemeClr val="bg2"/>
          </a:solidFill>
          <a:ln w="6350">
            <a:solidFill>
              <a:schemeClr val="bg2"/>
            </a:solidFill>
            <a:prstDash val="solid"/>
          </a:ln>
        </p:spPr>
      </p:sp>
      <p:sp>
        <p:nvSpPr>
          <p:cNvPr id="17" name="Text 15"/>
          <p:cNvSpPr txBox="1"/>
          <p:nvPr/>
        </p:nvSpPr>
        <p:spPr>
          <a:xfrm>
            <a:off x="7680960" y="3977640"/>
            <a:ext cx="3657600" cy="256032"/>
          </a:xfrm>
          <a:prstGeom prst="rect">
            <a:avLst/>
          </a:prstGeom>
          <a:noFill/>
          <a:ln/>
        </p:spPr>
        <p:txBody>
          <a:bodyPr wrap="square" lIns="0" tIns="0" rIns="0" bIns="0" rtlCol="0" anchor="ctr"/>
          <a:lstStyle/>
          <a:p>
            <a:pPr algn="l" indent="0" marL="0">
              <a:buNone/>
            </a:pPr>
            <a:r>
              <a:rPr lang="en-US" sz="1200" b="1" dirty="0">
                <a:solidFill>
                  <a:schemeClr val="accent5"/>
                </a:solidFill>
              </a:rPr>
              <a:t>Decide</a:t>
            </a:r>
            <a:endParaRPr lang="en-US" sz="1200" dirty="0"/>
          </a:p>
        </p:txBody>
      </p:sp>
      <p:sp>
        <p:nvSpPr>
          <p:cNvPr id="18" name="Text 16"/>
          <p:cNvSpPr txBox="1"/>
          <p:nvPr/>
        </p:nvSpPr>
        <p:spPr>
          <a:xfrm>
            <a:off x="7680960" y="4233672"/>
            <a:ext cx="3657600" cy="566928"/>
          </a:xfrm>
          <a:prstGeom prst="rect">
            <a:avLst/>
          </a:prstGeom>
          <a:noFill/>
          <a:ln/>
        </p:spPr>
        <p:txBody>
          <a:bodyPr wrap="square" lIns="0" tIns="0" rIns="0" bIns="0" rtlCol="0" anchor="t"/>
          <a:lstStyle/>
          <a:p>
            <a:pPr algn="l" indent="0" marL="0">
              <a:buNone/>
            </a:pPr>
            <a:r>
              <a:rPr lang="en-US" sz="1600" dirty="0">
                <a:solidFill>
                  <a:schemeClr val="tx1"/>
                </a:solidFill>
              </a:rPr>
              <a:t>6 overdue, 9 due this week.</a:t>
            </a:r>
            <a:endParaRPr lang="en-US" sz="1600" dirty="0"/>
          </a:p>
        </p:txBody>
      </p:sp>
      <p:sp>
        <p:nvSpPr>
          <p:cNvPr id="19" name="Card caption"/>
          <p:cNvSpPr txBox="1"/>
          <p:nvPr/>
        </p:nvSpPr>
        <p:spPr>
          <a:xfrm>
            <a:off x="7406640" y="4937760"/>
            <a:ext cx="4206240" cy="320040"/>
          </a:xfrm>
          <a:prstGeom prst="rect">
            <a:avLst/>
          </a:prstGeom>
          <a:noFill/>
          <a:ln/>
        </p:spPr>
        <p:txBody>
          <a:bodyPr wrap="square" lIns="0" tIns="0" rIns="0" bIns="0" rtlCol="0" anchor="t"/>
          <a:lstStyle/>
          <a:p>
            <a:pPr algn="l" indent="0" marL="0">
              <a:buNone/>
            </a:pPr>
            <a:r>
              <a:rPr lang="en-US" sz="1200" dirty="0">
                <a:solidFill>
                  <a:schemeClr val="bg2"/>
                </a:solidFill>
              </a:rPr>
              <a:t>Real output of our briefing demo (simulated, 9 April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400" b="1" dirty="0">
                <a:solidFill>
                  <a:schemeClr val="tx2"/>
                </a:solidFill>
              </a:rPr>
              <a:t>A GM's questions don't stop at 7 a.m.</a:t>
            </a:r>
            <a:endParaRPr lang="en-US" sz="3400" dirty="0"/>
          </a:p>
        </p:txBody>
      </p:sp>
      <p:sp>
        <p:nvSpPr>
          <p:cNvPr id="3" name="Row 7:00"/>
          <p:cNvSpPr/>
          <p:nvPr/>
        </p:nvSpPr>
        <p:spPr>
          <a:xfrm>
            <a:off x="548640" y="1371600"/>
            <a:ext cx="11091672" cy="841248"/>
          </a:xfrm>
          <a:prstGeom prst="roundRect">
            <a:avLst>
              <a:gd name="adj" fmla="val 8696"/>
            </a:avLst>
          </a:prstGeom>
          <a:solidFill>
            <a:schemeClr val="bg2"/>
          </a:solidFill>
          <a:ln/>
        </p:spPr>
      </p:sp>
      <p:sp>
        <p:nvSpPr>
          <p:cNvPr id="4" name="Time 7:00"/>
          <p:cNvSpPr txBox="1"/>
          <p:nvPr/>
        </p:nvSpPr>
        <p:spPr>
          <a:xfrm>
            <a:off x="777240" y="1591056"/>
            <a:ext cx="960120" cy="402336"/>
          </a:xfrm>
          <a:prstGeom prst="roundRect">
            <a:avLst>
              <a:gd name="adj" fmla="val 45455"/>
            </a:avLst>
          </a:prstGeom>
          <a:solidFill>
            <a:schemeClr val="accent1"/>
          </a:solidFill>
          <a:ln/>
        </p:spPr>
        <p:txBody>
          <a:bodyPr wrap="square" lIns="0" tIns="0" rIns="0" bIns="0" rtlCol="0" anchor="ctr"/>
          <a:lstStyle/>
          <a:p>
            <a:pPr algn="ctr" indent="0" marL="0">
              <a:buNone/>
            </a:pPr>
            <a:r>
              <a:rPr lang="en-US" sz="1600" b="1" dirty="0">
                <a:solidFill>
                  <a:schemeClr val="bg1"/>
                </a:solidFill>
              </a:rPr>
              <a:t>7:00</a:t>
            </a:r>
            <a:endParaRPr lang="en-US" sz="1600" dirty="0"/>
          </a:p>
        </p:txBody>
      </p:sp>
      <p:sp>
        <p:nvSpPr>
          <p:cNvPr id="5" name="Text 3"/>
          <p:cNvSpPr txBox="1"/>
          <p:nvPr/>
        </p:nvSpPr>
        <p:spPr>
          <a:xfrm>
            <a:off x="1965960" y="1371600"/>
            <a:ext cx="4114800" cy="841248"/>
          </a:xfrm>
          <a:prstGeom prst="rect">
            <a:avLst/>
          </a:prstGeom>
          <a:noFill/>
          <a:ln/>
        </p:spPr>
        <p:txBody>
          <a:bodyPr wrap="square" lIns="0" tIns="0" rIns="0" bIns="0" rtlCol="0" anchor="ctr"/>
          <a:lstStyle/>
          <a:p>
            <a:pPr algn="l" indent="0" marL="0">
              <a:buNone/>
            </a:pPr>
            <a:r>
              <a:rPr lang="en-US" sz="1700" i="1" dirty="0">
                <a:solidFill>
                  <a:schemeClr val="tx1"/>
                </a:solidFill>
              </a:rPr>
              <a:t>“Did anything go wrong yesterday?”</a:t>
            </a:r>
            <a:endParaRPr lang="en-US" sz="1700" dirty="0"/>
          </a:p>
        </p:txBody>
      </p:sp>
      <p:sp>
        <p:nvSpPr>
          <p:cNvPr id="6" name="Arrow"/>
          <p:cNvSpPr/>
          <p:nvPr/>
        </p:nvSpPr>
        <p:spPr>
          <a:xfrm>
            <a:off x="6263640" y="1645920"/>
            <a:ext cx="457200" cy="292608"/>
          </a:xfrm>
          <a:prstGeom prst="rightArrow">
            <a:avLst/>
          </a:prstGeom>
          <a:solidFill>
            <a:schemeClr val="accent2"/>
          </a:solidFill>
          <a:ln w="6350">
            <a:solidFill>
              <a:schemeClr val="accent2"/>
            </a:solidFill>
            <a:prstDash val="solid"/>
          </a:ln>
        </p:spPr>
      </p:sp>
      <p:sp>
        <p:nvSpPr>
          <p:cNvPr id="7" name="Text 5"/>
          <p:cNvSpPr txBox="1"/>
          <p:nvPr/>
        </p:nvSpPr>
        <p:spPr>
          <a:xfrm>
            <a:off x="6995160" y="1371600"/>
            <a:ext cx="4480560" cy="841248"/>
          </a:xfrm>
          <a:prstGeom prst="rect">
            <a:avLst/>
          </a:prstGeom>
          <a:noFill/>
          <a:ln/>
        </p:spPr>
        <p:txBody>
          <a:bodyPr wrap="square" lIns="0" tIns="0" rIns="0" bIns="0" rtlCol="0" anchor="ctr"/>
          <a:lstStyle/>
          <a:p>
            <a:pPr algn="l" indent="0" marL="0">
              <a:buNone/>
            </a:pPr>
            <a:r>
              <a:rPr lang="en-US" sz="1600" b="1" dirty="0">
                <a:solidFill>
                  <a:schemeClr val="tx1"/>
                </a:solidFill>
              </a:rPr>
              <a:t>Morning briefing in three lines:</a:t>
            </a:r>
            <a:pPr algn="l" indent="0" marL="0">
              <a:buNone/>
            </a:pPr>
            <a:r>
              <a:rPr lang="en-US" sz="1600" dirty="0">
                <a:solidFill>
                  <a:schemeClr val="tx1"/>
                </a:solidFill>
              </a:rPr>
              <a:t> what happened, what is at risk, what needs a decision</a:t>
            </a:r>
            <a:endParaRPr lang="en-US" sz="1600" dirty="0"/>
          </a:p>
        </p:txBody>
      </p:sp>
      <p:sp>
        <p:nvSpPr>
          <p:cNvPr id="8" name="Row 9:40"/>
          <p:cNvSpPr/>
          <p:nvPr/>
        </p:nvSpPr>
        <p:spPr>
          <a:xfrm>
            <a:off x="548640" y="2322576"/>
            <a:ext cx="11091672" cy="841248"/>
          </a:xfrm>
          <a:prstGeom prst="roundRect">
            <a:avLst>
              <a:gd name="adj" fmla="val 8696"/>
            </a:avLst>
          </a:prstGeom>
          <a:solidFill>
            <a:schemeClr val="bg2"/>
          </a:solidFill>
          <a:ln/>
        </p:spPr>
      </p:sp>
      <p:sp>
        <p:nvSpPr>
          <p:cNvPr id="9" name="Time 9:40"/>
          <p:cNvSpPr txBox="1"/>
          <p:nvPr/>
        </p:nvSpPr>
        <p:spPr>
          <a:xfrm>
            <a:off x="777240" y="2542032"/>
            <a:ext cx="960120" cy="402336"/>
          </a:xfrm>
          <a:prstGeom prst="roundRect">
            <a:avLst>
              <a:gd name="adj" fmla="val 45455"/>
            </a:avLst>
          </a:prstGeom>
          <a:solidFill>
            <a:schemeClr val="accent1"/>
          </a:solidFill>
          <a:ln/>
        </p:spPr>
        <p:txBody>
          <a:bodyPr wrap="square" lIns="0" tIns="0" rIns="0" bIns="0" rtlCol="0" anchor="ctr"/>
          <a:lstStyle/>
          <a:p>
            <a:pPr algn="ctr" indent="0" marL="0">
              <a:buNone/>
            </a:pPr>
            <a:r>
              <a:rPr lang="en-US" sz="1600" b="1" dirty="0">
                <a:solidFill>
                  <a:schemeClr val="bg1"/>
                </a:solidFill>
              </a:rPr>
              <a:t>9:40</a:t>
            </a:r>
            <a:endParaRPr lang="en-US" sz="1600" dirty="0"/>
          </a:p>
        </p:txBody>
      </p:sp>
      <p:sp>
        <p:nvSpPr>
          <p:cNvPr id="10" name="Text 8"/>
          <p:cNvSpPr txBox="1"/>
          <p:nvPr/>
        </p:nvSpPr>
        <p:spPr>
          <a:xfrm>
            <a:off x="1965960" y="2322576"/>
            <a:ext cx="4114800" cy="841248"/>
          </a:xfrm>
          <a:prstGeom prst="rect">
            <a:avLst/>
          </a:prstGeom>
          <a:noFill/>
          <a:ln/>
        </p:spPr>
        <p:txBody>
          <a:bodyPr wrap="square" lIns="0" tIns="0" rIns="0" bIns="0" rtlCol="0" anchor="ctr"/>
          <a:lstStyle/>
          <a:p>
            <a:pPr algn="l" indent="0" marL="0">
              <a:buNone/>
            </a:pPr>
            <a:r>
              <a:rPr lang="en-US" sz="1700" i="1" dirty="0">
                <a:solidFill>
                  <a:schemeClr val="tx1"/>
                </a:solidFill>
              </a:rPr>
              <a:t>“How is the TrendCart order doing?”</a:t>
            </a:r>
            <a:endParaRPr lang="en-US" sz="1700" dirty="0"/>
          </a:p>
        </p:txBody>
      </p:sp>
      <p:sp>
        <p:nvSpPr>
          <p:cNvPr id="11" name="Arrow"/>
          <p:cNvSpPr/>
          <p:nvPr/>
        </p:nvSpPr>
        <p:spPr>
          <a:xfrm>
            <a:off x="6263640" y="2596896"/>
            <a:ext cx="457200" cy="292608"/>
          </a:xfrm>
          <a:prstGeom prst="rightArrow">
            <a:avLst/>
          </a:prstGeom>
          <a:solidFill>
            <a:schemeClr val="accent2"/>
          </a:solidFill>
          <a:ln w="6350">
            <a:solidFill>
              <a:schemeClr val="accent2"/>
            </a:solidFill>
            <a:prstDash val="solid"/>
          </a:ln>
        </p:spPr>
      </p:sp>
      <p:sp>
        <p:nvSpPr>
          <p:cNvPr id="12" name="Text 10"/>
          <p:cNvSpPr txBox="1"/>
          <p:nvPr/>
        </p:nvSpPr>
        <p:spPr>
          <a:xfrm>
            <a:off x="6995160" y="2322576"/>
            <a:ext cx="4480560" cy="841248"/>
          </a:xfrm>
          <a:prstGeom prst="rect">
            <a:avLst/>
          </a:prstGeom>
          <a:noFill/>
          <a:ln/>
        </p:spPr>
        <p:txBody>
          <a:bodyPr wrap="square" lIns="0" tIns="0" rIns="0" bIns="0" rtlCol="0" anchor="ctr"/>
          <a:lstStyle/>
          <a:p>
            <a:pPr algn="l" indent="0" marL="0">
              <a:buNone/>
            </a:pPr>
            <a:r>
              <a:rPr lang="en-US" sz="1600" b="1" dirty="0">
                <a:solidFill>
                  <a:schemeClr val="tx1"/>
                </a:solidFill>
              </a:rPr>
              <a:t>Asks which one.</a:t>
            </a:r>
            <a:pPr algn="l" indent="0" marL="0">
              <a:buNone/>
            </a:pPr>
            <a:r>
              <a:rPr lang="en-US" sz="1600" dirty="0">
                <a:solidFill>
                  <a:schemeClr val="tx1"/>
                </a:solidFill>
              </a:rPr>
              <a:t> TrendCart has six orders; it does not guess</a:t>
            </a:r>
            <a:endParaRPr lang="en-US" sz="1600" dirty="0"/>
          </a:p>
        </p:txBody>
      </p:sp>
      <p:sp>
        <p:nvSpPr>
          <p:cNvPr id="13" name="Row 11:15"/>
          <p:cNvSpPr/>
          <p:nvPr/>
        </p:nvSpPr>
        <p:spPr>
          <a:xfrm>
            <a:off x="548640" y="3273552"/>
            <a:ext cx="11091672" cy="841248"/>
          </a:xfrm>
          <a:prstGeom prst="roundRect">
            <a:avLst>
              <a:gd name="adj" fmla="val 8696"/>
            </a:avLst>
          </a:prstGeom>
          <a:solidFill>
            <a:schemeClr val="bg2"/>
          </a:solidFill>
          <a:ln/>
        </p:spPr>
      </p:sp>
      <p:sp>
        <p:nvSpPr>
          <p:cNvPr id="14" name="Time 11:15"/>
          <p:cNvSpPr txBox="1"/>
          <p:nvPr/>
        </p:nvSpPr>
        <p:spPr>
          <a:xfrm>
            <a:off x="777240" y="3493008"/>
            <a:ext cx="960120" cy="402336"/>
          </a:xfrm>
          <a:prstGeom prst="roundRect">
            <a:avLst>
              <a:gd name="adj" fmla="val 45455"/>
            </a:avLst>
          </a:prstGeom>
          <a:solidFill>
            <a:schemeClr val="accent1"/>
          </a:solidFill>
          <a:ln/>
        </p:spPr>
        <p:txBody>
          <a:bodyPr wrap="square" lIns="0" tIns="0" rIns="0" bIns="0" rtlCol="0" anchor="ctr"/>
          <a:lstStyle/>
          <a:p>
            <a:pPr algn="ctr" indent="0" marL="0">
              <a:buNone/>
            </a:pPr>
            <a:r>
              <a:rPr lang="en-US" sz="1600" b="1" dirty="0">
                <a:solidFill>
                  <a:schemeClr val="bg1"/>
                </a:solidFill>
              </a:rPr>
              <a:t>11:15</a:t>
            </a:r>
            <a:endParaRPr lang="en-US" sz="1600" dirty="0"/>
          </a:p>
        </p:txBody>
      </p:sp>
      <p:sp>
        <p:nvSpPr>
          <p:cNvPr id="15" name="Text 13"/>
          <p:cNvSpPr txBox="1"/>
          <p:nvPr/>
        </p:nvSpPr>
        <p:spPr>
          <a:xfrm>
            <a:off x="1965960" y="3273552"/>
            <a:ext cx="4114800" cy="841248"/>
          </a:xfrm>
          <a:prstGeom prst="rect">
            <a:avLst/>
          </a:prstGeom>
          <a:noFill/>
          <a:ln/>
        </p:spPr>
        <p:txBody>
          <a:bodyPr wrap="square" lIns="0" tIns="0" rIns="0" bIns="0" rtlCol="0" anchor="ctr"/>
          <a:lstStyle/>
          <a:p>
            <a:pPr algn="l" indent="0" marL="0">
              <a:buNone/>
            </a:pPr>
            <a:r>
              <a:rPr lang="en-US" sz="1700" i="1" dirty="0">
                <a:solidFill>
                  <a:schemeClr val="tx1"/>
                </a:solidFill>
              </a:rPr>
              <a:t>“Can we take 800 hoodies by the 25th?”</a:t>
            </a:r>
            <a:endParaRPr lang="en-US" sz="1700" dirty="0"/>
          </a:p>
        </p:txBody>
      </p:sp>
      <p:sp>
        <p:nvSpPr>
          <p:cNvPr id="16" name="Arrow"/>
          <p:cNvSpPr/>
          <p:nvPr/>
        </p:nvSpPr>
        <p:spPr>
          <a:xfrm>
            <a:off x="6263640" y="3547872"/>
            <a:ext cx="457200" cy="292608"/>
          </a:xfrm>
          <a:prstGeom prst="rightArrow">
            <a:avLst/>
          </a:prstGeom>
          <a:solidFill>
            <a:schemeClr val="accent2"/>
          </a:solidFill>
          <a:ln w="6350">
            <a:solidFill>
              <a:schemeClr val="accent2"/>
            </a:solidFill>
            <a:prstDash val="solid"/>
          </a:ln>
        </p:spPr>
      </p:sp>
      <p:sp>
        <p:nvSpPr>
          <p:cNvPr id="17" name="Text 15"/>
          <p:cNvSpPr txBox="1"/>
          <p:nvPr/>
        </p:nvSpPr>
        <p:spPr>
          <a:xfrm>
            <a:off x="6995160" y="3273552"/>
            <a:ext cx="4480560" cy="841248"/>
          </a:xfrm>
          <a:prstGeom prst="rect">
            <a:avLst/>
          </a:prstGeom>
          <a:noFill/>
          <a:ln/>
        </p:spPr>
        <p:txBody>
          <a:bodyPr wrap="square" lIns="0" tIns="0" rIns="0" bIns="0" rtlCol="0" anchor="ctr"/>
          <a:lstStyle/>
          <a:p>
            <a:pPr algn="l" indent="0" marL="0">
              <a:buNone/>
            </a:pPr>
            <a:r>
              <a:rPr lang="en-US" sz="1600" b="1" dirty="0">
                <a:solidFill>
                  <a:schemeClr val="tx1"/>
                </a:solidFill>
              </a:rPr>
              <a:t>A date range with its assumptions,</a:t>
            </a:r>
            <a:pPr algn="l" indent="0" marL="0">
              <a:buNone/>
            </a:pPr>
            <a:r>
              <a:rPr lang="en-US" sz="1600" dirty="0">
                <a:solidFill>
                  <a:schemeClr val="tx1"/>
                </a:solidFill>
              </a:rPr>
              <a:t> never a plain yes</a:t>
            </a:r>
            <a:endParaRPr lang="en-US" sz="1600" dirty="0"/>
          </a:p>
        </p:txBody>
      </p:sp>
      <p:sp>
        <p:nvSpPr>
          <p:cNvPr id="18" name="Row 14:30"/>
          <p:cNvSpPr/>
          <p:nvPr/>
        </p:nvSpPr>
        <p:spPr>
          <a:xfrm>
            <a:off x="548640" y="4224528"/>
            <a:ext cx="11091672" cy="841248"/>
          </a:xfrm>
          <a:prstGeom prst="roundRect">
            <a:avLst>
              <a:gd name="adj" fmla="val 8696"/>
            </a:avLst>
          </a:prstGeom>
          <a:solidFill>
            <a:schemeClr val="bg2"/>
          </a:solidFill>
          <a:ln/>
        </p:spPr>
      </p:sp>
      <p:sp>
        <p:nvSpPr>
          <p:cNvPr id="19" name="Time 14:30"/>
          <p:cNvSpPr txBox="1"/>
          <p:nvPr/>
        </p:nvSpPr>
        <p:spPr>
          <a:xfrm>
            <a:off x="777240" y="4443984"/>
            <a:ext cx="960120" cy="402336"/>
          </a:xfrm>
          <a:prstGeom prst="roundRect">
            <a:avLst>
              <a:gd name="adj" fmla="val 45455"/>
            </a:avLst>
          </a:prstGeom>
          <a:solidFill>
            <a:schemeClr val="accent1"/>
          </a:solidFill>
          <a:ln/>
        </p:spPr>
        <p:txBody>
          <a:bodyPr wrap="square" lIns="0" tIns="0" rIns="0" bIns="0" rtlCol="0" anchor="ctr"/>
          <a:lstStyle/>
          <a:p>
            <a:pPr algn="ctr" indent="0" marL="0">
              <a:buNone/>
            </a:pPr>
            <a:r>
              <a:rPr lang="en-US" sz="1600" b="1" dirty="0">
                <a:solidFill>
                  <a:schemeClr val="bg1"/>
                </a:solidFill>
              </a:rPr>
              <a:t>14:30</a:t>
            </a:r>
            <a:endParaRPr lang="en-US" sz="1600" dirty="0"/>
          </a:p>
        </p:txBody>
      </p:sp>
      <p:sp>
        <p:nvSpPr>
          <p:cNvPr id="20" name="Text 18"/>
          <p:cNvSpPr txBox="1"/>
          <p:nvPr/>
        </p:nvSpPr>
        <p:spPr>
          <a:xfrm>
            <a:off x="1965960" y="4224528"/>
            <a:ext cx="4114800" cy="841248"/>
          </a:xfrm>
          <a:prstGeom prst="rect">
            <a:avLst/>
          </a:prstGeom>
          <a:noFill/>
          <a:ln/>
        </p:spPr>
        <p:txBody>
          <a:bodyPr wrap="square" lIns="0" tIns="0" rIns="0" bIns="0" rtlCol="0" anchor="ctr"/>
          <a:lstStyle/>
          <a:p>
            <a:pPr algn="l" indent="0" marL="0">
              <a:buNone/>
            </a:pPr>
            <a:r>
              <a:rPr lang="en-US" sz="1700" i="1" dirty="0">
                <a:solidFill>
                  <a:schemeClr val="tx1"/>
                </a:solidFill>
              </a:rPr>
              <a:t>“That order hasn't moved in a week.</a:t>
            </a:r>
            <a:endParaRPr lang="en-US" sz="1700" dirty="0"/>
          </a:p>
          <a:p>
            <a:pPr algn="l" indent="0" marL="0">
              <a:buNone/>
            </a:pPr>
            <a:r>
              <a:rPr lang="en-US" sz="1700" i="1" dirty="0">
                <a:solidFill>
                  <a:schemeClr val="tx1"/>
                </a:solidFill>
              </a:rPr>
              <a:t>Chase it up.”</a:t>
            </a:r>
            <a:endParaRPr lang="en-US" sz="1700" dirty="0"/>
          </a:p>
        </p:txBody>
      </p:sp>
      <p:sp>
        <p:nvSpPr>
          <p:cNvPr id="21" name="Arrow"/>
          <p:cNvSpPr/>
          <p:nvPr/>
        </p:nvSpPr>
        <p:spPr>
          <a:xfrm>
            <a:off x="6263640" y="4498848"/>
            <a:ext cx="457200" cy="292608"/>
          </a:xfrm>
          <a:prstGeom prst="rightArrow">
            <a:avLst/>
          </a:prstGeom>
          <a:solidFill>
            <a:schemeClr val="accent2"/>
          </a:solidFill>
          <a:ln w="6350">
            <a:solidFill>
              <a:schemeClr val="accent2"/>
            </a:solidFill>
            <a:prstDash val="solid"/>
          </a:ln>
        </p:spPr>
      </p:sp>
      <p:sp>
        <p:nvSpPr>
          <p:cNvPr id="22" name="Text 20"/>
          <p:cNvSpPr txBox="1"/>
          <p:nvPr/>
        </p:nvSpPr>
        <p:spPr>
          <a:xfrm>
            <a:off x="6995160" y="4224528"/>
            <a:ext cx="4480560" cy="841248"/>
          </a:xfrm>
          <a:prstGeom prst="rect">
            <a:avLst/>
          </a:prstGeom>
          <a:noFill/>
          <a:ln/>
        </p:spPr>
        <p:txBody>
          <a:bodyPr wrap="square" lIns="0" tIns="0" rIns="0" bIns="0" rtlCol="0" anchor="ctr"/>
          <a:lstStyle/>
          <a:p>
            <a:pPr algn="l" indent="0" marL="0">
              <a:buNone/>
            </a:pPr>
            <a:r>
              <a:rPr lang="en-US" sz="1600" b="1" dirty="0">
                <a:solidFill>
                  <a:schemeClr val="tx1"/>
                </a:solidFill>
              </a:rPr>
              <a:t>Drafts the chase-up;</a:t>
            </a:r>
            <a:pPr algn="l" indent="0" marL="0">
              <a:buNone/>
            </a:pPr>
            <a:r>
              <a:rPr lang="en-US" sz="1600" dirty="0">
                <a:solidFill>
                  <a:schemeClr val="tx1"/>
                </a:solidFill>
              </a:rPr>
              <a:t> sends only after you confirm, then logs it</a:t>
            </a:r>
            <a:endParaRPr lang="en-US" sz="1600" dirty="0"/>
          </a:p>
        </p:txBody>
      </p:sp>
      <p:sp>
        <p:nvSpPr>
          <p:cNvPr id="23" name="Row 17:00"/>
          <p:cNvSpPr/>
          <p:nvPr/>
        </p:nvSpPr>
        <p:spPr>
          <a:xfrm>
            <a:off x="548640" y="5175504"/>
            <a:ext cx="11091672" cy="841248"/>
          </a:xfrm>
          <a:prstGeom prst="roundRect">
            <a:avLst>
              <a:gd name="adj" fmla="val 8696"/>
            </a:avLst>
          </a:prstGeom>
          <a:solidFill>
            <a:schemeClr val="bg2"/>
          </a:solidFill>
          <a:ln/>
        </p:spPr>
      </p:sp>
      <p:sp>
        <p:nvSpPr>
          <p:cNvPr id="24" name="Time 17:00"/>
          <p:cNvSpPr txBox="1"/>
          <p:nvPr/>
        </p:nvSpPr>
        <p:spPr>
          <a:xfrm>
            <a:off x="777240" y="5394960"/>
            <a:ext cx="960120" cy="402336"/>
          </a:xfrm>
          <a:prstGeom prst="roundRect">
            <a:avLst>
              <a:gd name="adj" fmla="val 45455"/>
            </a:avLst>
          </a:prstGeom>
          <a:solidFill>
            <a:schemeClr val="accent1"/>
          </a:solidFill>
          <a:ln/>
        </p:spPr>
        <p:txBody>
          <a:bodyPr wrap="square" lIns="0" tIns="0" rIns="0" bIns="0" rtlCol="0" anchor="ctr"/>
          <a:lstStyle/>
          <a:p>
            <a:pPr algn="ctr" indent="0" marL="0">
              <a:buNone/>
            </a:pPr>
            <a:r>
              <a:rPr lang="en-US" sz="1600" b="1" dirty="0">
                <a:solidFill>
                  <a:schemeClr val="bg1"/>
                </a:solidFill>
              </a:rPr>
              <a:t>17:00</a:t>
            </a:r>
            <a:endParaRPr lang="en-US" sz="1600" dirty="0"/>
          </a:p>
        </p:txBody>
      </p:sp>
      <p:sp>
        <p:nvSpPr>
          <p:cNvPr id="25" name="Text 23"/>
          <p:cNvSpPr txBox="1"/>
          <p:nvPr/>
        </p:nvSpPr>
        <p:spPr>
          <a:xfrm>
            <a:off x="1965960" y="5175504"/>
            <a:ext cx="4114800" cy="841248"/>
          </a:xfrm>
          <a:prstGeom prst="rect">
            <a:avLst/>
          </a:prstGeom>
          <a:noFill/>
          <a:ln/>
        </p:spPr>
        <p:txBody>
          <a:bodyPr wrap="square" lIns="0" tIns="0" rIns="0" bIns="0" rtlCol="0" anchor="ctr"/>
          <a:lstStyle/>
          <a:p>
            <a:pPr algn="l" indent="0" marL="0">
              <a:buNone/>
            </a:pPr>
            <a:r>
              <a:rPr lang="en-US" sz="1700" i="1" dirty="0">
                <a:solidFill>
                  <a:schemeClr val="tx1"/>
                </a:solidFill>
              </a:rPr>
              <a:t>“Remind me tomorrow if</a:t>
            </a:r>
            <a:endParaRPr lang="en-US" sz="1700" dirty="0"/>
          </a:p>
          <a:p>
            <a:pPr algn="l" indent="0" marL="0">
              <a:buNone/>
            </a:pPr>
            <a:r>
              <a:rPr lang="en-US" sz="1700" i="1" dirty="0">
                <a:solidFill>
                  <a:schemeClr val="tx1"/>
                </a:solidFill>
              </a:rPr>
              <a:t>packing is still behind.”</a:t>
            </a:r>
            <a:endParaRPr lang="en-US" sz="1700" dirty="0"/>
          </a:p>
        </p:txBody>
      </p:sp>
      <p:sp>
        <p:nvSpPr>
          <p:cNvPr id="26" name="Arrow"/>
          <p:cNvSpPr/>
          <p:nvPr/>
        </p:nvSpPr>
        <p:spPr>
          <a:xfrm>
            <a:off x="6263640" y="5449824"/>
            <a:ext cx="457200" cy="292608"/>
          </a:xfrm>
          <a:prstGeom prst="rightArrow">
            <a:avLst/>
          </a:prstGeom>
          <a:solidFill>
            <a:schemeClr val="accent2"/>
          </a:solidFill>
          <a:ln w="6350">
            <a:solidFill>
              <a:schemeClr val="accent2"/>
            </a:solidFill>
            <a:prstDash val="solid"/>
          </a:ln>
        </p:spPr>
      </p:sp>
      <p:sp>
        <p:nvSpPr>
          <p:cNvPr id="27" name="Text 25"/>
          <p:cNvSpPr txBox="1"/>
          <p:nvPr/>
        </p:nvSpPr>
        <p:spPr>
          <a:xfrm>
            <a:off x="6995160" y="5175504"/>
            <a:ext cx="4480560" cy="841248"/>
          </a:xfrm>
          <a:prstGeom prst="rect">
            <a:avLst/>
          </a:prstGeom>
          <a:noFill/>
          <a:ln/>
        </p:spPr>
        <p:txBody>
          <a:bodyPr wrap="square" lIns="0" tIns="0" rIns="0" bIns="0" rtlCol="0" anchor="ctr"/>
          <a:lstStyle/>
          <a:p>
            <a:pPr algn="l" indent="0" marL="0">
              <a:buNone/>
            </a:pPr>
            <a:r>
              <a:rPr lang="en-US" sz="1600" b="1" dirty="0">
                <a:solidFill>
                  <a:schemeClr val="tx1"/>
                </a:solidFill>
              </a:rPr>
              <a:t>A standing watch</a:t>
            </a:r>
            <a:pPr algn="l" indent="0" marL="0">
              <a:buNone/>
            </a:pPr>
            <a:r>
              <a:rPr lang="en-US" sz="1600" dirty="0">
                <a:solidFill>
                  <a:schemeClr val="tx1"/>
                </a:solidFill>
              </a:rPr>
              <a:t> that checks the data and alerts on its own</a:t>
            </a:r>
            <a:endParaRPr lang="en-US" sz="16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400" b="1" dirty="0">
                <a:solidFill>
                  <a:schemeClr val="tx2"/>
                </a:solidFill>
              </a:rPr>
              <a:t>A designed tool set, not a chat window</a:t>
            </a:r>
            <a:endParaRPr lang="en-US" sz="3400" dirty="0"/>
          </a:p>
        </p:txBody>
      </p:sp>
      <p:sp>
        <p:nvSpPr>
          <p:cNvPr id="3" name="Text 1"/>
          <p:cNvSpPr txBox="1"/>
          <p:nvPr/>
        </p:nvSpPr>
        <p:spPr>
          <a:xfrm>
            <a:off x="1280160" y="1298448"/>
            <a:ext cx="3657600" cy="274320"/>
          </a:xfrm>
          <a:prstGeom prst="rect">
            <a:avLst/>
          </a:prstGeom>
          <a:noFill/>
          <a:ln/>
        </p:spPr>
        <p:txBody>
          <a:bodyPr wrap="square" lIns="0" tIns="0" rIns="0" bIns="0" rtlCol="0" anchor="ctr"/>
          <a:lstStyle/>
          <a:p>
            <a:pPr algn="l" indent="0" marL="0">
              <a:buNone/>
            </a:pPr>
            <a:r>
              <a:rPr lang="en-US" sz="1200" b="1" spc="100" kern="0" dirty="0">
                <a:solidFill>
                  <a:schemeClr val="accent5"/>
                </a:solidFill>
              </a:rPr>
              <a:t>TOOL KIND</a:t>
            </a:r>
            <a:endParaRPr lang="en-US" sz="1200" dirty="0"/>
          </a:p>
        </p:txBody>
      </p:sp>
      <p:sp>
        <p:nvSpPr>
          <p:cNvPr id="4" name="Text 2"/>
          <p:cNvSpPr txBox="1"/>
          <p:nvPr/>
        </p:nvSpPr>
        <p:spPr>
          <a:xfrm>
            <a:off x="3017520" y="1298448"/>
            <a:ext cx="3657600" cy="274320"/>
          </a:xfrm>
          <a:prstGeom prst="rect">
            <a:avLst/>
          </a:prstGeom>
          <a:noFill/>
          <a:ln/>
        </p:spPr>
        <p:txBody>
          <a:bodyPr wrap="square" lIns="0" tIns="0" rIns="0" bIns="0" rtlCol="0" anchor="ctr"/>
          <a:lstStyle/>
          <a:p>
            <a:pPr algn="l" indent="0" marL="0">
              <a:buNone/>
            </a:pPr>
            <a:r>
              <a:rPr lang="en-US" sz="1200" b="1" spc="100" kern="0" dirty="0">
                <a:solidFill>
                  <a:schemeClr val="accent5"/>
                </a:solidFill>
              </a:rPr>
              <a:t>WHAT OURS DOES</a:t>
            </a:r>
            <a:endParaRPr lang="en-US" sz="1200" dirty="0"/>
          </a:p>
        </p:txBody>
      </p:sp>
      <p:sp>
        <p:nvSpPr>
          <p:cNvPr id="5" name="Text 3"/>
          <p:cNvSpPr txBox="1"/>
          <p:nvPr/>
        </p:nvSpPr>
        <p:spPr>
          <a:xfrm>
            <a:off x="8412480" y="1298448"/>
            <a:ext cx="3657600" cy="274320"/>
          </a:xfrm>
          <a:prstGeom prst="rect">
            <a:avLst/>
          </a:prstGeom>
          <a:noFill/>
          <a:ln/>
        </p:spPr>
        <p:txBody>
          <a:bodyPr wrap="square" lIns="0" tIns="0" rIns="0" bIns="0" rtlCol="0" anchor="ctr"/>
          <a:lstStyle/>
          <a:p>
            <a:pPr algn="l" indent="0" marL="0">
              <a:buNone/>
            </a:pPr>
            <a:r>
              <a:rPr lang="en-US" sz="1200" b="1" spc="100" kern="0" dirty="0">
                <a:solidFill>
                  <a:schemeClr val="accent5"/>
                </a:solidFill>
              </a:rPr>
              <a:t>DELIBERATELY DOES NOT</a:t>
            </a:r>
            <a:endParaRPr lang="en-US" sz="1200" dirty="0"/>
          </a:p>
        </p:txBody>
      </p:sp>
      <p:sp>
        <p:nvSpPr>
          <p:cNvPr id="6" name="Row Retrieval"/>
          <p:cNvSpPr/>
          <p:nvPr/>
        </p:nvSpPr>
        <p:spPr>
          <a:xfrm>
            <a:off x="548640" y="1645920"/>
            <a:ext cx="11091672" cy="713232"/>
          </a:xfrm>
          <a:prstGeom prst="roundRect">
            <a:avLst>
              <a:gd name="adj" fmla="val 10256"/>
            </a:avLst>
          </a:prstGeom>
          <a:solidFill>
            <a:schemeClr val="bg2"/>
          </a:solidFill>
          <a:ln/>
        </p:spPr>
      </p:sp>
      <p:sp>
        <p:nvSpPr>
          <p:cNvPr id="7" name="Icon disc Retrieval"/>
          <p:cNvSpPr/>
          <p:nvPr/>
        </p:nvSpPr>
        <p:spPr>
          <a:xfrm>
            <a:off x="713232" y="1773936"/>
            <a:ext cx="457200" cy="457200"/>
          </a:xfrm>
          <a:prstGeom prst="ellipse">
            <a:avLst/>
          </a:prstGeom>
          <a:solidFill>
            <a:schemeClr val="accent1"/>
          </a:solidFill>
          <a:ln w="6350">
            <a:solidFill>
              <a:schemeClr val="accent1"/>
            </a:solidFill>
            <a:prstDash val="solid"/>
          </a:ln>
        </p:spPr>
      </p:sp>
      <p:pic>
        <p:nvPicPr>
          <p:cNvPr id="8" name="Image 0" descr="Retrieval icon">    </p:cNvPr>
          <p:cNvPicPr>
            <a:picLocks noChangeAspect="1"/>
          </p:cNvPicPr>
          <p:nvPr/>
        </p:nvPicPr>
        <p:blipFill>
          <a:blip r:embed="rId1"/>
          <a:stretch>
            <a:fillRect/>
          </a:stretch>
        </p:blipFill>
        <p:spPr>
          <a:xfrm>
            <a:off x="822960" y="1883664"/>
            <a:ext cx="237744" cy="237744"/>
          </a:xfrm>
          <a:prstGeom prst="rect">
            <a:avLst/>
          </a:prstGeom>
        </p:spPr>
      </p:pic>
      <p:sp>
        <p:nvSpPr>
          <p:cNvPr id="9" name="Text 6"/>
          <p:cNvSpPr txBox="1"/>
          <p:nvPr/>
        </p:nvSpPr>
        <p:spPr>
          <a:xfrm>
            <a:off x="1280160" y="1645920"/>
            <a:ext cx="1645920" cy="713232"/>
          </a:xfrm>
          <a:prstGeom prst="rect">
            <a:avLst/>
          </a:prstGeom>
          <a:noFill/>
          <a:ln/>
        </p:spPr>
        <p:txBody>
          <a:bodyPr wrap="square" lIns="0" tIns="0" rIns="0" bIns="0" rtlCol="0" anchor="ctr"/>
          <a:lstStyle/>
          <a:p>
            <a:pPr algn="l" indent="0" marL="0">
              <a:buNone/>
            </a:pPr>
            <a:r>
              <a:rPr lang="en-US" sz="1800" b="1" dirty="0">
                <a:solidFill>
                  <a:schemeClr val="tx2"/>
                </a:solidFill>
              </a:rPr>
              <a:t>Retrieval</a:t>
            </a:r>
            <a:endParaRPr lang="en-US" sz="1800" dirty="0"/>
          </a:p>
        </p:txBody>
      </p:sp>
      <p:sp>
        <p:nvSpPr>
          <p:cNvPr id="10" name="Text 7"/>
          <p:cNvSpPr txBox="1"/>
          <p:nvPr/>
        </p:nvSpPr>
        <p:spPr>
          <a:xfrm>
            <a:off x="3017520" y="1645920"/>
            <a:ext cx="5212080" cy="713232"/>
          </a:xfrm>
          <a:prstGeom prst="rect">
            <a:avLst/>
          </a:prstGeom>
          <a:noFill/>
          <a:ln/>
        </p:spPr>
        <p:txBody>
          <a:bodyPr wrap="square" lIns="0" tIns="0" rIns="0" bIns="0" rtlCol="0" anchor="ctr"/>
          <a:lstStyle/>
          <a:p>
            <a:pPr algn="l" indent="0" marL="0">
              <a:buNone/>
            </a:pPr>
            <a:r>
              <a:rPr lang="en-US" sz="1400" dirty="0">
                <a:solidFill>
                  <a:schemeClr val="tx1"/>
                </a:solidFill>
              </a:rPr>
              <a:t>Typed order look-ups, plus a read-only SQL agent (SELECT only) for everything else</a:t>
            </a:r>
            <a:endParaRPr lang="en-US" sz="1400" dirty="0"/>
          </a:p>
        </p:txBody>
      </p:sp>
      <p:sp>
        <p:nvSpPr>
          <p:cNvPr id="11" name="Text 8"/>
          <p:cNvSpPr txBox="1"/>
          <p:nvPr/>
        </p:nvSpPr>
        <p:spPr>
          <a:xfrm>
            <a:off x="8412480" y="1645920"/>
            <a:ext cx="3108960" cy="713232"/>
          </a:xfrm>
          <a:prstGeom prst="rect">
            <a:avLst/>
          </a:prstGeom>
          <a:noFill/>
          <a:ln/>
        </p:spPr>
        <p:txBody>
          <a:bodyPr wrap="square" lIns="0" tIns="0" rIns="0" bIns="0" rtlCol="0" anchor="ctr"/>
          <a:lstStyle/>
          <a:p>
            <a:pPr algn="l" indent="0" marL="0">
              <a:buNone/>
            </a:pPr>
            <a:r>
              <a:rPr lang="en-US" sz="1400" dirty="0">
                <a:solidFill>
                  <a:schemeClr val="tx1"/>
                </a:solidFill>
              </a:rPr>
              <a:t>Pick the first match when several fit</a:t>
            </a:r>
            <a:endParaRPr lang="en-US" sz="1400" dirty="0"/>
          </a:p>
        </p:txBody>
      </p:sp>
      <p:sp>
        <p:nvSpPr>
          <p:cNvPr id="12" name="Row Judgement"/>
          <p:cNvSpPr/>
          <p:nvPr/>
        </p:nvSpPr>
        <p:spPr>
          <a:xfrm>
            <a:off x="548640" y="2432304"/>
            <a:ext cx="11091672" cy="713232"/>
          </a:xfrm>
          <a:prstGeom prst="roundRect">
            <a:avLst>
              <a:gd name="adj" fmla="val 10256"/>
            </a:avLst>
          </a:prstGeom>
          <a:solidFill>
            <a:schemeClr val="bg2"/>
          </a:solidFill>
          <a:ln/>
        </p:spPr>
      </p:sp>
      <p:sp>
        <p:nvSpPr>
          <p:cNvPr id="13" name="Icon disc Judgement"/>
          <p:cNvSpPr/>
          <p:nvPr/>
        </p:nvSpPr>
        <p:spPr>
          <a:xfrm>
            <a:off x="713232" y="2560320"/>
            <a:ext cx="457200" cy="457200"/>
          </a:xfrm>
          <a:prstGeom prst="ellipse">
            <a:avLst/>
          </a:prstGeom>
          <a:solidFill>
            <a:schemeClr val="accent1"/>
          </a:solidFill>
          <a:ln w="6350">
            <a:solidFill>
              <a:schemeClr val="accent1"/>
            </a:solidFill>
            <a:prstDash val="solid"/>
          </a:ln>
        </p:spPr>
      </p:sp>
      <p:pic>
        <p:nvPicPr>
          <p:cNvPr id="14" name="Image 1" descr="Judgement icon">    </p:cNvPr>
          <p:cNvPicPr>
            <a:picLocks noChangeAspect="1"/>
          </p:cNvPicPr>
          <p:nvPr/>
        </p:nvPicPr>
        <p:blipFill>
          <a:blip r:embed="rId2"/>
          <a:stretch>
            <a:fillRect/>
          </a:stretch>
        </p:blipFill>
        <p:spPr>
          <a:xfrm>
            <a:off x="822960" y="2670048"/>
            <a:ext cx="237744" cy="237744"/>
          </a:xfrm>
          <a:prstGeom prst="rect">
            <a:avLst/>
          </a:prstGeom>
        </p:spPr>
      </p:pic>
      <p:sp>
        <p:nvSpPr>
          <p:cNvPr id="15" name="Text 11"/>
          <p:cNvSpPr txBox="1"/>
          <p:nvPr/>
        </p:nvSpPr>
        <p:spPr>
          <a:xfrm>
            <a:off x="1280160" y="2432304"/>
            <a:ext cx="1645920" cy="713232"/>
          </a:xfrm>
          <a:prstGeom prst="rect">
            <a:avLst/>
          </a:prstGeom>
          <a:noFill/>
          <a:ln/>
        </p:spPr>
        <p:txBody>
          <a:bodyPr wrap="square" lIns="0" tIns="0" rIns="0" bIns="0" rtlCol="0" anchor="ctr"/>
          <a:lstStyle/>
          <a:p>
            <a:pPr algn="l" indent="0" marL="0">
              <a:buNone/>
            </a:pPr>
            <a:r>
              <a:rPr lang="en-US" sz="1800" b="1" dirty="0">
                <a:solidFill>
                  <a:schemeClr val="tx2"/>
                </a:solidFill>
              </a:rPr>
              <a:t>Judgement</a:t>
            </a:r>
            <a:endParaRPr lang="en-US" sz="1800" dirty="0"/>
          </a:p>
        </p:txBody>
      </p:sp>
      <p:sp>
        <p:nvSpPr>
          <p:cNvPr id="16" name="Text 12"/>
          <p:cNvSpPr txBox="1"/>
          <p:nvPr/>
        </p:nvSpPr>
        <p:spPr>
          <a:xfrm>
            <a:off x="3017520" y="2432304"/>
            <a:ext cx="5212080" cy="713232"/>
          </a:xfrm>
          <a:prstGeom prst="rect">
            <a:avLst/>
          </a:prstGeom>
          <a:noFill/>
          <a:ln/>
        </p:spPr>
        <p:txBody>
          <a:bodyPr wrap="square" lIns="0" tIns="0" rIns="0" bIns="0" rtlCol="0" anchor="ctr"/>
          <a:lstStyle/>
          <a:p>
            <a:pPr algn="l" indent="0" marL="0">
              <a:buNone/>
            </a:pPr>
            <a:r>
              <a:rPr lang="en-US" sz="1400" dirty="0">
                <a:solidFill>
                  <a:schemeClr val="tx1"/>
                </a:solidFill>
              </a:rPr>
              <a:t>“Normal” = mean of the previous 8 same weekdays ± the larger of 1.5 SD or 5%; Sundays closed</a:t>
            </a:r>
            <a:endParaRPr lang="en-US" sz="1400" dirty="0"/>
          </a:p>
        </p:txBody>
      </p:sp>
      <p:sp>
        <p:nvSpPr>
          <p:cNvPr id="17" name="Text 13"/>
          <p:cNvSpPr txBox="1"/>
          <p:nvPr/>
        </p:nvSpPr>
        <p:spPr>
          <a:xfrm>
            <a:off x="8412480" y="2432304"/>
            <a:ext cx="3108960" cy="713232"/>
          </a:xfrm>
          <a:prstGeom prst="rect">
            <a:avLst/>
          </a:prstGeom>
          <a:noFill/>
          <a:ln/>
        </p:spPr>
        <p:txBody>
          <a:bodyPr wrap="square" lIns="0" tIns="0" rIns="0" bIns="0" rtlCol="0" anchor="ctr"/>
          <a:lstStyle/>
          <a:p>
            <a:pPr algn="l" indent="0" marL="0">
              <a:buNone/>
            </a:pPr>
            <a:r>
              <a:rPr lang="en-US" sz="1400" dirty="0">
                <a:solidFill>
                  <a:schemeClr val="tx1"/>
                </a:solidFill>
              </a:rPr>
              <a:t>Treat one low day as proof of a fault</a:t>
            </a:r>
            <a:endParaRPr lang="en-US" sz="1400" dirty="0"/>
          </a:p>
        </p:txBody>
      </p:sp>
      <p:sp>
        <p:nvSpPr>
          <p:cNvPr id="18" name="Row Tracing"/>
          <p:cNvSpPr/>
          <p:nvPr/>
        </p:nvSpPr>
        <p:spPr>
          <a:xfrm>
            <a:off x="548640" y="3218688"/>
            <a:ext cx="11091672" cy="713232"/>
          </a:xfrm>
          <a:prstGeom prst="roundRect">
            <a:avLst>
              <a:gd name="adj" fmla="val 10256"/>
            </a:avLst>
          </a:prstGeom>
          <a:solidFill>
            <a:schemeClr val="bg2"/>
          </a:solidFill>
          <a:ln/>
        </p:spPr>
      </p:sp>
      <p:sp>
        <p:nvSpPr>
          <p:cNvPr id="19" name="Icon disc Tracing"/>
          <p:cNvSpPr/>
          <p:nvPr/>
        </p:nvSpPr>
        <p:spPr>
          <a:xfrm>
            <a:off x="713232" y="3346704"/>
            <a:ext cx="457200" cy="457200"/>
          </a:xfrm>
          <a:prstGeom prst="ellipse">
            <a:avLst/>
          </a:prstGeom>
          <a:solidFill>
            <a:schemeClr val="accent1"/>
          </a:solidFill>
          <a:ln w="6350">
            <a:solidFill>
              <a:schemeClr val="accent1"/>
            </a:solidFill>
            <a:prstDash val="solid"/>
          </a:ln>
        </p:spPr>
      </p:sp>
      <p:pic>
        <p:nvPicPr>
          <p:cNvPr id="20" name="Image 2" descr="Tracing icon">    </p:cNvPr>
          <p:cNvPicPr>
            <a:picLocks noChangeAspect="1"/>
          </p:cNvPicPr>
          <p:nvPr/>
        </p:nvPicPr>
        <p:blipFill>
          <a:blip r:embed="rId3"/>
          <a:stretch>
            <a:fillRect/>
          </a:stretch>
        </p:blipFill>
        <p:spPr>
          <a:xfrm>
            <a:off x="822960" y="3456432"/>
            <a:ext cx="237744" cy="237744"/>
          </a:xfrm>
          <a:prstGeom prst="rect">
            <a:avLst/>
          </a:prstGeom>
        </p:spPr>
      </p:pic>
      <p:sp>
        <p:nvSpPr>
          <p:cNvPr id="21" name="Text 16"/>
          <p:cNvSpPr txBox="1"/>
          <p:nvPr/>
        </p:nvSpPr>
        <p:spPr>
          <a:xfrm>
            <a:off x="1280160" y="3218688"/>
            <a:ext cx="1645920" cy="713232"/>
          </a:xfrm>
          <a:prstGeom prst="rect">
            <a:avLst/>
          </a:prstGeom>
          <a:noFill/>
          <a:ln/>
        </p:spPr>
        <p:txBody>
          <a:bodyPr wrap="square" lIns="0" tIns="0" rIns="0" bIns="0" rtlCol="0" anchor="ctr"/>
          <a:lstStyle/>
          <a:p>
            <a:pPr algn="l" indent="0" marL="0">
              <a:buNone/>
            </a:pPr>
            <a:r>
              <a:rPr lang="en-US" sz="1800" b="1" dirty="0">
                <a:solidFill>
                  <a:schemeClr val="tx2"/>
                </a:solidFill>
              </a:rPr>
              <a:t>Tracing</a:t>
            </a:r>
            <a:endParaRPr lang="en-US" sz="1800" dirty="0"/>
          </a:p>
        </p:txBody>
      </p:sp>
      <p:sp>
        <p:nvSpPr>
          <p:cNvPr id="22" name="Text 17"/>
          <p:cNvSpPr txBox="1"/>
          <p:nvPr/>
        </p:nvSpPr>
        <p:spPr>
          <a:xfrm>
            <a:off x="3017520" y="3218688"/>
            <a:ext cx="5212080" cy="713232"/>
          </a:xfrm>
          <a:prstGeom prst="rect">
            <a:avLst/>
          </a:prstGeom>
          <a:noFill/>
          <a:ln/>
        </p:spPr>
        <p:txBody>
          <a:bodyPr wrap="square" lIns="0" tIns="0" rIns="0" bIns="0" rtlCol="0" anchor="ctr"/>
          <a:lstStyle/>
          <a:p>
            <a:pPr algn="l" indent="0" marL="0">
              <a:buNone/>
            </a:pPr>
            <a:r>
              <a:rPr lang="en-US" sz="1400" dirty="0">
                <a:solidFill>
                  <a:schemeClr val="tx1"/>
                </a:solidFill>
              </a:rPr>
              <a:t>Every number links to the source file and row behind it</a:t>
            </a:r>
            <a:endParaRPr lang="en-US" sz="1400" dirty="0"/>
          </a:p>
        </p:txBody>
      </p:sp>
      <p:sp>
        <p:nvSpPr>
          <p:cNvPr id="23" name="Text 18"/>
          <p:cNvSpPr txBox="1"/>
          <p:nvPr/>
        </p:nvSpPr>
        <p:spPr>
          <a:xfrm>
            <a:off x="8412480" y="3218688"/>
            <a:ext cx="3108960" cy="713232"/>
          </a:xfrm>
          <a:prstGeom prst="rect">
            <a:avLst/>
          </a:prstGeom>
          <a:noFill/>
          <a:ln/>
        </p:spPr>
        <p:txBody>
          <a:bodyPr wrap="square" lIns="0" tIns="0" rIns="0" bIns="0" rtlCol="0" anchor="ctr"/>
          <a:lstStyle/>
          <a:p>
            <a:pPr algn="l" indent="0" marL="0">
              <a:buNone/>
            </a:pPr>
            <a:r>
              <a:rPr lang="en-US" sz="1400" dirty="0">
                <a:solidFill>
                  <a:schemeClr val="tx1"/>
                </a:solidFill>
              </a:rPr>
              <a:t>Explain causes the data does not hold</a:t>
            </a:r>
            <a:endParaRPr lang="en-US" sz="1400" dirty="0"/>
          </a:p>
        </p:txBody>
      </p:sp>
      <p:sp>
        <p:nvSpPr>
          <p:cNvPr id="24" name="Row Discovery"/>
          <p:cNvSpPr/>
          <p:nvPr/>
        </p:nvSpPr>
        <p:spPr>
          <a:xfrm>
            <a:off x="548640" y="4005072"/>
            <a:ext cx="11091672" cy="713232"/>
          </a:xfrm>
          <a:prstGeom prst="roundRect">
            <a:avLst>
              <a:gd name="adj" fmla="val 10256"/>
            </a:avLst>
          </a:prstGeom>
          <a:solidFill>
            <a:schemeClr val="bg2"/>
          </a:solidFill>
          <a:ln/>
        </p:spPr>
      </p:sp>
      <p:sp>
        <p:nvSpPr>
          <p:cNvPr id="25" name="Icon disc Discovery"/>
          <p:cNvSpPr/>
          <p:nvPr/>
        </p:nvSpPr>
        <p:spPr>
          <a:xfrm>
            <a:off x="713232" y="4133088"/>
            <a:ext cx="457200" cy="457200"/>
          </a:xfrm>
          <a:prstGeom prst="ellipse">
            <a:avLst/>
          </a:prstGeom>
          <a:solidFill>
            <a:schemeClr val="accent1"/>
          </a:solidFill>
          <a:ln w="6350">
            <a:solidFill>
              <a:schemeClr val="accent1"/>
            </a:solidFill>
            <a:prstDash val="solid"/>
          </a:ln>
        </p:spPr>
      </p:sp>
      <p:pic>
        <p:nvPicPr>
          <p:cNvPr id="26" name="Image 3" descr="Discovery icon">    </p:cNvPr>
          <p:cNvPicPr>
            <a:picLocks noChangeAspect="1"/>
          </p:cNvPicPr>
          <p:nvPr/>
        </p:nvPicPr>
        <p:blipFill>
          <a:blip r:embed="rId4"/>
          <a:stretch>
            <a:fillRect/>
          </a:stretch>
        </p:blipFill>
        <p:spPr>
          <a:xfrm>
            <a:off x="822960" y="4242816"/>
            <a:ext cx="237744" cy="237744"/>
          </a:xfrm>
          <a:prstGeom prst="rect">
            <a:avLst/>
          </a:prstGeom>
        </p:spPr>
      </p:pic>
      <p:sp>
        <p:nvSpPr>
          <p:cNvPr id="27" name="Text 21"/>
          <p:cNvSpPr txBox="1"/>
          <p:nvPr/>
        </p:nvSpPr>
        <p:spPr>
          <a:xfrm>
            <a:off x="1280160" y="4005072"/>
            <a:ext cx="1645920" cy="713232"/>
          </a:xfrm>
          <a:prstGeom prst="rect">
            <a:avLst/>
          </a:prstGeom>
          <a:noFill/>
          <a:ln/>
        </p:spPr>
        <p:txBody>
          <a:bodyPr wrap="square" lIns="0" tIns="0" rIns="0" bIns="0" rtlCol="0" anchor="ctr"/>
          <a:lstStyle/>
          <a:p>
            <a:pPr algn="l" indent="0" marL="0">
              <a:buNone/>
            </a:pPr>
            <a:r>
              <a:rPr lang="en-US" sz="1800" b="1" dirty="0">
                <a:solidFill>
                  <a:schemeClr val="tx2"/>
                </a:solidFill>
              </a:rPr>
              <a:t>Discovery</a:t>
            </a:r>
            <a:endParaRPr lang="en-US" sz="1800" dirty="0"/>
          </a:p>
        </p:txBody>
      </p:sp>
      <p:sp>
        <p:nvSpPr>
          <p:cNvPr id="28" name="Text 22"/>
          <p:cNvSpPr txBox="1"/>
          <p:nvPr/>
        </p:nvSpPr>
        <p:spPr>
          <a:xfrm>
            <a:off x="3017520" y="4005072"/>
            <a:ext cx="5212080" cy="713232"/>
          </a:xfrm>
          <a:prstGeom prst="rect">
            <a:avLst/>
          </a:prstGeom>
          <a:noFill/>
          <a:ln/>
        </p:spPr>
        <p:txBody>
          <a:bodyPr wrap="square" lIns="0" tIns="0" rIns="0" bIns="0" rtlCol="0" anchor="ctr"/>
          <a:lstStyle/>
          <a:p>
            <a:pPr algn="l" indent="0" marL="0">
              <a:buNone/>
            </a:pPr>
            <a:r>
              <a:rPr lang="en-US" sz="1400" dirty="0">
                <a:solidFill>
                  <a:schemeClr val="tx1"/>
                </a:solidFill>
              </a:rPr>
              <a:t>Ranks stalled customers, quiet orders and stages below normal; the top five make the page</a:t>
            </a:r>
            <a:endParaRPr lang="en-US" sz="1400" dirty="0"/>
          </a:p>
        </p:txBody>
      </p:sp>
      <p:sp>
        <p:nvSpPr>
          <p:cNvPr id="29" name="Text 23"/>
          <p:cNvSpPr txBox="1"/>
          <p:nvPr/>
        </p:nvSpPr>
        <p:spPr>
          <a:xfrm>
            <a:off x="8412480" y="4005072"/>
            <a:ext cx="3108960" cy="713232"/>
          </a:xfrm>
          <a:prstGeom prst="rect">
            <a:avLst/>
          </a:prstGeom>
          <a:noFill/>
          <a:ln/>
        </p:spPr>
        <p:txBody>
          <a:bodyPr wrap="square" lIns="0" tIns="0" rIns="0" bIns="0" rtlCol="0" anchor="ctr"/>
          <a:lstStyle/>
          <a:p>
            <a:pPr algn="l" indent="0" marL="0">
              <a:buNone/>
            </a:pPr>
            <a:r>
              <a:rPr lang="en-US" sz="1400" dirty="0">
                <a:solidFill>
                  <a:schemeClr val="tx1"/>
                </a:solidFill>
              </a:rPr>
              <a:t>List every finding</a:t>
            </a:r>
            <a:endParaRPr lang="en-US" sz="1400" dirty="0"/>
          </a:p>
        </p:txBody>
      </p:sp>
      <p:sp>
        <p:nvSpPr>
          <p:cNvPr id="30" name="Row Action"/>
          <p:cNvSpPr/>
          <p:nvPr/>
        </p:nvSpPr>
        <p:spPr>
          <a:xfrm>
            <a:off x="548640" y="4791456"/>
            <a:ext cx="11091672" cy="713232"/>
          </a:xfrm>
          <a:prstGeom prst="roundRect">
            <a:avLst>
              <a:gd name="adj" fmla="val 10256"/>
            </a:avLst>
          </a:prstGeom>
          <a:solidFill>
            <a:schemeClr val="bg2"/>
          </a:solidFill>
          <a:ln/>
        </p:spPr>
      </p:sp>
      <p:sp>
        <p:nvSpPr>
          <p:cNvPr id="31" name="Icon disc Action"/>
          <p:cNvSpPr/>
          <p:nvPr/>
        </p:nvSpPr>
        <p:spPr>
          <a:xfrm>
            <a:off x="713232" y="4919472"/>
            <a:ext cx="457200" cy="457200"/>
          </a:xfrm>
          <a:prstGeom prst="ellipse">
            <a:avLst/>
          </a:prstGeom>
          <a:solidFill>
            <a:schemeClr val="accent1"/>
          </a:solidFill>
          <a:ln w="6350">
            <a:solidFill>
              <a:schemeClr val="accent1"/>
            </a:solidFill>
            <a:prstDash val="solid"/>
          </a:ln>
        </p:spPr>
      </p:sp>
      <p:pic>
        <p:nvPicPr>
          <p:cNvPr id="32" name="Image 4" descr="Action icon">    </p:cNvPr>
          <p:cNvPicPr>
            <a:picLocks noChangeAspect="1"/>
          </p:cNvPicPr>
          <p:nvPr/>
        </p:nvPicPr>
        <p:blipFill>
          <a:blip r:embed="rId5"/>
          <a:stretch>
            <a:fillRect/>
          </a:stretch>
        </p:blipFill>
        <p:spPr>
          <a:xfrm>
            <a:off x="822960" y="5029200"/>
            <a:ext cx="237744" cy="237744"/>
          </a:xfrm>
          <a:prstGeom prst="rect">
            <a:avLst/>
          </a:prstGeom>
        </p:spPr>
      </p:pic>
      <p:sp>
        <p:nvSpPr>
          <p:cNvPr id="33" name="Text 26"/>
          <p:cNvSpPr txBox="1"/>
          <p:nvPr/>
        </p:nvSpPr>
        <p:spPr>
          <a:xfrm>
            <a:off x="1280160" y="4791456"/>
            <a:ext cx="1645920" cy="713232"/>
          </a:xfrm>
          <a:prstGeom prst="rect">
            <a:avLst/>
          </a:prstGeom>
          <a:noFill/>
          <a:ln/>
        </p:spPr>
        <p:txBody>
          <a:bodyPr wrap="square" lIns="0" tIns="0" rIns="0" bIns="0" rtlCol="0" anchor="ctr"/>
          <a:lstStyle/>
          <a:p>
            <a:pPr algn="l" indent="0" marL="0">
              <a:buNone/>
            </a:pPr>
            <a:r>
              <a:rPr lang="en-US" sz="1800" b="1" dirty="0">
                <a:solidFill>
                  <a:schemeClr val="tx2"/>
                </a:solidFill>
              </a:rPr>
              <a:t>Action</a:t>
            </a:r>
            <a:endParaRPr lang="en-US" sz="1800" dirty="0"/>
          </a:p>
        </p:txBody>
      </p:sp>
      <p:sp>
        <p:nvSpPr>
          <p:cNvPr id="34" name="Text 27"/>
          <p:cNvSpPr txBox="1"/>
          <p:nvPr/>
        </p:nvSpPr>
        <p:spPr>
          <a:xfrm>
            <a:off x="3017520" y="4791456"/>
            <a:ext cx="5212080" cy="713232"/>
          </a:xfrm>
          <a:prstGeom prst="rect">
            <a:avLst/>
          </a:prstGeom>
          <a:noFill/>
          <a:ln/>
        </p:spPr>
        <p:txBody>
          <a:bodyPr wrap="square" lIns="0" tIns="0" rIns="0" bIns="0" rtlCol="0" anchor="ctr"/>
          <a:lstStyle/>
          <a:p>
            <a:pPr algn="l" indent="0" marL="0">
              <a:buNone/>
            </a:pPr>
            <a:r>
              <a:rPr lang="en-US" sz="1400" dirty="0">
                <a:solidFill>
                  <a:schemeClr val="tx1"/>
                </a:solidFill>
              </a:rPr>
              <a:t>Preview, then a 15-minute confirmation key; every executed action is logged</a:t>
            </a:r>
            <a:endParaRPr lang="en-US" sz="1400" dirty="0"/>
          </a:p>
        </p:txBody>
      </p:sp>
      <p:sp>
        <p:nvSpPr>
          <p:cNvPr id="35" name="Text 28"/>
          <p:cNvSpPr txBox="1"/>
          <p:nvPr/>
        </p:nvSpPr>
        <p:spPr>
          <a:xfrm>
            <a:off x="8412480" y="4791456"/>
            <a:ext cx="3108960" cy="713232"/>
          </a:xfrm>
          <a:prstGeom prst="rect">
            <a:avLst/>
          </a:prstGeom>
          <a:noFill/>
          <a:ln/>
        </p:spPr>
        <p:txBody>
          <a:bodyPr wrap="square" lIns="0" tIns="0" rIns="0" bIns="0" rtlCol="0" anchor="ctr"/>
          <a:lstStyle/>
          <a:p>
            <a:pPr algn="l" indent="0" marL="0">
              <a:buNone/>
            </a:pPr>
            <a:r>
              <a:rPr lang="en-US" sz="1400" dirty="0">
                <a:solidFill>
                  <a:schemeClr val="tx1"/>
                </a:solidFill>
              </a:rPr>
              <a:t>Send without a matching, unexpired key</a:t>
            </a:r>
            <a:endParaRPr lang="en-US" sz="1400" dirty="0"/>
          </a:p>
        </p:txBody>
      </p:sp>
      <p:sp>
        <p:nvSpPr>
          <p:cNvPr id="36" name="Banner"/>
          <p:cNvSpPr/>
          <p:nvPr/>
        </p:nvSpPr>
        <p:spPr>
          <a:xfrm>
            <a:off x="548640" y="5669280"/>
            <a:ext cx="11091672" cy="566928"/>
          </a:xfrm>
          <a:prstGeom prst="roundRect">
            <a:avLst>
              <a:gd name="adj" fmla="val 12903"/>
            </a:avLst>
          </a:prstGeom>
          <a:solidFill>
            <a:schemeClr val="tx2"/>
          </a:solidFill>
          <a:ln/>
        </p:spPr>
      </p:sp>
      <p:sp>
        <p:nvSpPr>
          <p:cNvPr id="37" name="Text 30"/>
          <p:cNvSpPr txBox="1"/>
          <p:nvPr/>
        </p:nvSpPr>
        <p:spPr>
          <a:xfrm>
            <a:off x="777240" y="5669280"/>
            <a:ext cx="10698480" cy="566928"/>
          </a:xfrm>
          <a:prstGeom prst="rect">
            <a:avLst/>
          </a:prstGeom>
          <a:noFill/>
          <a:ln/>
        </p:spPr>
        <p:txBody>
          <a:bodyPr wrap="square" lIns="0" tIns="0" rIns="0" bIns="0" rtlCol="0" anchor="ctr"/>
          <a:lstStyle/>
          <a:p>
            <a:pPr algn="l" indent="0" marL="0">
              <a:buNone/>
            </a:pPr>
            <a:r>
              <a:rPr lang="en-US" sz="1400" b="1" dirty="0">
                <a:solidFill>
                  <a:schemeClr val="accent3"/>
                </a:solidFill>
              </a:rPr>
              <a:t>33 tools</a:t>
            </a:r>
            <a:pPr algn="l" indent="0" marL="0">
              <a:buNone/>
            </a:pPr>
            <a:r>
              <a:rPr lang="en-US" sz="1400" dirty="0">
                <a:solidFill>
                  <a:schemeClr val="bg1"/>
                </a:solidFill>
              </a:rPr>
              <a:t> specified in one table: input, output, purpose, non-goals, failure mode.   </a:t>
            </a:r>
            <a:pPr algn="l" indent="0" marL="0">
              <a:buNone/>
            </a:pPr>
            <a:r>
              <a:rPr lang="en-US" sz="1400" b="1" dirty="0">
                <a:solidFill>
                  <a:schemeClr val="bg1"/>
                </a:solidFill>
              </a:rPr>
              <a:t>The language model never does the arithmetic.</a:t>
            </a:r>
            <a:endParaRPr lang="en-US" sz="14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400" b="1" dirty="0">
                <a:solidFill>
                  <a:schemeClr val="tx2"/>
                </a:solidFill>
              </a:rPr>
              <a:t>Concise first, evidence one click away</a:t>
            </a:r>
            <a:endParaRPr lang="en-US" sz="3400" dirty="0"/>
          </a:p>
        </p:txBody>
      </p:sp>
      <p:pic>
        <p:nvPicPr>
          <p:cNvPr id="3" name="Screenshot" descr="ThreadPilot dashboard with the chat panel open: the morning summary, KPI cards and an answer to 'Should we expedite ORD-008?'">    </p:cNvPr>
          <p:cNvPicPr>
            <a:picLocks noChangeAspect="1"/>
          </p:cNvPicPr>
          <p:nvPr/>
        </p:nvPicPr>
        <p:blipFill>
          <a:blip r:embed="rId1"/>
          <a:stretch>
            <a:fillRect/>
          </a:stretch>
        </p:blipFill>
        <p:spPr>
          <a:xfrm>
            <a:off x="548640" y="1280160"/>
            <a:ext cx="7040880" cy="4507992"/>
          </a:xfrm>
          <a:prstGeom prst="rect">
            <a:avLst/>
          </a:prstGeom>
        </p:spPr>
      </p:pic>
      <p:sp>
        <p:nvSpPr>
          <p:cNvPr id="4" name="Screenshot caption"/>
          <p:cNvSpPr txBox="1"/>
          <p:nvPr/>
        </p:nvSpPr>
        <p:spPr>
          <a:xfrm>
            <a:off x="548640" y="5897880"/>
            <a:ext cx="7040880" cy="320040"/>
          </a:xfrm>
          <a:prstGeom prst="rect">
            <a:avLst/>
          </a:prstGeom>
          <a:noFill/>
          <a:ln/>
        </p:spPr>
        <p:txBody>
          <a:bodyPr wrap="square" lIns="0" tIns="0" rIns="0" bIns="0" rtlCol="0" anchor="t"/>
          <a:lstStyle/>
          <a:p>
            <a:pPr algn="l" indent="0" marL="0">
              <a:buNone/>
            </a:pPr>
            <a:r>
              <a:rPr lang="en-US" sz="1100" dirty="0">
                <a:solidFill>
                  <a:schemeClr val="accent5"/>
                </a:solidFill>
              </a:rPr>
              <a:t>Briefing demo, simulated morning of 9 April 2026 (day 8). The demo chat uses built-in tools, no language model.</a:t>
            </a:r>
            <a:endParaRPr lang="en-US" sz="1100" dirty="0"/>
          </a:p>
        </p:txBody>
      </p:sp>
      <p:sp>
        <p:nvSpPr>
          <p:cNvPr id="5" name="Step 1"/>
          <p:cNvSpPr txBox="1"/>
          <p:nvPr/>
        </p:nvSpPr>
        <p:spPr>
          <a:xfrm>
            <a:off x="8001000" y="1371600"/>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3"/>
          <p:cNvSpPr txBox="1"/>
          <p:nvPr/>
        </p:nvSpPr>
        <p:spPr>
          <a:xfrm>
            <a:off x="8595360" y="1371600"/>
            <a:ext cx="3044952" cy="457200"/>
          </a:xfrm>
          <a:prstGeom prst="rect">
            <a:avLst/>
          </a:prstGeom>
          <a:noFill/>
          <a:ln/>
        </p:spPr>
        <p:txBody>
          <a:bodyPr wrap="square" lIns="0" tIns="0" rIns="0" bIns="0" rtlCol="0" anchor="ctr"/>
          <a:lstStyle/>
          <a:p>
            <a:pPr algn="l" indent="0" marL="0">
              <a:buNone/>
            </a:pPr>
            <a:r>
              <a:rPr lang="en-US" sz="1800" b="1" dirty="0">
                <a:solidFill>
                  <a:schemeClr val="tx2"/>
                </a:solidFill>
              </a:rPr>
              <a:t>Three lines first</a:t>
            </a:r>
            <a:endParaRPr lang="en-US" sz="1800" dirty="0"/>
          </a:p>
        </p:txBody>
      </p:sp>
      <p:sp>
        <p:nvSpPr>
          <p:cNvPr id="7" name="Text 4"/>
          <p:cNvSpPr txBox="1"/>
          <p:nvPr/>
        </p:nvSpPr>
        <p:spPr>
          <a:xfrm>
            <a:off x="8595360" y="1874520"/>
            <a:ext cx="3044952" cy="914400"/>
          </a:xfrm>
          <a:prstGeom prst="rect">
            <a:avLst/>
          </a:prstGeom>
          <a:noFill/>
          <a:ln/>
        </p:spPr>
        <p:txBody>
          <a:bodyPr wrap="square" lIns="0" tIns="0" rIns="0" bIns="0" rtlCol="0" anchor="t"/>
          <a:lstStyle/>
          <a:p>
            <a:pPr algn="l" indent="0" marL="0">
              <a:buNone/>
            </a:pPr>
            <a:r>
              <a:rPr lang="en-US" sz="1400" dirty="0">
                <a:solidFill>
                  <a:schemeClr val="tx1"/>
                </a:solidFill>
              </a:rPr>
              <a:t>Yesterday, top issue, decision: readable at a glance.</a:t>
            </a:r>
            <a:endParaRPr lang="en-US" sz="1400" dirty="0"/>
          </a:p>
        </p:txBody>
      </p:sp>
      <p:sp>
        <p:nvSpPr>
          <p:cNvPr id="8" name="Step 2"/>
          <p:cNvSpPr txBox="1"/>
          <p:nvPr/>
        </p:nvSpPr>
        <p:spPr>
          <a:xfrm>
            <a:off x="8001000" y="2926080"/>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Text 6"/>
          <p:cNvSpPr txBox="1"/>
          <p:nvPr/>
        </p:nvSpPr>
        <p:spPr>
          <a:xfrm>
            <a:off x="8595360" y="2926080"/>
            <a:ext cx="3044952" cy="457200"/>
          </a:xfrm>
          <a:prstGeom prst="rect">
            <a:avLst/>
          </a:prstGeom>
          <a:noFill/>
          <a:ln/>
        </p:spPr>
        <p:txBody>
          <a:bodyPr wrap="square" lIns="0" tIns="0" rIns="0" bIns="0" rtlCol="0" anchor="ctr"/>
          <a:lstStyle/>
          <a:p>
            <a:pPr algn="l" indent="0" marL="0">
              <a:buNone/>
            </a:pPr>
            <a:r>
              <a:rPr lang="en-US" sz="1800" b="1" dirty="0">
                <a:solidFill>
                  <a:schemeClr val="tx2"/>
                </a:solidFill>
              </a:rPr>
              <a:t>Plain-words answers</a:t>
            </a:r>
            <a:endParaRPr lang="en-US" sz="1800" dirty="0"/>
          </a:p>
        </p:txBody>
      </p:sp>
      <p:sp>
        <p:nvSpPr>
          <p:cNvPr id="10" name="Text 7"/>
          <p:cNvSpPr txBox="1"/>
          <p:nvPr/>
        </p:nvSpPr>
        <p:spPr>
          <a:xfrm>
            <a:off x="8595360" y="3429000"/>
            <a:ext cx="3044952" cy="914400"/>
          </a:xfrm>
          <a:prstGeom prst="rect">
            <a:avLst/>
          </a:prstGeom>
          <a:noFill/>
          <a:ln/>
        </p:spPr>
        <p:txBody>
          <a:bodyPr wrap="square" lIns="0" tIns="0" rIns="0" bIns="0" rtlCol="0" anchor="t"/>
          <a:lstStyle/>
          <a:p>
            <a:pPr algn="l" indent="0" marL="0">
              <a:buNone/>
            </a:pPr>
            <a:r>
              <a:rPr lang="en-US" sz="1400" dirty="0">
                <a:solidFill>
                  <a:schemeClr val="tx1"/>
                </a:solidFill>
              </a:rPr>
              <a:t>“Should we expedite ORD-008?” Expedite now: saves 7 working days, adds 3 elsewhere. A projection, not a promise.</a:t>
            </a:r>
            <a:endParaRPr lang="en-US" sz="1400" dirty="0"/>
          </a:p>
        </p:txBody>
      </p:sp>
      <p:sp>
        <p:nvSpPr>
          <p:cNvPr id="11" name="Step 3"/>
          <p:cNvSpPr txBox="1"/>
          <p:nvPr/>
        </p:nvSpPr>
        <p:spPr>
          <a:xfrm>
            <a:off x="8001000" y="4480560"/>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2" name="Text 9"/>
          <p:cNvSpPr txBox="1"/>
          <p:nvPr/>
        </p:nvSpPr>
        <p:spPr>
          <a:xfrm>
            <a:off x="8595360" y="4480560"/>
            <a:ext cx="3044952" cy="457200"/>
          </a:xfrm>
          <a:prstGeom prst="rect">
            <a:avLst/>
          </a:prstGeom>
          <a:noFill/>
          <a:ln/>
        </p:spPr>
        <p:txBody>
          <a:bodyPr wrap="square" lIns="0" tIns="0" rIns="0" bIns="0" rtlCol="0" anchor="ctr"/>
          <a:lstStyle/>
          <a:p>
            <a:pPr algn="l" indent="0" marL="0">
              <a:buNone/>
            </a:pPr>
            <a:r>
              <a:rPr lang="en-US" sz="1800" b="1" dirty="0">
                <a:solidFill>
                  <a:schemeClr val="tx2"/>
                </a:solidFill>
              </a:rPr>
              <a:t>One click to the rows</a:t>
            </a:r>
            <a:endParaRPr lang="en-US" sz="1800" dirty="0"/>
          </a:p>
        </p:txBody>
      </p:sp>
      <p:sp>
        <p:nvSpPr>
          <p:cNvPr id="13" name="Text 10"/>
          <p:cNvSpPr txBox="1"/>
          <p:nvPr/>
        </p:nvSpPr>
        <p:spPr>
          <a:xfrm>
            <a:off x="8595360" y="4983480"/>
            <a:ext cx="3044952" cy="914400"/>
          </a:xfrm>
          <a:prstGeom prst="rect">
            <a:avLst/>
          </a:prstGeom>
          <a:noFill/>
          <a:ln/>
        </p:spPr>
        <p:txBody>
          <a:bodyPr wrap="square" lIns="0" tIns="0" rIns="0" bIns="0" rtlCol="0" anchor="t"/>
          <a:lstStyle/>
          <a:p>
            <a:pPr algn="l" indent="0" marL="0">
              <a:buNone/>
            </a:pPr>
            <a:r>
              <a:rPr lang="en-US" sz="1400" dirty="0">
                <a:solidFill>
                  <a:schemeClr val="tx1"/>
                </a:solidFill>
              </a:rPr>
              <a:t>Show detail, Sources and the tool used sit under every answer.</a:t>
            </a:r>
            <a:endParaRPr lang="en-US" sz="14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400" b="1" dirty="0">
                <a:solidFill>
                  <a:schemeClr val="tx2"/>
                </a:solidFill>
              </a:rPr>
              <a:t>What we measured, and what we haven't</a:t>
            </a:r>
            <a:endParaRPr lang="en-US" sz="3400" dirty="0"/>
          </a:p>
        </p:txBody>
      </p:sp>
      <p:graphicFrame>
        <p:nvGraphicFramePr>
          <p:cNvPr id="3" name="Chart 0" descr=""/>
          <p:cNvGraphicFramePr/>
          <p:nvPr/>
        </p:nvGraphicFramePr>
        <p:xfrm>
          <a:off x="548640" y="1325880"/>
          <a:ext cx="6126480" cy="4023360"/>
        </p:xfrm>
        <a:graphic xmlns:a="http://schemas.openxmlformats.org/drawingml/2006/main">
          <a:graphicData uri="http://schemas.openxmlformats.org/drawingml/2006/chart">
            <c:chart xmlns:c="http://schemas.openxmlformats.org/drawingml/2006/chart" r:id="rId1"/>
          </a:graphicData>
        </a:graphic>
      </p:graphicFrame>
      <p:sp>
        <p:nvSpPr>
          <p:cNvPr id="4" name="Stat 25 / 36"/>
          <p:cNvSpPr txBox="1"/>
          <p:nvPr/>
        </p:nvSpPr>
        <p:spPr>
          <a:xfrm>
            <a:off x="7040880" y="1325880"/>
            <a:ext cx="2011680" cy="822960"/>
          </a:xfrm>
          <a:prstGeom prst="rect">
            <a:avLst/>
          </a:prstGeom>
          <a:noFill/>
          <a:ln/>
        </p:spPr>
        <p:txBody>
          <a:bodyPr wrap="square" lIns="0" tIns="0" rIns="0" bIns="0" rtlCol="0" anchor="ctr"/>
          <a:lstStyle/>
          <a:p>
            <a:pPr algn="l" indent="0" marL="0">
              <a:buNone/>
            </a:pPr>
            <a:r>
              <a:rPr lang="en-US" sz="3800" b="1" dirty="0">
                <a:solidFill>
                  <a:schemeClr val="accent1"/>
                </a:solidFill>
                <a:latin typeface="Cambria" pitchFamily="34" charset="0"/>
                <a:ea typeface="Cambria" pitchFamily="34" charset="-122"/>
                <a:cs typeface="Cambria" pitchFamily="34" charset="-120"/>
              </a:rPr>
              <a:t>25 / 36</a:t>
            </a:r>
            <a:endParaRPr lang="en-US" sz="3800" dirty="0"/>
          </a:p>
        </p:txBody>
      </p:sp>
      <p:sp>
        <p:nvSpPr>
          <p:cNvPr id="5" name="Text 2"/>
          <p:cNvSpPr txBox="1"/>
          <p:nvPr/>
        </p:nvSpPr>
        <p:spPr>
          <a:xfrm>
            <a:off x="9098280" y="1325880"/>
            <a:ext cx="2560320" cy="822960"/>
          </a:xfrm>
          <a:prstGeom prst="rect">
            <a:avLst/>
          </a:prstGeom>
          <a:noFill/>
          <a:ln/>
        </p:spPr>
        <p:txBody>
          <a:bodyPr wrap="square" lIns="0" tIns="0" rIns="0" bIns="0" rtlCol="0" anchor="ctr"/>
          <a:lstStyle/>
          <a:p>
            <a:pPr algn="l" indent="0" marL="0">
              <a:buNone/>
            </a:pPr>
            <a:r>
              <a:rPr lang="en-US" sz="1400" dirty="0">
                <a:solidFill>
                  <a:schemeClr val="tx1"/>
                </a:solidFill>
              </a:rPr>
              <a:t>first pass, nothing fixed yet (69%): the honest figure</a:t>
            </a:r>
            <a:endParaRPr lang="en-US" sz="1400" dirty="0"/>
          </a:p>
        </p:txBody>
      </p:sp>
      <p:sp>
        <p:nvSpPr>
          <p:cNvPr id="6" name="Stat 18 / 21"/>
          <p:cNvSpPr txBox="1"/>
          <p:nvPr/>
        </p:nvSpPr>
        <p:spPr>
          <a:xfrm>
            <a:off x="7040880" y="2240280"/>
            <a:ext cx="2011680" cy="822960"/>
          </a:xfrm>
          <a:prstGeom prst="rect">
            <a:avLst/>
          </a:prstGeom>
          <a:noFill/>
          <a:ln/>
        </p:spPr>
        <p:txBody>
          <a:bodyPr wrap="square" lIns="0" tIns="0" rIns="0" bIns="0" rtlCol="0" anchor="ctr"/>
          <a:lstStyle/>
          <a:p>
            <a:pPr algn="l" indent="0" marL="0">
              <a:buNone/>
            </a:pPr>
            <a:r>
              <a:rPr lang="en-US" sz="3800" b="1" dirty="0">
                <a:solidFill>
                  <a:schemeClr val="accent1"/>
                </a:solidFill>
                <a:latin typeface="Cambria" pitchFamily="34" charset="0"/>
                <a:ea typeface="Cambria" pitchFamily="34" charset="-122"/>
                <a:cs typeface="Cambria" pitchFamily="34" charset="-120"/>
              </a:rPr>
              <a:t>18 / 21</a:t>
            </a:r>
            <a:endParaRPr lang="en-US" sz="3800" dirty="0"/>
          </a:p>
        </p:txBody>
      </p:sp>
      <p:sp>
        <p:nvSpPr>
          <p:cNvPr id="7" name="Text 4"/>
          <p:cNvSpPr txBox="1"/>
          <p:nvPr/>
        </p:nvSpPr>
        <p:spPr>
          <a:xfrm>
            <a:off x="9098280" y="2240280"/>
            <a:ext cx="2560320" cy="822960"/>
          </a:xfrm>
          <a:prstGeom prst="rect">
            <a:avLst/>
          </a:prstGeom>
          <a:noFill/>
          <a:ln/>
        </p:spPr>
        <p:txBody>
          <a:bodyPr wrap="square" lIns="0" tIns="0" rIns="0" bIns="0" rtlCol="0" anchor="ctr"/>
          <a:lstStyle/>
          <a:p>
            <a:pPr algn="l" indent="0" marL="0">
              <a:buNone/>
            </a:pPr>
            <a:r>
              <a:rPr lang="en-US" sz="1400" dirty="0">
                <a:solidFill>
                  <a:schemeClr val="tx1"/>
                </a:solidFill>
              </a:rPr>
              <a:t>held-out questions with new wording (86%)</a:t>
            </a:r>
            <a:endParaRPr lang="en-US" sz="1400" dirty="0"/>
          </a:p>
        </p:txBody>
      </p:sp>
      <p:sp>
        <p:nvSpPr>
          <p:cNvPr id="8" name="Stat 5 / 5"/>
          <p:cNvSpPr txBox="1"/>
          <p:nvPr/>
        </p:nvSpPr>
        <p:spPr>
          <a:xfrm>
            <a:off x="7040880" y="3154680"/>
            <a:ext cx="2011680" cy="822960"/>
          </a:xfrm>
          <a:prstGeom prst="rect">
            <a:avLst/>
          </a:prstGeom>
          <a:noFill/>
          <a:ln/>
        </p:spPr>
        <p:txBody>
          <a:bodyPr wrap="square" lIns="0" tIns="0" rIns="0" bIns="0" rtlCol="0" anchor="ctr"/>
          <a:lstStyle/>
          <a:p>
            <a:pPr algn="l" indent="0" marL="0">
              <a:buNone/>
            </a:pPr>
            <a:r>
              <a:rPr lang="en-US" sz="3800" b="1" dirty="0">
                <a:solidFill>
                  <a:schemeClr val="accent4"/>
                </a:solidFill>
                <a:latin typeface="Cambria" pitchFamily="34" charset="0"/>
                <a:ea typeface="Cambria" pitchFamily="34" charset="-122"/>
                <a:cs typeface="Cambria" pitchFamily="34" charset="-120"/>
              </a:rPr>
              <a:t>5 / 5</a:t>
            </a:r>
            <a:endParaRPr lang="en-US" sz="3800" dirty="0"/>
          </a:p>
        </p:txBody>
      </p:sp>
      <p:sp>
        <p:nvSpPr>
          <p:cNvPr id="9" name="Text 6"/>
          <p:cNvSpPr txBox="1"/>
          <p:nvPr/>
        </p:nvSpPr>
        <p:spPr>
          <a:xfrm>
            <a:off x="9098280" y="3154680"/>
            <a:ext cx="2560320" cy="822960"/>
          </a:xfrm>
          <a:prstGeom prst="rect">
            <a:avLst/>
          </a:prstGeom>
          <a:noFill/>
          <a:ln/>
        </p:spPr>
        <p:txBody>
          <a:bodyPr wrap="square" lIns="0" tIns="0" rIns="0" bIns="0" rtlCol="0" anchor="ctr"/>
          <a:lstStyle/>
          <a:p>
            <a:pPr algn="l" indent="0" marL="0">
              <a:buNone/>
            </a:pPr>
            <a:r>
              <a:rPr lang="en-US" sz="1400" dirty="0">
                <a:solidFill>
                  <a:schemeClr val="tx1"/>
                </a:solidFill>
              </a:rPr>
              <a:t>planted events found by discovery, 1 to 5 days after each began</a:t>
            </a:r>
            <a:endParaRPr lang="en-US" sz="1400" dirty="0"/>
          </a:p>
        </p:txBody>
      </p:sp>
      <p:sp>
        <p:nvSpPr>
          <p:cNvPr id="10" name="Stat 14 / 14"/>
          <p:cNvSpPr txBox="1"/>
          <p:nvPr/>
        </p:nvSpPr>
        <p:spPr>
          <a:xfrm>
            <a:off x="7040880" y="4069080"/>
            <a:ext cx="2011680" cy="822960"/>
          </a:xfrm>
          <a:prstGeom prst="rect">
            <a:avLst/>
          </a:prstGeom>
          <a:noFill/>
          <a:ln/>
        </p:spPr>
        <p:txBody>
          <a:bodyPr wrap="square" lIns="0" tIns="0" rIns="0" bIns="0" rtlCol="0" anchor="ctr"/>
          <a:lstStyle/>
          <a:p>
            <a:pPr algn="l" indent="0" marL="0">
              <a:buNone/>
            </a:pPr>
            <a:r>
              <a:rPr lang="en-US" sz="3800" b="1" dirty="0">
                <a:solidFill>
                  <a:schemeClr val="accent4"/>
                </a:solidFill>
                <a:latin typeface="Cambria" pitchFamily="34" charset="0"/>
                <a:ea typeface="Cambria" pitchFamily="34" charset="-122"/>
                <a:cs typeface="Cambria" pitchFamily="34" charset="-120"/>
              </a:rPr>
              <a:t>14 / 14</a:t>
            </a:r>
            <a:endParaRPr lang="en-US" sz="3800" dirty="0"/>
          </a:p>
        </p:txBody>
      </p:sp>
      <p:sp>
        <p:nvSpPr>
          <p:cNvPr id="11" name="Text 8"/>
          <p:cNvSpPr txBox="1"/>
          <p:nvPr/>
        </p:nvSpPr>
        <p:spPr>
          <a:xfrm>
            <a:off x="9098280" y="4069080"/>
            <a:ext cx="2560320" cy="822960"/>
          </a:xfrm>
          <a:prstGeom prst="rect">
            <a:avLst/>
          </a:prstGeom>
          <a:noFill/>
          <a:ln/>
        </p:spPr>
        <p:txBody>
          <a:bodyPr wrap="square" lIns="0" tIns="0" rIns="0" bIns="0" rtlCol="0" anchor="ctr"/>
          <a:lstStyle/>
          <a:p>
            <a:pPr algn="l" indent="0" marL="0">
              <a:buNone/>
            </a:pPr>
            <a:r>
              <a:rPr lang="en-US" sz="1400" dirty="0">
                <a:solidFill>
                  <a:schemeClr val="tx1"/>
                </a:solidFill>
              </a:rPr>
              <a:t>feasibility ranges that contained the real finish</a:t>
            </a:r>
            <a:endParaRPr lang="en-US" sz="1400" dirty="0"/>
          </a:p>
        </p:txBody>
      </p:sp>
      <p:sp>
        <p:nvSpPr>
          <p:cNvPr id="12" name="Stats caption"/>
          <p:cNvSpPr txBox="1"/>
          <p:nvPr/>
        </p:nvSpPr>
        <p:spPr>
          <a:xfrm>
            <a:off x="7040880" y="5029200"/>
            <a:ext cx="4617720" cy="365760"/>
          </a:xfrm>
          <a:prstGeom prst="rect">
            <a:avLst/>
          </a:prstGeom>
          <a:noFill/>
          <a:ln/>
        </p:spPr>
        <p:txBody>
          <a:bodyPr wrap="square" lIns="0" tIns="0" rIns="0" bIns="0" rtlCol="0" anchor="t"/>
          <a:lstStyle/>
          <a:p>
            <a:pPr algn="l" indent="0" marL="0">
              <a:buNone/>
            </a:pPr>
            <a:r>
              <a:rPr lang="en-US" sz="1100" dirty="0">
                <a:solidFill>
                  <a:schemeClr val="accent5"/>
                </a:solidFill>
              </a:rPr>
              <a:t>Dashboard chat. The last two come from our own simulator: internal consistency, not real-world accuracy.</a:t>
            </a:r>
            <a:endParaRPr lang="en-US" sz="1100" dirty="0"/>
          </a:p>
        </p:txBody>
      </p:sp>
      <p:sp>
        <p:nvSpPr>
          <p:cNvPr id="13" name="Not measured banner"/>
          <p:cNvSpPr/>
          <p:nvPr/>
        </p:nvSpPr>
        <p:spPr>
          <a:xfrm>
            <a:off x="548640" y="5715000"/>
            <a:ext cx="11091672" cy="548640"/>
          </a:xfrm>
          <a:prstGeom prst="roundRect">
            <a:avLst>
              <a:gd name="adj" fmla="val 13333"/>
            </a:avLst>
          </a:prstGeom>
          <a:solidFill>
            <a:schemeClr val="tx2"/>
          </a:solidFill>
          <a:ln/>
        </p:spPr>
      </p:sp>
      <p:sp>
        <p:nvSpPr>
          <p:cNvPr id="14" name="Text 11"/>
          <p:cNvSpPr txBox="1"/>
          <p:nvPr/>
        </p:nvSpPr>
        <p:spPr>
          <a:xfrm>
            <a:off x="777240" y="5715000"/>
            <a:ext cx="10698480" cy="548640"/>
          </a:xfrm>
          <a:prstGeom prst="rect">
            <a:avLst/>
          </a:prstGeom>
          <a:noFill/>
          <a:ln/>
        </p:spPr>
        <p:txBody>
          <a:bodyPr wrap="square" lIns="0" tIns="0" rIns="0" bIns="0" rtlCol="0" anchor="ctr"/>
          <a:lstStyle/>
          <a:p>
            <a:pPr algn="l" indent="0" marL="0">
              <a:buNone/>
            </a:pPr>
            <a:r>
              <a:rPr lang="en-US" sz="1400" b="1" dirty="0">
                <a:solidFill>
                  <a:schemeClr val="accent3"/>
                </a:solidFill>
              </a:rPr>
              <a:t>Not measured yet: </a:t>
            </a:r>
            <a:pPr algn="l" indent="0" marL="0">
              <a:buNone/>
            </a:pPr>
            <a:r>
              <a:rPr lang="en-US" sz="1400" dirty="0">
                <a:solidFill>
                  <a:schemeClr val="bg1"/>
                </a:solidFill>
              </a:rPr>
              <a:t>accuracy of the live backend (OpenAI model + MySQL) on these questions. We will run it once and report that as first-pass.</a:t>
            </a:r>
            <a:endParaRPr lang="en-US" sz="14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400" b="1" dirty="0">
                <a:solidFill>
                  <a:schemeClr val="tx2"/>
                </a:solidFill>
              </a:rPr>
              <a:t>Where we are, and what comes next</a:t>
            </a:r>
            <a:endParaRPr lang="en-US" sz="3400" dirty="0"/>
          </a:p>
        </p:txBody>
      </p:sp>
      <p:sp>
        <p:nvSpPr>
          <p:cNvPr id="3" name="Text 1"/>
          <p:cNvSpPr txBox="1"/>
          <p:nvPr/>
        </p:nvSpPr>
        <p:spPr>
          <a:xfrm>
            <a:off x="548640" y="1325880"/>
            <a:ext cx="5394960" cy="411480"/>
          </a:xfrm>
          <a:prstGeom prst="rect">
            <a:avLst/>
          </a:prstGeom>
          <a:noFill/>
          <a:ln/>
        </p:spPr>
        <p:txBody>
          <a:bodyPr wrap="square" lIns="0" tIns="0" rIns="0" bIns="0" rtlCol="0" anchor="ctr"/>
          <a:lstStyle/>
          <a:p>
            <a:pPr algn="l" indent="0" marL="0">
              <a:buNone/>
            </a:pPr>
            <a:r>
              <a:rPr lang="en-US" sz="2000" b="1" dirty="0">
                <a:solidFill>
                  <a:schemeClr val="tx2"/>
                </a:solidFill>
              </a:rPr>
              <a:t>What we have not proven</a:t>
            </a:r>
            <a:endParaRPr lang="en-US" sz="2000" dirty="0"/>
          </a:p>
        </p:txBody>
      </p:sp>
      <p:sp>
        <p:nvSpPr>
          <p:cNvPr id="4" name="Limits list"/>
          <p:cNvSpPr txBox="1"/>
          <p:nvPr/>
        </p:nvSpPr>
        <p:spPr>
          <a:xfrm>
            <a:off x="548640" y="1828800"/>
            <a:ext cx="5394960" cy="2651760"/>
          </a:xfrm>
          <a:prstGeom prst="rect">
            <a:avLst/>
          </a:prstGeom>
          <a:noFill/>
          <a:ln/>
        </p:spPr>
        <p:txBody>
          <a:bodyPr wrap="square" lIns="0" tIns="0" rIns="0" bIns="0" rtlCol="0" anchor="t"/>
          <a:lstStyle/>
          <a:p>
            <a:pPr algn="l" marL="228600" indent="-228600">
              <a:spcAft>
                <a:spcPts val="1000"/>
              </a:spcAft>
              <a:buSzPct val="100000"/>
              <a:buChar char="•"/>
            </a:pPr>
            <a:r>
              <a:rPr lang="en-US" sz="1500" dirty="0">
                <a:solidFill>
                  <a:schemeClr val="tx1"/>
                </a:solidFill>
              </a:rPr>
              <a:t>Predictions were checked against our own simulator, which follows the same scheduling rule</a:t>
            </a:r>
            <a:endParaRPr lang="en-US" sz="1500" dirty="0"/>
          </a:p>
          <a:p>
            <a:pPr algn="l" marL="228600" indent="-228600">
              <a:spcAft>
                <a:spcPts val="1000"/>
              </a:spcAft>
              <a:buSzPct val="100000"/>
              <a:buChar char="•"/>
            </a:pPr>
            <a:r>
              <a:rPr lang="en-US" sz="1500" dirty="0">
                <a:solidFill>
                  <a:schemeClr val="tx1"/>
                </a:solidFill>
              </a:rPr>
              <a:t>The two-week order forecast is no better than repeating the last period</a:t>
            </a:r>
            <a:endParaRPr lang="en-US" sz="1500" dirty="0"/>
          </a:p>
          <a:p>
            <a:pPr algn="l" marL="228600" indent="-228600">
              <a:spcAft>
                <a:spcPts val="1000"/>
              </a:spcAft>
              <a:buSzPct val="100000"/>
              <a:buChar char="•"/>
            </a:pPr>
            <a:r>
              <a:rPr lang="en-US" sz="1500" dirty="0">
                <a:solidFill>
                  <a:schemeClr val="tx1"/>
                </a:solidFill>
              </a:rPr>
              <a:t>The data holds about 29 working days of work in progress against 12 to 30 days allowed, so almost every order is late and risk levels barely separate</a:t>
            </a:r>
            <a:endParaRPr lang="en-US" sz="1500" dirty="0"/>
          </a:p>
        </p:txBody>
      </p:sp>
      <p:sp>
        <p:nvSpPr>
          <p:cNvPr id="5" name="Text 3"/>
          <p:cNvSpPr txBox="1"/>
          <p:nvPr/>
        </p:nvSpPr>
        <p:spPr>
          <a:xfrm>
            <a:off x="6309360" y="1325880"/>
            <a:ext cx="5330952" cy="411480"/>
          </a:xfrm>
          <a:prstGeom prst="rect">
            <a:avLst/>
          </a:prstGeom>
          <a:noFill/>
          <a:ln/>
        </p:spPr>
        <p:txBody>
          <a:bodyPr wrap="square" lIns="0" tIns="0" rIns="0" bIns="0" rtlCol="0" anchor="ctr"/>
          <a:lstStyle/>
          <a:p>
            <a:pPr algn="l" indent="0" marL="0">
              <a:buNone/>
            </a:pPr>
            <a:r>
              <a:rPr lang="en-US" sz="2000" b="1" dirty="0">
                <a:solidFill>
                  <a:schemeClr val="tx2"/>
                </a:solidFill>
              </a:rPr>
              <a:t>Next, from our own documents</a:t>
            </a:r>
            <a:endParaRPr lang="en-US" sz="2000" dirty="0"/>
          </a:p>
        </p:txBody>
      </p:sp>
      <p:sp>
        <p:nvSpPr>
          <p:cNvPr id="6" name="Next 1"/>
          <p:cNvSpPr txBox="1"/>
          <p:nvPr/>
        </p:nvSpPr>
        <p:spPr>
          <a:xfrm>
            <a:off x="6309360" y="1883664"/>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6858000" y="1828800"/>
            <a:ext cx="4782312" cy="566928"/>
          </a:xfrm>
          <a:prstGeom prst="rect">
            <a:avLst/>
          </a:prstGeom>
          <a:noFill/>
          <a:ln/>
        </p:spPr>
        <p:txBody>
          <a:bodyPr wrap="square" lIns="0" tIns="0" rIns="0" bIns="0" rtlCol="0" anchor="ctr"/>
          <a:lstStyle/>
          <a:p>
            <a:pPr algn="l" indent="0" marL="0">
              <a:buNone/>
            </a:pPr>
            <a:r>
              <a:rPr lang="en-US" sz="1500" dirty="0">
                <a:solidFill>
                  <a:schemeClr val="tx1"/>
                </a:solidFill>
              </a:rPr>
              <a:t>Run the live-model evaluation once and report it as first-pass</a:t>
            </a:r>
            <a:endParaRPr lang="en-US" sz="1500" dirty="0"/>
          </a:p>
        </p:txBody>
      </p:sp>
      <p:sp>
        <p:nvSpPr>
          <p:cNvPr id="8" name="Next 2"/>
          <p:cNvSpPr txBox="1"/>
          <p:nvPr/>
        </p:nvSpPr>
        <p:spPr>
          <a:xfrm>
            <a:off x="6309360" y="254203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6858000" y="2487168"/>
            <a:ext cx="4782312" cy="566928"/>
          </a:xfrm>
          <a:prstGeom prst="rect">
            <a:avLst/>
          </a:prstGeom>
          <a:noFill/>
          <a:ln/>
        </p:spPr>
        <p:txBody>
          <a:bodyPr wrap="square" lIns="0" tIns="0" rIns="0" bIns="0" rtlCol="0" anchor="ctr"/>
          <a:lstStyle/>
          <a:p>
            <a:pPr algn="l" indent="0" marL="0">
              <a:buNone/>
            </a:pPr>
            <a:r>
              <a:rPr lang="en-US" sz="1500" dirty="0">
                <a:solidFill>
                  <a:schemeClr val="tx1"/>
                </a:solidFill>
              </a:rPr>
              <a:t>Teammates add at least 10 questions each, written without reading the code</a:t>
            </a:r>
            <a:endParaRPr lang="en-US" sz="1500" dirty="0"/>
          </a:p>
        </p:txBody>
      </p:sp>
      <p:sp>
        <p:nvSpPr>
          <p:cNvPr id="10" name="Next 3"/>
          <p:cNvSpPr txBox="1"/>
          <p:nvPr/>
        </p:nvSpPr>
        <p:spPr>
          <a:xfrm>
            <a:off x="6309360" y="320040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6858000" y="3145536"/>
            <a:ext cx="4782312" cy="566928"/>
          </a:xfrm>
          <a:prstGeom prst="rect">
            <a:avLst/>
          </a:prstGeom>
          <a:noFill/>
          <a:ln/>
        </p:spPr>
        <p:txBody>
          <a:bodyPr wrap="square" lIns="0" tIns="0" rIns="0" bIns="0" rtlCol="0" anchor="ctr"/>
          <a:lstStyle/>
          <a:p>
            <a:pPr algn="l" indent="0" marL="0">
              <a:buNone/>
            </a:pPr>
            <a:r>
              <a:rPr lang="en-US" sz="1500" dirty="0">
                <a:solidFill>
                  <a:schemeClr val="tx1"/>
                </a:solidFill>
              </a:rPr>
              <a:t>Move the briefing's findings onto the live MySQL data</a:t>
            </a:r>
            <a:endParaRPr lang="en-US" sz="1500" dirty="0"/>
          </a:p>
        </p:txBody>
      </p:sp>
      <p:sp>
        <p:nvSpPr>
          <p:cNvPr id="12" name="Next 4"/>
          <p:cNvSpPr txBox="1"/>
          <p:nvPr/>
        </p:nvSpPr>
        <p:spPr>
          <a:xfrm>
            <a:off x="6309360" y="3858768"/>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3" name="Text 11"/>
          <p:cNvSpPr txBox="1"/>
          <p:nvPr/>
        </p:nvSpPr>
        <p:spPr>
          <a:xfrm>
            <a:off x="6858000" y="3803904"/>
            <a:ext cx="4782312" cy="566928"/>
          </a:xfrm>
          <a:prstGeom prst="rect">
            <a:avLst/>
          </a:prstGeom>
          <a:noFill/>
          <a:ln/>
        </p:spPr>
        <p:txBody>
          <a:bodyPr wrap="square" lIns="0" tIns="0" rIns="0" bIns="0" rtlCol="0" anchor="ctr"/>
          <a:lstStyle/>
          <a:p>
            <a:pPr algn="l" indent="0" marL="0">
              <a:buNone/>
            </a:pPr>
            <a:r>
              <a:rPr lang="en-US" sz="1500" dirty="0">
                <a:solidFill>
                  <a:schemeClr val="tx1"/>
                </a:solidFill>
              </a:rPr>
              <a:t>Bring Morning Briefing into the team's cloud site (merge prepared)</a:t>
            </a:r>
            <a:endParaRPr lang="en-US" sz="1500" dirty="0"/>
          </a:p>
        </p:txBody>
      </p:sp>
      <p:sp>
        <p:nvSpPr>
          <p:cNvPr id="14" name="Timeline"/>
          <p:cNvSpPr/>
          <p:nvPr/>
        </p:nvSpPr>
        <p:spPr>
          <a:xfrm>
            <a:off x="1280160" y="4846320"/>
            <a:ext cx="9052560" cy="0"/>
          </a:xfrm>
          <a:prstGeom prst="line">
            <a:avLst/>
          </a:prstGeom>
          <a:noFill/>
          <a:ln w="25400">
            <a:solidFill>
              <a:schemeClr val="accent5"/>
            </a:solidFill>
            <a:prstDash val="solid"/>
          </a:ln>
        </p:spPr>
      </p:sp>
      <p:sp>
        <p:nvSpPr>
          <p:cNvPr id="15" name="Milestone Sprint 1"/>
          <p:cNvSpPr/>
          <p:nvPr/>
        </p:nvSpPr>
        <p:spPr>
          <a:xfrm>
            <a:off x="1161288" y="4718304"/>
            <a:ext cx="256032" cy="256032"/>
          </a:xfrm>
          <a:prstGeom prst="ellipse">
            <a:avLst/>
          </a:prstGeom>
          <a:solidFill>
            <a:schemeClr val="accent2"/>
          </a:solidFill>
          <a:ln w="25400">
            <a:solidFill>
              <a:schemeClr val="bg1"/>
            </a:solidFill>
            <a:prstDash val="solid"/>
          </a:ln>
        </p:spPr>
      </p:sp>
      <p:sp>
        <p:nvSpPr>
          <p:cNvPr id="16" name="Text 14"/>
          <p:cNvSpPr txBox="1"/>
          <p:nvPr/>
        </p:nvSpPr>
        <p:spPr>
          <a:xfrm>
            <a:off x="182880" y="5074920"/>
            <a:ext cx="2194560" cy="292608"/>
          </a:xfrm>
          <a:prstGeom prst="rect">
            <a:avLst/>
          </a:prstGeom>
          <a:noFill/>
          <a:ln/>
        </p:spPr>
        <p:txBody>
          <a:bodyPr wrap="square" lIns="0" tIns="0" rIns="0" bIns="0" rtlCol="0" anchor="ctr"/>
          <a:lstStyle/>
          <a:p>
            <a:pPr algn="ctr" indent="0" marL="0">
              <a:buNone/>
            </a:pPr>
            <a:r>
              <a:rPr lang="en-US" sz="1600" b="1" dirty="0">
                <a:solidFill>
                  <a:schemeClr val="tx2"/>
                </a:solidFill>
              </a:rPr>
              <a:t>Sprint 1</a:t>
            </a:r>
            <a:endParaRPr lang="en-US" sz="1600" dirty="0"/>
          </a:p>
        </p:txBody>
      </p:sp>
      <p:sp>
        <p:nvSpPr>
          <p:cNvPr id="17" name="Text 15"/>
          <p:cNvSpPr txBox="1"/>
          <p:nvPr/>
        </p:nvSpPr>
        <p:spPr>
          <a:xfrm>
            <a:off x="0" y="5367528"/>
            <a:ext cx="2560320" cy="274320"/>
          </a:xfrm>
          <a:prstGeom prst="rect">
            <a:avLst/>
          </a:prstGeom>
          <a:noFill/>
          <a:ln/>
        </p:spPr>
        <p:txBody>
          <a:bodyPr wrap="square" lIns="0" tIns="0" rIns="0" bIns="0" rtlCol="0" anchor="ctr"/>
          <a:lstStyle/>
          <a:p>
            <a:pPr algn="ctr" indent="0" marL="0">
              <a:buNone/>
            </a:pPr>
            <a:r>
              <a:rPr lang="en-US" sz="1300" dirty="0">
                <a:solidFill>
                  <a:schemeClr val="tx1"/>
                </a:solidFill>
              </a:rPr>
              <a:t>Fri 16 Oct  ·  this talk</a:t>
            </a:r>
            <a:endParaRPr lang="en-US" sz="1300" dirty="0"/>
          </a:p>
        </p:txBody>
      </p:sp>
      <p:sp>
        <p:nvSpPr>
          <p:cNvPr id="18" name="Milestone Sprint 2"/>
          <p:cNvSpPr/>
          <p:nvPr/>
        </p:nvSpPr>
        <p:spPr>
          <a:xfrm>
            <a:off x="4178808" y="4718304"/>
            <a:ext cx="256032" cy="256032"/>
          </a:xfrm>
          <a:prstGeom prst="ellipse">
            <a:avLst/>
          </a:prstGeom>
          <a:solidFill>
            <a:schemeClr val="tx2"/>
          </a:solidFill>
          <a:ln w="25400">
            <a:solidFill>
              <a:schemeClr val="bg1"/>
            </a:solidFill>
            <a:prstDash val="solid"/>
          </a:ln>
        </p:spPr>
      </p:sp>
      <p:sp>
        <p:nvSpPr>
          <p:cNvPr id="19" name="Text 17"/>
          <p:cNvSpPr txBox="1"/>
          <p:nvPr/>
        </p:nvSpPr>
        <p:spPr>
          <a:xfrm>
            <a:off x="3200400" y="5074920"/>
            <a:ext cx="2194560" cy="292608"/>
          </a:xfrm>
          <a:prstGeom prst="rect">
            <a:avLst/>
          </a:prstGeom>
          <a:noFill/>
          <a:ln/>
        </p:spPr>
        <p:txBody>
          <a:bodyPr wrap="square" lIns="0" tIns="0" rIns="0" bIns="0" rtlCol="0" anchor="ctr"/>
          <a:lstStyle/>
          <a:p>
            <a:pPr algn="ctr" indent="0" marL="0">
              <a:buNone/>
            </a:pPr>
            <a:r>
              <a:rPr lang="en-US" sz="1600" b="1" dirty="0">
                <a:solidFill>
                  <a:schemeClr val="tx2"/>
                </a:solidFill>
              </a:rPr>
              <a:t>Sprint 2</a:t>
            </a:r>
            <a:endParaRPr lang="en-US" sz="1600" dirty="0"/>
          </a:p>
        </p:txBody>
      </p:sp>
      <p:sp>
        <p:nvSpPr>
          <p:cNvPr id="20" name="Text 18"/>
          <p:cNvSpPr txBox="1"/>
          <p:nvPr/>
        </p:nvSpPr>
        <p:spPr>
          <a:xfrm>
            <a:off x="3017520" y="5367528"/>
            <a:ext cx="2560320" cy="274320"/>
          </a:xfrm>
          <a:prstGeom prst="rect">
            <a:avLst/>
          </a:prstGeom>
          <a:noFill/>
          <a:ln/>
        </p:spPr>
        <p:txBody>
          <a:bodyPr wrap="square" lIns="0" tIns="0" rIns="0" bIns="0" rtlCol="0" anchor="ctr"/>
          <a:lstStyle/>
          <a:p>
            <a:pPr algn="ctr" indent="0" marL="0">
              <a:buNone/>
            </a:pPr>
            <a:r>
              <a:rPr lang="en-US" sz="1300" dirty="0">
                <a:solidFill>
                  <a:schemeClr val="tx1"/>
                </a:solidFill>
              </a:rPr>
              <a:t>Fri 30 Oct</a:t>
            </a:r>
            <a:endParaRPr lang="en-US" sz="1300" dirty="0"/>
          </a:p>
        </p:txBody>
      </p:sp>
      <p:sp>
        <p:nvSpPr>
          <p:cNvPr id="21" name="Milestone Sprint 3"/>
          <p:cNvSpPr/>
          <p:nvPr/>
        </p:nvSpPr>
        <p:spPr>
          <a:xfrm>
            <a:off x="7196328" y="4718304"/>
            <a:ext cx="256032" cy="256032"/>
          </a:xfrm>
          <a:prstGeom prst="ellipse">
            <a:avLst/>
          </a:prstGeom>
          <a:solidFill>
            <a:schemeClr val="tx2"/>
          </a:solidFill>
          <a:ln w="25400">
            <a:solidFill>
              <a:schemeClr val="bg1"/>
            </a:solidFill>
            <a:prstDash val="solid"/>
          </a:ln>
        </p:spPr>
      </p:sp>
      <p:sp>
        <p:nvSpPr>
          <p:cNvPr id="22" name="Text 20"/>
          <p:cNvSpPr txBox="1"/>
          <p:nvPr/>
        </p:nvSpPr>
        <p:spPr>
          <a:xfrm>
            <a:off x="6217920" y="5074920"/>
            <a:ext cx="2194560" cy="292608"/>
          </a:xfrm>
          <a:prstGeom prst="rect">
            <a:avLst/>
          </a:prstGeom>
          <a:noFill/>
          <a:ln/>
        </p:spPr>
        <p:txBody>
          <a:bodyPr wrap="square" lIns="0" tIns="0" rIns="0" bIns="0" rtlCol="0" anchor="ctr"/>
          <a:lstStyle/>
          <a:p>
            <a:pPr algn="ctr" indent="0" marL="0">
              <a:buNone/>
            </a:pPr>
            <a:r>
              <a:rPr lang="en-US" sz="1600" b="1" dirty="0">
                <a:solidFill>
                  <a:schemeClr val="tx2"/>
                </a:solidFill>
              </a:rPr>
              <a:t>Sprint 3</a:t>
            </a:r>
            <a:endParaRPr lang="en-US" sz="1600" dirty="0"/>
          </a:p>
        </p:txBody>
      </p:sp>
      <p:sp>
        <p:nvSpPr>
          <p:cNvPr id="23" name="Text 21"/>
          <p:cNvSpPr txBox="1"/>
          <p:nvPr/>
        </p:nvSpPr>
        <p:spPr>
          <a:xfrm>
            <a:off x="6035040" y="5367528"/>
            <a:ext cx="2560320" cy="274320"/>
          </a:xfrm>
          <a:prstGeom prst="rect">
            <a:avLst/>
          </a:prstGeom>
          <a:noFill/>
          <a:ln/>
        </p:spPr>
        <p:txBody>
          <a:bodyPr wrap="square" lIns="0" tIns="0" rIns="0" bIns="0" rtlCol="0" anchor="ctr"/>
          <a:lstStyle/>
          <a:p>
            <a:pPr algn="ctr" indent="0" marL="0">
              <a:buNone/>
            </a:pPr>
            <a:r>
              <a:rPr lang="en-US" sz="1300" dirty="0">
                <a:solidFill>
                  <a:schemeClr val="tx1"/>
                </a:solidFill>
              </a:rPr>
              <a:t>Fri 13 Nov</a:t>
            </a:r>
            <a:endParaRPr lang="en-US" sz="1300" dirty="0"/>
          </a:p>
        </p:txBody>
      </p:sp>
      <p:sp>
        <p:nvSpPr>
          <p:cNvPr id="24" name="Milestone Final zip"/>
          <p:cNvSpPr/>
          <p:nvPr/>
        </p:nvSpPr>
        <p:spPr>
          <a:xfrm>
            <a:off x="10213848" y="4718304"/>
            <a:ext cx="256032" cy="256032"/>
          </a:xfrm>
          <a:prstGeom prst="ellipse">
            <a:avLst/>
          </a:prstGeom>
          <a:solidFill>
            <a:schemeClr val="tx2"/>
          </a:solidFill>
          <a:ln w="25400">
            <a:solidFill>
              <a:schemeClr val="bg1"/>
            </a:solidFill>
            <a:prstDash val="solid"/>
          </a:ln>
        </p:spPr>
      </p:sp>
      <p:sp>
        <p:nvSpPr>
          <p:cNvPr id="25" name="Text 23"/>
          <p:cNvSpPr txBox="1"/>
          <p:nvPr/>
        </p:nvSpPr>
        <p:spPr>
          <a:xfrm>
            <a:off x="9235440" y="5074920"/>
            <a:ext cx="2194560" cy="292608"/>
          </a:xfrm>
          <a:prstGeom prst="rect">
            <a:avLst/>
          </a:prstGeom>
          <a:noFill/>
          <a:ln/>
        </p:spPr>
        <p:txBody>
          <a:bodyPr wrap="square" lIns="0" tIns="0" rIns="0" bIns="0" rtlCol="0" anchor="ctr"/>
          <a:lstStyle/>
          <a:p>
            <a:pPr algn="ctr" indent="0" marL="0">
              <a:buNone/>
            </a:pPr>
            <a:r>
              <a:rPr lang="en-US" sz="1600" b="1" dirty="0">
                <a:solidFill>
                  <a:schemeClr val="tx2"/>
                </a:solidFill>
              </a:rPr>
              <a:t>Final zip</a:t>
            </a:r>
            <a:endParaRPr lang="en-US" sz="1600" dirty="0"/>
          </a:p>
        </p:txBody>
      </p:sp>
      <p:sp>
        <p:nvSpPr>
          <p:cNvPr id="26" name="Text 24"/>
          <p:cNvSpPr txBox="1"/>
          <p:nvPr/>
        </p:nvSpPr>
        <p:spPr>
          <a:xfrm>
            <a:off x="9052560" y="5367528"/>
            <a:ext cx="2560320" cy="274320"/>
          </a:xfrm>
          <a:prstGeom prst="rect">
            <a:avLst/>
          </a:prstGeom>
          <a:noFill/>
          <a:ln/>
        </p:spPr>
        <p:txBody>
          <a:bodyPr wrap="square" lIns="0" tIns="0" rIns="0" bIns="0" rtlCol="0" anchor="ctr"/>
          <a:lstStyle/>
          <a:p>
            <a:pPr algn="ctr" indent="0" marL="0">
              <a:buNone/>
            </a:pPr>
            <a:r>
              <a:rPr lang="en-US" sz="1300" dirty="0">
                <a:solidFill>
                  <a:schemeClr val="tx1"/>
                </a:solidFill>
              </a:rPr>
              <a:t>Sun 15 Nov  ·  GroupNN.zip</a:t>
            </a:r>
            <a:endParaRPr lang="en-US" sz="1300" dirty="0"/>
          </a:p>
        </p:txBody>
      </p:sp>
      <p:sp>
        <p:nvSpPr>
          <p:cNvPr id="27" name="Missing info"/>
          <p:cNvSpPr txBox="1"/>
          <p:nvPr/>
        </p:nvSpPr>
        <p:spPr>
          <a:xfrm>
            <a:off x="548640" y="5806440"/>
            <a:ext cx="6766560" cy="384048"/>
          </a:xfrm>
          <a:prstGeom prst="roundRect">
            <a:avLst>
              <a:gd name="adj" fmla="val 19048"/>
            </a:avLst>
          </a:prstGeom>
          <a:solidFill>
            <a:schemeClr val="accent3">
              <a:alpha val="30000"/>
            </a:schemeClr>
          </a:solidFill>
          <a:ln w="15875">
            <a:solidFill>
              <a:schemeClr val="accent3"/>
            </a:solidFill>
            <a:prstDash val="dash"/>
          </a:ln>
        </p:spPr>
        <p:txBody>
          <a:bodyPr wrap="square" lIns="76200" tIns="76200" rIns="76200" bIns="76200" rtlCol="0" anchor="ctr"/>
          <a:lstStyle/>
          <a:p>
            <a:pPr algn="l" indent="0" marL="0">
              <a:buNone/>
            </a:pPr>
            <a:r>
              <a:rPr lang="en-US" sz="1300" b="1" dirty="0">
                <a:solidFill>
                  <a:schemeClr val="tx1"/>
                </a:solidFill>
              </a:rPr>
              <a:t>ADD: </a:t>
            </a:r>
            <a:pPr algn="l" indent="0" marL="0">
              <a:buNone/>
            </a:pPr>
            <a:r>
              <a:rPr lang="en-US" sz="1300" dirty="0">
                <a:solidFill>
                  <a:schemeClr val="tx1"/>
                </a:solidFill>
              </a:rPr>
              <a:t>what Sprint 2 and Sprint 3 will deliver, and who owns each part</a:t>
            </a:r>
            <a:endParaRPr lang="en-US" sz="13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ThreadPilot">
  <a:themeElements>
    <a:clrScheme name="ThreadPilot">
      <a:dk1>
        <a:srgbClr val="16262B"/>
      </a:dk1>
      <a:lt1>
        <a:srgbClr val="FFFFFF"/>
      </a:lt1>
      <a:dk2>
        <a:srgbClr val="14303A"/>
      </a:dk2>
      <a:lt2>
        <a:srgbClr val="EAF2F2"/>
      </a:lt2>
      <a:accent1>
        <a:srgbClr val="2E6F77"/>
      </a:accent1>
      <a:accent2>
        <a:srgbClr val="D9532B"/>
      </a:accent2>
      <a:accent3>
        <a:srgbClr val="F2B134"/>
      </a:accent3>
      <a:accent4>
        <a:srgbClr val="6B8F71"/>
      </a:accent4>
      <a:accent5>
        <a:srgbClr val="5E6E7A"/>
      </a:accent5>
      <a:accent6>
        <a:srgbClr val="A23B2A"/>
      </a:accent6>
      <a:hlink>
        <a:srgbClr val="2E6F77"/>
      </a:hlink>
      <a:folHlink>
        <a:srgbClr val="5E6E7A"/>
      </a:folHlink>
    </a:clrScheme>
    <a:fontScheme name="ThreadPilo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ThreadPilot: the General Manager's Co-Pilot (Sprint 1)</dc:title>
  <dc:subject>DSS5105 Track 1, Sprint 1 live presentation</dc:subject>
  <dc:creator>DSS5105 Track 1 team</dc:creator>
  <cp:lastModifiedBy>DSS5105 Track 1 team</cp:lastModifiedBy>
  <cp:revision>1</cp:revision>
  <dcterms:created xsi:type="dcterms:W3CDTF">2026-10-10T13:46:49Z</dcterms:created>
  <dcterms:modified xsi:type="dcterms:W3CDTF">2026-10-10T13:46:49Z</dcterms:modified>
</cp:coreProperties>
</file>