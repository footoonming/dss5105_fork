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rint 1" id="{fcb30445-5d55-d75d-b14c-09e6cc56e1c0}">
          <p14:sldIdLst>
            <p14:sldId id="256"/>
            <p14:sldId id="257"/>
            <p14:sldId id="258"/>
            <p14:sldId id="259"/>
            <p14:sldId id="260"/>
            <p14:sldId id="261"/>
            <p14:sldId id="262"/>
            <p14:sldId id="263"/>
          </p14:sldIdLst>
        </p14:section>
        <p14:section name="Backup" id="{6a382a5d-9843-1574-fecb-8307fb1405a1}">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303A"/>
                </a:solidFill>
                <a:latin typeface="+mn-lt"/>
              </a:defRPr>
            </a:pPr>
            <a:r>
              <a:rPr sz="1600" b="0" i="0" u="none" strike="noStrike">
                <a:solidFill>
                  <a:srgbClr val="14303A"/>
                </a:solidFill>
                <a:latin typeface="+mn-lt"/>
              </a:rPr>
              <a:t>First pass, 36 questions: % passed (orange = weakest)</a:t>
            </a:r>
          </a:p>
        </c:rich>
      </c:tx>
      <c:layout/>
      <c:overlay val="0"/>
    </c:title>
    <c:autoTitleDeleted val="0"/>
    <c:plotArea>
      <c:layout/>
      <c:barChart>
        <c:barDir val="bar"/>
        <c:grouping val="clustered"/>
        <c:varyColors val="0"/>
        <c:ser>
          <c:idx val="0"/>
          <c:order val="0"/>
          <c:tx>
            <c:strRef>
              <c:f>Sheet1!$B$1</c:f>
              <c:strCache>
                <c:ptCount val="1"/>
                <c:pt idx="0">
                  <c:v>Passed on first try</c:v>
                </c:pt>
              </c:strCache>
            </c:strRef>
          </c:tx>
          <c:spPr>
            <a:solidFill>
              <a:srgbClr val="2E6F77"/>
            </a:solidFill>
            <a:effectLst/>
          </c:spPr>
          <c:invertIfNegative val="0"/>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dPt>
            <c:idx val="0"/>
            <c:invertIfNegative val="0"/>
            <c:bubble3D val="0"/>
            <c:spPr>
              <a:solidFill>
                <a:srgbClr val="2E6F77"/>
              </a:solidFill>
              <a:effectLst/>
            </c:spPr>
          </c:dPt>
          <c:dPt>
            <c:idx val="1"/>
            <c:invertIfNegative val="0"/>
            <c:bubble3D val="0"/>
            <c:spPr>
              <a:solidFill>
                <a:srgbClr val="D9532B"/>
              </a:solidFill>
              <a:effectLst/>
            </c:spPr>
          </c:dPt>
          <c:dPt>
            <c:idx val="2"/>
            <c:invertIfNegative val="0"/>
            <c:bubble3D val="0"/>
            <c:spPr>
              <a:solidFill>
                <a:srgbClr val="D9532B"/>
              </a:solidFill>
              <a:effectLst/>
            </c:spPr>
          </c:dPt>
          <c:dPt>
            <c:idx val="3"/>
            <c:invertIfNegative val="0"/>
            <c:bubble3D val="0"/>
            <c:spPr>
              <a:solidFill>
                <a:srgbClr val="2E6F77"/>
              </a:solidFill>
              <a:effectLst/>
            </c:spPr>
          </c:dPt>
          <c:dPt>
            <c:idx val="4"/>
            <c:invertIfNegative val="0"/>
            <c:bubble3D val="0"/>
            <c:spPr>
              <a:solidFill>
                <a:srgbClr val="2E6F77"/>
              </a:solidFill>
              <a:effectLst/>
            </c:spPr>
          </c:dPt>
          <c:dPt>
            <c:idx val="5"/>
            <c:invertIfNegative val="0"/>
            <c:bubble3D val="0"/>
            <c:spPr>
              <a:solidFill>
                <a:srgbClr val="D9532B"/>
              </a:solidFill>
              <a:effectLst/>
            </c:spPr>
          </c:dPt>
          <c:cat>
            <c:multiLvlStrRef>
              <c:f>Sheet1!$A$2:$A$7</c:f>
              <c:multiLvlStrCache>
                <c:ptCount val="6"/>
                <c:lvl>
                  <c:pt idx="0">
                    <c:v>Facts (7/10)</c:v>
                  </c:pt>
                  <c:pt idx="1">
                    <c:v>Multi-turn (2/4)</c:v>
                  </c:pt>
                  <c:pt idx="2">
                    <c:v>Ambiguous (2/5)</c:v>
                  </c:pt>
                  <c:pt idx="3">
                    <c:v>Unanswerable (6/6)</c:v>
                  </c:pt>
                  <c:pt idx="4">
                    <c:v>Feasibility (6/6)</c:v>
                  </c:pt>
                  <c:pt idx="5">
                    <c:v>Actions (2/5)</c:v>
                  </c:pt>
                </c:lvl>
              </c:multiLvlStrCache>
            </c:multiLvlStrRef>
          </c:cat>
          <c:val>
            <c:numRef>
              <c:f>Sheet1!$B$2:$B$7</c:f>
              <c:numCache>
                <c:formatCode>General</c:formatCode>
                <c:ptCount val="6"/>
                <c:pt idx="0">
                  <c:v>70</c:v>
                </c:pt>
                <c:pt idx="1">
                  <c:v>50</c:v>
                </c:pt>
                <c:pt idx="2">
                  <c:v>40</c:v>
                </c:pt>
                <c:pt idx="3">
                  <c:v>100</c:v>
                </c:pt>
                <c:pt idx="4">
                  <c:v>100</c:v>
                </c:pt>
                <c:pt idx="5">
                  <c:v>40</c:v>
                </c:pt>
              </c:numCache>
            </c:numRef>
          </c:val>
        </c:ser>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262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The whole talk is about 4:00 when spoken, leaving about a minute before the hard stop at 5:00.
We are the Track 1 team. ThreadPilot is a co-pilot for the general manager of a knitwear factory; the picture is our real morning page on a simulated day.
[Add before presenting: group number and the sixth team member's name. Rename the file to Presentation_GroupNN_Sprint1.pptx with the two-digit group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brief gives five questions a general manager asks across a day. Today each one costs a phone call to a planner and a wait, and the answer is sometimes wrong.
Our solution is an agent the manager talks to: a morning briefing, a chat that asks when unsure and says what the data cannot answer, and actions only after a confirmation.
The value, in the brief's words, is the planner's half hour every morning plus every 'let me check and call you back'. We answer all five questions in the demo. We cannot yet show hours saved: no real manager has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manager's question goes to an orchestrating language model. It plans, picks a tool, reads the result and answers, and it remembers the order in focus.
Tools come in five kinds: retrieval, judgement, tracing, discovery and action. Read tools are read-only; the action tool goes through a human gate: preview, confirm, log.
Two rules: the model chooses the tool and words the answer, but never computes a number or writes a refusal, because code does. The demo uses the same tools with rules instead of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Live demo or this walk-through; the date picker is on 9 April, 'Simulated day 8'.
Three early wins. Left: discovery noticed all six active TrendCart orders had stopped moving while later-due orders kept moving, so the queue does not explain it. Nobody asked it to look.
Middle: 'the TrendCart order' could be any of six, so it asks. Right: the data has no prices, so no revenue; for washing it gives the size of the drop and says the log holds no causes.
This demo chat uses built-in tools, not a language model, and the planted events are in our own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We wrote 36 questions with answers computed from the CSV files. First pass, nothing fixed: 25 right, 69 percent. That is the number we stand behind. After fixes, 21 new questions with different wording gave 18.
Discovery and feasibility come from our own simulator, so they show consistency, not real-world accuracy. The live OpenAI backend has not yet been run on these 36 questions; that is our first Sprint 2 task.
(If asked: all 11 first-pass failures are analysed one by one on backup slide 11; none stated a wrong figure. The same questions now pass 36 of 36, but that is not first-pass and we do not quote it as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Five risks. A wrong number: numbers come from code, not the model, and open their source rows. A wrong action: nothing happens without confirmation, and the chat cannot change an order. Alert fatigue: one briefing a day.
Our evidence flatters us: synthetic data and questions we wrote, so teammates add blind ones. And the live model is unproven, so we run it once and report the first pass.
[Team: confirm the probability and impact ratings before presenting; they are drafted from the evidence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Five assumptions, each with how we will check it. The riskiest: that the brief's questions are what a real manager needs, that synthetic data behaves like a real factory, and that a model routes questions reliably.
As planned, Sprint 2 tests the last one; the first two need access we do not have yet, and we say so.
[Team: confirm the risk levels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Sprint 2 is about proving it, not adding features. First, run the live backend once on the 36 questions and report it as first pass. Second, each teammate adds ten blind questions. Third, bring the briefing onto the team's live data and cloud site.
Success criteria: the live result reported as it ran, at least 70 percent on blind questions against 69 on our own, no number without a source row, public links that open, and an owner for every feature.
[Team: the success criteria and the 70 percent target are a proposal drawn from the repository's own results. Agree them and add an owner to each roadmap row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the tool set.
The brief says the centre of the track is the tool set, so we specified every tool before building it: 36 entries in one table, 17 on the live backend and 19 in the dashboard chat, each with its limits. A test checks the live names against what the engine really calls.
Judgement is the one to remember: 'normal' is an explicit rule, the previous 8 same weekdays with Sundays closed, shared by the briefing, the chat and the dashboard, and a test holds them to identical numbers.
The boundaries page (docs/tool_boundaries.md) records 27 questions that could plausibly go to two tools, with the tool that must answer and the one that must not; it is generated by running the real chat, and a test re-runs it.
Stack: FastAPI, MySQL 8, a SQLite store for sessions and confirmations, the OpenAI API for understanding and wording only, and a LangChain read-only SQL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safety or alerts.
'Chase ORD-120' does not send anything. It drafts a message to the production planner, shows the worst case in plain words (one unwanted message to one colleague), and waits. Confirm, and it is logged; in this demo nothing is actually sent. The backend adds a confirmation key tied to one order and one text that expires after 15 minutes, re-reads the order before acting, and ignores a second confirmation.
Right picture: 'Delete ORD-005' is refused. The chat reads the data; it never changes an order.
On alerts: one briefing at 07:00; otherwise only the watches the manager set and a stage that missed its target three days running. A test checks docs/alert_triggers.md against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errors or about how we tested.
The course asks for at least ten failure cases, each analysed. These are the 11 questions the dashboard chat got wrong the first time: 25 of 36 right. Five fell to 'I can't answer that', five were answered by a close but wrong rule, one was a wording problem.
None stated a wrong figure. The tools were never the problem; the routing was. Fixing a case meant adding or widening a rule, never changing a calculation. That is the cost of narrow typed tools: reliable numbers, and a router that has to be taught each phrasing.
A live language model will fail differently, with classification mistakes and rate limits, so none of this analysis applies to it until we run the live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estimates or alerts.
Feasibility never answers a plain yes: it gives a date range, the bottleneck stage and the assumptions, and a follow-up like 'What about 400 pieces?' changes one input. A missing date or quantity is asked for.
Watches: confirmed with a card, evaluated once each morning against that morning's data, logged either way (fired or cleared). If the condition is no longer true, the watch clears itself. Backend reminders run on a 30-second loop and store one in-app notification when the condition is unmet; they send nothing outside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TITLE">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algn="l" indent="0" marL="0">
              <a:buNone/>
            </a:pPr>
            <a:r>
              <a:rPr lang="en-US" sz="1000" dirty="0">
                <a:solidFill>
                  <a:schemeClr val="accent5"/>
                </a:solidFill>
              </a:rPr>
              <a:t>ThreadPilot  ·  DSS5105 Track 1  ·  Sprint 1</a:t>
            </a:r>
            <a:endParaRPr lang="en-US" sz="10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188720"/>
            <a:ext cx="5669280" cy="1097280"/>
          </a:xfrm>
          <a:prstGeom prst="rect">
            <a:avLst/>
          </a:prstGeom>
          <a:noFill/>
          <a:ln/>
        </p:spPr>
        <p:txBody>
          <a:bodyPr wrap="square" lIns="0" tIns="0" rIns="0" bIns="0" rtlCol="0" anchor="ctr"/>
          <a:lstStyle/>
          <a:p>
            <a:pPr algn="l" indent="0" marL="0">
              <a:buNone/>
            </a:pPr>
            <a:r>
              <a:rPr lang="en-US" sz="6000" b="1" dirty="0">
                <a:solidFill>
                  <a:schemeClr val="bg1"/>
                </a:solidFill>
                <a:latin typeface="Cambria" pitchFamily="34" charset="0"/>
                <a:ea typeface="Cambria" pitchFamily="34" charset="-122"/>
                <a:cs typeface="Cambria" pitchFamily="34" charset="-120"/>
              </a:rPr>
              <a:t>ThreadPilot</a:t>
            </a:r>
            <a:endParaRPr lang="en-US" sz="6000" dirty="0"/>
          </a:p>
        </p:txBody>
      </p:sp>
      <p:sp>
        <p:nvSpPr>
          <p:cNvPr id="3" name="Subtitle"/>
          <p:cNvSpPr txBox="1"/>
          <p:nvPr/>
        </p:nvSpPr>
        <p:spPr>
          <a:xfrm>
            <a:off x="731520" y="2331720"/>
            <a:ext cx="5669280" cy="548640"/>
          </a:xfrm>
          <a:prstGeom prst="rect">
            <a:avLst/>
          </a:prstGeom>
          <a:noFill/>
          <a:ln/>
        </p:spPr>
        <p:txBody>
          <a:bodyPr wrap="square" lIns="0" tIns="0" rIns="0" bIns="0" rtlCol="0" anchor="ctr"/>
          <a:lstStyle/>
          <a:p>
            <a:pPr algn="l" indent="0" marL="0">
              <a:buNone/>
            </a:pPr>
            <a:r>
              <a:rPr lang="en-US" sz="2600" dirty="0">
                <a:solidFill>
                  <a:schemeClr val="bg2"/>
                </a:solidFill>
              </a:rPr>
              <a:t>The General Manager's Co-Pilot</a:t>
            </a:r>
            <a:endParaRPr lang="en-US" sz="2600" dirty="0"/>
          </a:p>
        </p:txBody>
      </p:sp>
      <p:sp>
        <p:nvSpPr>
          <p:cNvPr id="4" name="Course line"/>
          <p:cNvSpPr txBox="1"/>
          <p:nvPr/>
        </p:nvSpPr>
        <p:spPr>
          <a:xfrm>
            <a:off x="731520" y="3246120"/>
            <a:ext cx="5669280" cy="777240"/>
          </a:xfrm>
          <a:prstGeom prst="rect">
            <a:avLst/>
          </a:prstGeom>
          <a:noFill/>
          <a:ln/>
        </p:spPr>
        <p:txBody>
          <a:bodyPr wrap="square" lIns="0" tIns="0" rIns="0" bIns="0" rtlCol="0" anchor="t"/>
          <a:lstStyle/>
          <a:p>
            <a:pPr algn="l" indent="0" marL="0">
              <a:spcAft>
                <a:spcPts val="400"/>
              </a:spcAft>
              <a:buNone/>
            </a:pPr>
            <a:r>
              <a:rPr lang="en-US" sz="1800" dirty="0">
                <a:solidFill>
                  <a:schemeClr val="bg1"/>
                </a:solidFill>
              </a:rPr>
              <a:t>DSS5105 Capstone  ·  Track 1</a:t>
            </a:r>
            <a:endParaRPr lang="en-US" sz="1800" dirty="0"/>
          </a:p>
          <a:p>
            <a:pPr algn="l" indent="0" marL="0">
              <a:spcAft>
                <a:spcPts val="400"/>
              </a:spcAft>
              <a:buNone/>
            </a:pPr>
            <a:r>
              <a:rPr lang="en-US" sz="1800" dirty="0">
                <a:solidFill>
                  <a:schemeClr val="bg1"/>
                </a:solidFill>
              </a:rPr>
              <a:t>Sprint 1 live presentation  ·  Friday 16 October 2026</a:t>
            </a:r>
            <a:endParaRPr lang="en-US" sz="1800" dirty="0"/>
          </a:p>
        </p:txBody>
      </p:sp>
      <p:sp>
        <p:nvSpPr>
          <p:cNvPr id="5" name="Team"/>
          <p:cNvSpPr txBox="1"/>
          <p:nvPr/>
        </p:nvSpPr>
        <p:spPr>
          <a:xfrm>
            <a:off x="731520" y="4251960"/>
            <a:ext cx="5669280" cy="685800"/>
          </a:xfrm>
          <a:prstGeom prst="rect">
            <a:avLst/>
          </a:prstGeom>
          <a:noFill/>
          <a:ln/>
        </p:spPr>
        <p:txBody>
          <a:bodyPr wrap="square" lIns="0" tIns="0" rIns="0" bIns="0" rtlCol="0" anchor="t"/>
          <a:lstStyle/>
          <a:p>
            <a:pPr algn="l" indent="0" marL="0">
              <a:buNone/>
            </a:pPr>
            <a:r>
              <a:rPr lang="en-US" sz="1600" dirty="0">
                <a:solidFill>
                  <a:schemeClr val="bg2"/>
                </a:solidFill>
              </a:rPr>
              <a:t>Matthew  ·  LIU JING  ·  Kevin Royce Thomson</a:t>
            </a:r>
            <a:endParaRPr lang="en-US" sz="1600" dirty="0"/>
          </a:p>
          <a:p>
            <a:pPr algn="l" indent="0" marL="0">
              <a:buNone/>
            </a:pPr>
            <a:r>
              <a:rPr lang="en-US" sz="1600" dirty="0">
                <a:solidFill>
                  <a:schemeClr val="bg2"/>
                </a:solidFill>
              </a:rPr>
              <a:t>Anqi Lin  ·  Wendy</a:t>
            </a:r>
            <a:endParaRPr lang="en-US" sz="1600" dirty="0"/>
          </a:p>
        </p:txBody>
      </p:sp>
      <p:sp>
        <p:nvSpPr>
          <p:cNvPr id="6" name="Missing info"/>
          <p:cNvSpPr txBox="1"/>
          <p:nvPr/>
        </p:nvSpPr>
        <p:spPr>
          <a:xfrm>
            <a:off x="731520" y="5074920"/>
            <a:ext cx="5486400" cy="384048"/>
          </a:xfrm>
          <a:prstGeom prst="roundRect">
            <a:avLst>
              <a:gd name="adj" fmla="val 19048"/>
            </a:avLst>
          </a:prstGeom>
          <a:solidFill>
            <a:schemeClr val="accent3"/>
          </a:solidFill>
          <a:ln w="15875">
            <a:solidFill>
              <a:schemeClr val="bg1"/>
            </a:solidFill>
            <a:prstDash val="dash"/>
          </a:ln>
        </p:spPr>
        <p:txBody>
          <a:bodyPr wrap="square" lIns="76200" tIns="76200" rIns="76200" bIns="76200" rtlCol="0" anchor="ctr"/>
          <a:lstStyle/>
          <a:p>
            <a:pPr algn="l" indent="0" marL="0">
              <a:buNone/>
            </a:pPr>
            <a:r>
              <a:rPr lang="en-US" sz="1300" b="1" dirty="0">
                <a:solidFill>
                  <a:schemeClr val="tx1"/>
                </a:solidFill>
              </a:rPr>
              <a:t>ADD: </a:t>
            </a:r>
            <a:pPr algn="l" indent="0" marL="0">
              <a:buNone/>
            </a:pPr>
            <a:r>
              <a:rPr lang="en-US" sz="1300" dirty="0">
                <a:solidFill>
                  <a:schemeClr val="tx1"/>
                </a:solidFill>
              </a:rPr>
              <a:t>sixth team member's name and the group number</a:t>
            </a:r>
            <a:endParaRPr lang="en-US" sz="1300" dirty="0"/>
          </a:p>
        </p:txBody>
      </p:sp>
      <p:sp>
        <p:nvSpPr>
          <p:cNvPr id="7" name="Hero screenshot frame"/>
          <p:cNvSpPr/>
          <p:nvPr/>
        </p:nvSpPr>
        <p:spPr>
          <a:xfrm>
            <a:off x="6675120" y="1371600"/>
            <a:ext cx="5120640" cy="3470434"/>
          </a:xfrm>
          <a:prstGeom prst="roundRect">
            <a:avLst>
              <a:gd name="adj" fmla="val 158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8" name="Hero screenshot" descr="The ThreadPilot morning page on Thursday 9 April 2026: three-line summary, order health and KPI cards">    </p:cNvPr>
          <p:cNvPicPr>
            <a:picLocks noChangeAspect="1"/>
          </p:cNvPicPr>
          <p:nvPr/>
        </p:nvPicPr>
        <p:blipFill>
          <a:blip r:embed="rId1"/>
          <a:stretch>
            <a:fillRect/>
          </a:stretch>
        </p:blipFill>
        <p:spPr>
          <a:xfrm>
            <a:off x="6720840" y="1417320"/>
            <a:ext cx="5029200" cy="3378994"/>
          </a:xfrm>
          <a:prstGeom prst="rect">
            <a:avLst/>
          </a:prstGeom>
        </p:spPr>
      </p:pic>
      <p:sp>
        <p:nvSpPr>
          <p:cNvPr id="9" name="Screenshot caption"/>
          <p:cNvSpPr txBox="1"/>
          <p:nvPr/>
        </p:nvSpPr>
        <p:spPr>
          <a:xfrm>
            <a:off x="6720840" y="4960906"/>
            <a:ext cx="5029200" cy="292608"/>
          </a:xfrm>
          <a:prstGeom prst="rect">
            <a:avLst/>
          </a:prstGeom>
          <a:noFill/>
          <a:ln/>
        </p:spPr>
        <p:txBody>
          <a:bodyPr wrap="square" lIns="0" tIns="0" rIns="0" bIns="0" rtlCol="0" anchor="t"/>
          <a:lstStyle/>
          <a:p>
            <a:pPr algn="l" indent="0" marL="0">
              <a:buNone/>
            </a:pPr>
            <a:r>
              <a:rPr lang="en-US" sz="1200" dirty="0">
                <a:solidFill>
                  <a:schemeClr val="bg2"/>
                </a:solidFill>
              </a:rPr>
              <a:t>The real morning page (simulated day, Thursday 9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Problem, solution and business value</a:t>
            </a:r>
            <a:endParaRPr lang="en-US" sz="3200" dirty="0"/>
          </a:p>
        </p:txBody>
      </p:sp>
      <p:sp>
        <p:nvSpPr>
          <p:cNvPr id="3" name="Problem card"/>
          <p:cNvSpPr/>
          <p:nvPr/>
        </p:nvSpPr>
        <p:spPr>
          <a:xfrm>
            <a:off x="548640" y="1325880"/>
            <a:ext cx="3514344" cy="4754880"/>
          </a:xfrm>
          <a:prstGeom prst="roundRect">
            <a:avLst>
              <a:gd name="adj" fmla="val 2602"/>
            </a:avLst>
          </a:prstGeom>
          <a:solidFill>
            <a:schemeClr val="bg2"/>
          </a:solidFill>
          <a:ln/>
        </p:spPr>
      </p:sp>
      <p:sp>
        <p:nvSpPr>
          <p:cNvPr id="4" name="Problem icon disc"/>
          <p:cNvSpPr/>
          <p:nvPr/>
        </p:nvSpPr>
        <p:spPr>
          <a:xfrm>
            <a:off x="777240" y="1527048"/>
            <a:ext cx="502920" cy="502920"/>
          </a:xfrm>
          <a:prstGeom prst="ellipse">
            <a:avLst/>
          </a:prstGeom>
          <a:solidFill>
            <a:schemeClr val="accent1"/>
          </a:solidFill>
          <a:ln w="6350">
            <a:solidFill>
              <a:schemeClr val="accent1"/>
            </a:solidFill>
            <a:prstDash val="solid"/>
          </a:ln>
        </p:spPr>
      </p:sp>
      <p:pic>
        <p:nvPicPr>
          <p:cNvPr id="5" name="Image 0" descr="Problem icon">    </p:cNvPr>
          <p:cNvPicPr>
            <a:picLocks noChangeAspect="1"/>
          </p:cNvPicPr>
          <p:nvPr/>
        </p:nvPicPr>
        <p:blipFill>
          <a:blip r:embed="rId1"/>
          <a:stretch>
            <a:fillRect/>
          </a:stretch>
        </p:blipFill>
        <p:spPr>
          <a:xfrm>
            <a:off x="914400" y="1664208"/>
            <a:ext cx="228600" cy="228600"/>
          </a:xfrm>
          <a:prstGeom prst="rect">
            <a:avLst/>
          </a:prstGeom>
        </p:spPr>
      </p:pic>
      <p:sp>
        <p:nvSpPr>
          <p:cNvPr id="6" name="Problem heading"/>
          <p:cNvSpPr txBox="1"/>
          <p:nvPr/>
        </p:nvSpPr>
        <p:spPr>
          <a:xfrm>
            <a:off x="1417320"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Problem</a:t>
            </a:r>
            <a:endParaRPr lang="en-US" sz="2200" dirty="0"/>
          </a:p>
        </p:txBody>
      </p:sp>
      <p:sp>
        <p:nvSpPr>
          <p:cNvPr id="7" name="Solution card"/>
          <p:cNvSpPr/>
          <p:nvPr/>
        </p:nvSpPr>
        <p:spPr>
          <a:xfrm>
            <a:off x="4337304" y="1325880"/>
            <a:ext cx="3514344" cy="4754880"/>
          </a:xfrm>
          <a:prstGeom prst="roundRect">
            <a:avLst>
              <a:gd name="adj" fmla="val 2602"/>
            </a:avLst>
          </a:prstGeom>
          <a:solidFill>
            <a:schemeClr val="bg2"/>
          </a:solidFill>
          <a:ln/>
        </p:spPr>
      </p:sp>
      <p:sp>
        <p:nvSpPr>
          <p:cNvPr id="8" name="Solution icon disc"/>
          <p:cNvSpPr/>
          <p:nvPr/>
        </p:nvSpPr>
        <p:spPr>
          <a:xfrm>
            <a:off x="4565904" y="1527048"/>
            <a:ext cx="502920" cy="502920"/>
          </a:xfrm>
          <a:prstGeom prst="ellipse">
            <a:avLst/>
          </a:prstGeom>
          <a:solidFill>
            <a:schemeClr val="accent1"/>
          </a:solidFill>
          <a:ln w="6350">
            <a:solidFill>
              <a:schemeClr val="accent1"/>
            </a:solidFill>
            <a:prstDash val="solid"/>
          </a:ln>
        </p:spPr>
      </p:sp>
      <p:pic>
        <p:nvPicPr>
          <p:cNvPr id="9" name="Image 1" descr="Solution icon">    </p:cNvPr>
          <p:cNvPicPr>
            <a:picLocks noChangeAspect="1"/>
          </p:cNvPicPr>
          <p:nvPr/>
        </p:nvPicPr>
        <p:blipFill>
          <a:blip r:embed="rId2"/>
          <a:stretch>
            <a:fillRect/>
          </a:stretch>
        </p:blipFill>
        <p:spPr>
          <a:xfrm>
            <a:off x="4703064" y="1664208"/>
            <a:ext cx="228600" cy="228600"/>
          </a:xfrm>
          <a:prstGeom prst="rect">
            <a:avLst/>
          </a:prstGeom>
        </p:spPr>
      </p:pic>
      <p:sp>
        <p:nvSpPr>
          <p:cNvPr id="10" name="Solution heading"/>
          <p:cNvSpPr txBox="1"/>
          <p:nvPr/>
        </p:nvSpPr>
        <p:spPr>
          <a:xfrm>
            <a:off x="5205984"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Solution</a:t>
            </a:r>
            <a:endParaRPr lang="en-US" sz="2200" dirty="0"/>
          </a:p>
        </p:txBody>
      </p:sp>
      <p:sp>
        <p:nvSpPr>
          <p:cNvPr id="11" name="Business value card"/>
          <p:cNvSpPr/>
          <p:nvPr/>
        </p:nvSpPr>
        <p:spPr>
          <a:xfrm>
            <a:off x="8125968" y="1325880"/>
            <a:ext cx="3514344" cy="4754880"/>
          </a:xfrm>
          <a:prstGeom prst="roundRect">
            <a:avLst>
              <a:gd name="adj" fmla="val 2602"/>
            </a:avLst>
          </a:prstGeom>
          <a:solidFill>
            <a:schemeClr val="bg2"/>
          </a:solidFill>
          <a:ln/>
        </p:spPr>
      </p:sp>
      <p:sp>
        <p:nvSpPr>
          <p:cNvPr id="12" name="Business value icon disc"/>
          <p:cNvSpPr/>
          <p:nvPr/>
        </p:nvSpPr>
        <p:spPr>
          <a:xfrm>
            <a:off x="8354568" y="1527048"/>
            <a:ext cx="502920" cy="502920"/>
          </a:xfrm>
          <a:prstGeom prst="ellipse">
            <a:avLst/>
          </a:prstGeom>
          <a:solidFill>
            <a:schemeClr val="accent1"/>
          </a:solidFill>
          <a:ln w="6350">
            <a:solidFill>
              <a:schemeClr val="accent1"/>
            </a:solidFill>
            <a:prstDash val="solid"/>
          </a:ln>
        </p:spPr>
      </p:sp>
      <p:pic>
        <p:nvPicPr>
          <p:cNvPr id="13" name="Image 2" descr="Business value icon">    </p:cNvPr>
          <p:cNvPicPr>
            <a:picLocks noChangeAspect="1"/>
          </p:cNvPicPr>
          <p:nvPr/>
        </p:nvPicPr>
        <p:blipFill>
          <a:blip r:embed="rId3"/>
          <a:stretch>
            <a:fillRect/>
          </a:stretch>
        </p:blipFill>
        <p:spPr>
          <a:xfrm>
            <a:off x="8491728" y="1664208"/>
            <a:ext cx="228600" cy="228600"/>
          </a:xfrm>
          <a:prstGeom prst="rect">
            <a:avLst/>
          </a:prstGeom>
        </p:spPr>
      </p:pic>
      <p:sp>
        <p:nvSpPr>
          <p:cNvPr id="14" name="Business value heading"/>
          <p:cNvSpPr txBox="1"/>
          <p:nvPr/>
        </p:nvSpPr>
        <p:spPr>
          <a:xfrm>
            <a:off x="8994648"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Business value</a:t>
            </a:r>
            <a:endParaRPr lang="en-US" sz="2200" dirty="0"/>
          </a:p>
        </p:txBody>
      </p:sp>
      <p:sp>
        <p:nvSpPr>
          <p:cNvPr id="15" name="Note"/>
          <p:cNvSpPr txBox="1"/>
          <p:nvPr/>
        </p:nvSpPr>
        <p:spPr>
          <a:xfrm>
            <a:off x="777240" y="2194560"/>
            <a:ext cx="3057144" cy="914400"/>
          </a:xfrm>
          <a:prstGeom prst="rect">
            <a:avLst/>
          </a:prstGeom>
          <a:noFill/>
          <a:ln/>
        </p:spPr>
        <p:txBody>
          <a:bodyPr wrap="square" lIns="0" tIns="0" rIns="0" bIns="0" rtlCol="0" anchor="t"/>
          <a:lstStyle/>
          <a:p>
            <a:pPr algn="l" indent="0" marL="0">
              <a:buNone/>
            </a:pPr>
            <a:r>
              <a:rPr lang="en-US" sz="1300" dirty="0">
                <a:solidFill>
                  <a:schemeClr val="tx1"/>
                </a:solidFill>
              </a:rPr>
              <a:t>A general manager runs the factory on the move and does not write SQL. Each question below costs a phone call to a planner, a wait, and an answer that is sometimes wrong.</a:t>
            </a:r>
            <a:endParaRPr lang="en-US" sz="1300" dirty="0"/>
          </a:p>
        </p:txBody>
      </p:sp>
      <p:sp>
        <p:nvSpPr>
          <p:cNvPr id="16" name="Five daily questions"/>
          <p:cNvSpPr txBox="1"/>
          <p:nvPr/>
        </p:nvSpPr>
        <p:spPr>
          <a:xfrm>
            <a:off x="777240" y="3154680"/>
            <a:ext cx="3057144" cy="2743200"/>
          </a:xfrm>
          <a:prstGeom prst="rect">
            <a:avLst/>
          </a:prstGeom>
          <a:noFill/>
          <a:ln/>
        </p:spPr>
        <p:txBody>
          <a:bodyPr wrap="square" lIns="0" tIns="0" rIns="0" bIns="0" rtlCol="0" anchor="t"/>
          <a:lstStyle/>
          <a:p>
            <a:pPr algn="l" indent="0" marL="0">
              <a:spcAft>
                <a:spcPts val="700"/>
              </a:spcAft>
              <a:buNone/>
            </a:pPr>
            <a:r>
              <a:rPr lang="en-US" sz="1300" b="1" dirty="0">
                <a:solidFill>
                  <a:schemeClr val="accent2"/>
                </a:solidFill>
              </a:rPr>
              <a:t>7:00  </a:t>
            </a:r>
            <a:pPr algn="l" indent="0" marL="0">
              <a:spcAft>
                <a:spcPts val="700"/>
              </a:spcAft>
              <a:buNone/>
            </a:pPr>
            <a:r>
              <a:rPr lang="en-US" sz="1300" dirty="0">
                <a:solidFill>
                  <a:schemeClr val="tx1"/>
                </a:solidFill>
              </a:rPr>
              <a:t>“Did anything go wrong yesterday?”</a:t>
            </a:r>
            <a:endParaRPr lang="en-US" sz="1300" dirty="0"/>
          </a:p>
          <a:p>
            <a:pPr algn="l" indent="0" marL="0">
              <a:spcAft>
                <a:spcPts val="700"/>
              </a:spcAft>
              <a:buNone/>
            </a:pPr>
            <a:r>
              <a:rPr lang="en-US" sz="1300" b="1" dirty="0">
                <a:solidFill>
                  <a:schemeClr val="accent2"/>
                </a:solidFill>
              </a:rPr>
              <a:t>9:40  </a:t>
            </a:r>
            <a:pPr algn="l" indent="0" marL="0">
              <a:spcAft>
                <a:spcPts val="700"/>
              </a:spcAft>
              <a:buNone/>
            </a:pPr>
            <a:r>
              <a:rPr lang="en-US" sz="1300" dirty="0">
                <a:solidFill>
                  <a:schemeClr val="tx1"/>
                </a:solidFill>
              </a:rPr>
              <a:t>“How is the TrendCart order doing?”</a:t>
            </a:r>
            <a:endParaRPr lang="en-US" sz="1300" dirty="0"/>
          </a:p>
          <a:p>
            <a:pPr algn="l" indent="0" marL="0">
              <a:spcAft>
                <a:spcPts val="700"/>
              </a:spcAft>
              <a:buNone/>
            </a:pPr>
            <a:r>
              <a:rPr lang="en-US" sz="1300" b="1" dirty="0">
                <a:solidFill>
                  <a:schemeClr val="accent2"/>
                </a:solidFill>
              </a:rPr>
              <a:t>11:15  </a:t>
            </a:r>
            <a:pPr algn="l" indent="0" marL="0">
              <a:spcAft>
                <a:spcPts val="700"/>
              </a:spcAft>
              <a:buNone/>
            </a:pPr>
            <a:r>
              <a:rPr lang="en-US" sz="1300" dirty="0">
                <a:solidFill>
                  <a:schemeClr val="tx1"/>
                </a:solidFill>
              </a:rPr>
              <a:t>“A customer wants 800 hoodies by the 25th. Can we take it?”</a:t>
            </a:r>
            <a:endParaRPr lang="en-US" sz="1300" dirty="0"/>
          </a:p>
          <a:p>
            <a:pPr algn="l" indent="0" marL="0">
              <a:spcAft>
                <a:spcPts val="700"/>
              </a:spcAft>
              <a:buNone/>
            </a:pPr>
            <a:r>
              <a:rPr lang="en-US" sz="1300" b="1" dirty="0">
                <a:solidFill>
                  <a:schemeClr val="accent2"/>
                </a:solidFill>
              </a:rPr>
              <a:t>14:30  </a:t>
            </a:r>
            <a:pPr algn="l" indent="0" marL="0">
              <a:spcAft>
                <a:spcPts val="700"/>
              </a:spcAft>
              <a:buNone/>
            </a:pPr>
            <a:r>
              <a:rPr lang="en-US" sz="1300" dirty="0">
                <a:solidFill>
                  <a:schemeClr val="tx1"/>
                </a:solidFill>
              </a:rPr>
              <a:t>“That order hasn't moved in a week. Chase it up.”</a:t>
            </a:r>
            <a:endParaRPr lang="en-US" sz="1300" dirty="0"/>
          </a:p>
          <a:p>
            <a:pPr algn="l" indent="0" marL="0">
              <a:spcAft>
                <a:spcPts val="700"/>
              </a:spcAft>
              <a:buNone/>
            </a:pPr>
            <a:r>
              <a:rPr lang="en-US" sz="1300" b="1" dirty="0">
                <a:solidFill>
                  <a:schemeClr val="accent2"/>
                </a:solidFill>
              </a:rPr>
              <a:t>17:00  </a:t>
            </a:r>
            <a:pPr algn="l" indent="0" marL="0">
              <a:spcAft>
                <a:spcPts val="700"/>
              </a:spcAft>
              <a:buNone/>
            </a:pPr>
            <a:r>
              <a:rPr lang="en-US" sz="1300" dirty="0">
                <a:solidFill>
                  <a:schemeClr val="tx1"/>
                </a:solidFill>
              </a:rPr>
              <a:t>“Remind me tomorrow if packing is still behind.”</a:t>
            </a:r>
            <a:endParaRPr lang="en-US" sz="1300" dirty="0"/>
          </a:p>
        </p:txBody>
      </p:sp>
      <p:sp>
        <p:nvSpPr>
          <p:cNvPr id="17" name="Note"/>
          <p:cNvSpPr txBox="1"/>
          <p:nvPr/>
        </p:nvSpPr>
        <p:spPr>
          <a:xfrm>
            <a:off x="4565904" y="2194560"/>
            <a:ext cx="3057144" cy="731520"/>
          </a:xfrm>
          <a:prstGeom prst="rect">
            <a:avLst/>
          </a:prstGeom>
          <a:noFill/>
          <a:ln/>
        </p:spPr>
        <p:txBody>
          <a:bodyPr wrap="square" lIns="0" tIns="0" rIns="0" bIns="0" rtlCol="0" anchor="t"/>
          <a:lstStyle/>
          <a:p>
            <a:pPr algn="l" indent="0" marL="0">
              <a:buNone/>
            </a:pPr>
            <a:r>
              <a:rPr lang="en-US" sz="1300" dirty="0">
                <a:solidFill>
                  <a:schemeClr val="tx1"/>
                </a:solidFill>
              </a:rPr>
              <a:t>An agent the manager talks to all day, built on a designed tool set, not a dashboard and not a chat toy.</a:t>
            </a:r>
            <a:endParaRPr lang="en-US" sz="1300" dirty="0"/>
          </a:p>
        </p:txBody>
      </p:sp>
      <p:sp>
        <p:nvSpPr>
          <p:cNvPr id="18" name="Solution points"/>
          <p:cNvSpPr txBox="1"/>
          <p:nvPr/>
        </p:nvSpPr>
        <p:spPr>
          <a:xfrm>
            <a:off x="4565904" y="3017520"/>
            <a:ext cx="3057144" cy="2926080"/>
          </a:xfrm>
          <a:prstGeom prst="rect">
            <a:avLst/>
          </a:prstGeom>
          <a:noFill/>
          <a:ln/>
        </p:spPr>
        <p:txBody>
          <a:bodyPr wrap="square" lIns="0" tIns="0" rIns="0" bIns="0" rtlCol="0" anchor="t"/>
          <a:lstStyle/>
          <a:p>
            <a:pPr algn="l" indent="0" marL="0">
              <a:spcAft>
                <a:spcPts val="700"/>
              </a:spcAft>
              <a:buNone/>
            </a:pPr>
            <a:r>
              <a:rPr lang="en-US" sz="1300" b="1" dirty="0">
                <a:solidFill>
                  <a:schemeClr val="tx2"/>
                </a:solidFill>
              </a:rPr>
              <a:t>07:00 briefing</a:t>
            </a:r>
            <a:endParaRPr lang="en-US" sz="1300" dirty="0"/>
          </a:p>
          <a:p>
            <a:pPr algn="l" indent="0" marL="0">
              <a:spcAft>
                <a:spcPts val="700"/>
              </a:spcAft>
              <a:buNone/>
            </a:pPr>
            <a:r>
              <a:rPr lang="en-US" sz="1300" dirty="0">
                <a:solidFill>
                  <a:schemeClr val="tx1"/>
                </a:solidFill>
              </a:rPr>
              <a:t>Three lines: yesterday, the top issue, what to decide.</a:t>
            </a:r>
            <a:endParaRPr lang="en-US" sz="1300" dirty="0"/>
          </a:p>
          <a:p>
            <a:pPr algn="l" indent="0" marL="0">
              <a:spcAft>
                <a:spcPts val="700"/>
              </a:spcAft>
              <a:buNone/>
            </a:pPr>
            <a:r>
              <a:rPr lang="en-US" sz="1300" b="1" dirty="0">
                <a:solidFill>
                  <a:schemeClr val="tx2"/>
                </a:solidFill>
              </a:rPr>
              <a:t>Chat that is honest</a:t>
            </a:r>
            <a:endParaRPr lang="en-US" sz="1300" dirty="0"/>
          </a:p>
          <a:p>
            <a:pPr algn="l" indent="0" marL="0">
              <a:spcAft>
                <a:spcPts val="700"/>
              </a:spcAft>
              <a:buNone/>
            </a:pPr>
            <a:r>
              <a:rPr lang="en-US" sz="1300" dirty="0">
                <a:solidFill>
                  <a:schemeClr val="tx1"/>
                </a:solidFill>
              </a:rPr>
              <a:t>Asks when unsure, remembers the order in focus, says what the data cannot answer.</a:t>
            </a:r>
            <a:endParaRPr lang="en-US" sz="1300" dirty="0"/>
          </a:p>
          <a:p>
            <a:pPr algn="l" indent="0" marL="0">
              <a:spcAft>
                <a:spcPts val="700"/>
              </a:spcAft>
              <a:buNone/>
            </a:pPr>
            <a:r>
              <a:rPr lang="en-US" sz="1300" b="1" dirty="0">
                <a:solidFill>
                  <a:schemeClr val="tx2"/>
                </a:solidFill>
              </a:rPr>
              <a:t>Actions behind a gate</a:t>
            </a:r>
            <a:endParaRPr lang="en-US" sz="1300" dirty="0"/>
          </a:p>
          <a:p>
            <a:pPr algn="l" indent="0" marL="0">
              <a:spcAft>
                <a:spcPts val="700"/>
              </a:spcAft>
              <a:buNone/>
            </a:pPr>
            <a:r>
              <a:rPr lang="en-US" sz="1300" dirty="0">
                <a:solidFill>
                  <a:schemeClr val="tx1"/>
                </a:solidFill>
              </a:rPr>
              <a:t>A chase-up, note or reminder only after preview, confirm and log.</a:t>
            </a:r>
            <a:endParaRPr lang="en-US" sz="1300" dirty="0"/>
          </a:p>
          <a:p>
            <a:pPr algn="l" indent="0" marL="0">
              <a:spcAft>
                <a:spcPts val="700"/>
              </a:spcAft>
              <a:buNone/>
            </a:pPr>
            <a:r>
              <a:rPr lang="en-US" sz="1300" b="1" dirty="0">
                <a:solidFill>
                  <a:schemeClr val="tx2"/>
                </a:solidFill>
              </a:rPr>
              <a:t>Every number traceable</a:t>
            </a:r>
            <a:endParaRPr lang="en-US" sz="1300" dirty="0"/>
          </a:p>
          <a:p>
            <a:pPr algn="l" indent="0" marL="0">
              <a:spcAft>
                <a:spcPts val="700"/>
              </a:spcAft>
              <a:buNone/>
            </a:pPr>
            <a:r>
              <a:rPr lang="en-US" sz="1300" dirty="0">
                <a:solidFill>
                  <a:schemeClr val="tx1"/>
                </a:solidFill>
              </a:rPr>
              <a:t>It opens the source rows behind it.</a:t>
            </a:r>
            <a:endParaRPr lang="en-US" sz="1300" dirty="0"/>
          </a:p>
        </p:txBody>
      </p:sp>
      <p:sp>
        <p:nvSpPr>
          <p:cNvPr id="19" name="Note"/>
          <p:cNvSpPr txBox="1"/>
          <p:nvPr/>
        </p:nvSpPr>
        <p:spPr>
          <a:xfrm>
            <a:off x="8354568" y="2194560"/>
            <a:ext cx="3057144" cy="914400"/>
          </a:xfrm>
          <a:prstGeom prst="rect">
            <a:avLst/>
          </a:prstGeom>
          <a:noFill/>
          <a:ln/>
        </p:spPr>
        <p:txBody>
          <a:bodyPr wrap="square" lIns="0" tIns="0" rIns="0" bIns="0" rtlCol="0" anchor="t"/>
          <a:lstStyle/>
          <a:p>
            <a:pPr algn="l" indent="0" marL="0">
              <a:buNone/>
            </a:pPr>
            <a:r>
              <a:rPr lang="en-US" sz="1300" dirty="0">
                <a:solidFill>
                  <a:schemeClr val="tx1"/>
                </a:solidFill>
              </a:rPr>
              <a:t>In the brief's words: the planner's half hour every morning, plus every “let me check and call you back” during the day.</a:t>
            </a:r>
            <a:endParaRPr lang="en-US" sz="1300" dirty="0"/>
          </a:p>
        </p:txBody>
      </p:sp>
      <p:sp>
        <p:nvSpPr>
          <p:cNvPr id="20" name="Stat 5 of 5"/>
          <p:cNvSpPr txBox="1"/>
          <p:nvPr/>
        </p:nvSpPr>
        <p:spPr>
          <a:xfrm>
            <a:off x="8354568" y="3200400"/>
            <a:ext cx="3057144" cy="868680"/>
          </a:xfrm>
          <a:prstGeom prst="rect">
            <a:avLst/>
          </a:prstGeom>
          <a:noFill/>
          <a:ln/>
        </p:spPr>
        <p:txBody>
          <a:bodyPr wrap="square" lIns="0" tIns="0" rIns="0" bIns="0" rtlCol="0" anchor="ctr"/>
          <a:lstStyle/>
          <a:p>
            <a:pPr algn="l" indent="0" marL="0">
              <a:buNone/>
            </a:pPr>
            <a:r>
              <a:rPr lang="en-US" sz="5400" b="1" dirty="0">
                <a:solidFill>
                  <a:schemeClr val="accent1"/>
                </a:solidFill>
                <a:latin typeface="Cambria" pitchFamily="34" charset="0"/>
                <a:ea typeface="Cambria" pitchFamily="34" charset="-122"/>
                <a:cs typeface="Cambria" pitchFamily="34" charset="-120"/>
              </a:rPr>
              <a:t>5 / 5</a:t>
            </a:r>
            <a:endParaRPr lang="en-US" sz="5400" dirty="0"/>
          </a:p>
        </p:txBody>
      </p:sp>
      <p:sp>
        <p:nvSpPr>
          <p:cNvPr id="21" name="Note"/>
          <p:cNvSpPr txBox="1"/>
          <p:nvPr/>
        </p:nvSpPr>
        <p:spPr>
          <a:xfrm>
            <a:off x="8354568" y="4069080"/>
            <a:ext cx="3057144" cy="548640"/>
          </a:xfrm>
          <a:prstGeom prst="rect">
            <a:avLst/>
          </a:prstGeom>
          <a:noFill/>
          <a:ln/>
        </p:spPr>
        <p:txBody>
          <a:bodyPr wrap="square" lIns="0" tIns="0" rIns="0" bIns="0" rtlCol="0" anchor="t"/>
          <a:lstStyle/>
          <a:p>
            <a:pPr algn="l" indent="0" marL="0">
              <a:buNone/>
            </a:pPr>
            <a:r>
              <a:rPr lang="en-US" sz="1400" dirty="0">
                <a:solidFill>
                  <a:schemeClr val="tx1"/>
                </a:solidFill>
              </a:rPr>
              <a:t>of the brief's daily questions are answered by a tool in our demo.</a:t>
            </a:r>
            <a:endParaRPr lang="en-US" sz="1400" dirty="0"/>
          </a:p>
        </p:txBody>
      </p:sp>
      <p:sp>
        <p:nvSpPr>
          <p:cNvPr id="22" name="Not measured box"/>
          <p:cNvSpPr/>
          <p:nvPr/>
        </p:nvSpPr>
        <p:spPr>
          <a:xfrm>
            <a:off x="8354568" y="4846320"/>
            <a:ext cx="3057144" cy="1005840"/>
          </a:xfrm>
          <a:prstGeom prst="roundRect">
            <a:avLst>
              <a:gd name="adj" fmla="val 7273"/>
            </a:avLst>
          </a:prstGeom>
          <a:solidFill>
            <a:schemeClr val="tx2"/>
          </a:solidFill>
          <a:ln/>
        </p:spPr>
      </p:sp>
      <p:sp>
        <p:nvSpPr>
          <p:cNvPr id="23" name="Not measured text"/>
          <p:cNvSpPr txBox="1"/>
          <p:nvPr/>
        </p:nvSpPr>
        <p:spPr>
          <a:xfrm>
            <a:off x="8491728" y="4846320"/>
            <a:ext cx="2782824" cy="1005840"/>
          </a:xfrm>
          <a:prstGeom prst="rect">
            <a:avLst/>
          </a:prstGeom>
          <a:noFill/>
          <a:ln/>
        </p:spPr>
        <p:txBody>
          <a:bodyPr wrap="square" lIns="0" tIns="0" rIns="0" bIns="0" rtlCol="0" anchor="ctr"/>
          <a:lstStyle/>
          <a:p>
            <a:pPr algn="l" indent="0" marL="0">
              <a:buNone/>
            </a:pPr>
            <a:r>
              <a:rPr lang="en-US" sz="1300" b="1" dirty="0">
                <a:solidFill>
                  <a:schemeClr val="accent3"/>
                </a:solidFill>
              </a:rPr>
              <a:t>Not measured: </a:t>
            </a:r>
            <a:pPr algn="l" indent="0" marL="0">
              <a:buNone/>
            </a:pPr>
            <a:r>
              <a:rPr lang="en-US" sz="1300" dirty="0">
                <a:solidFill>
                  <a:schemeClr val="bg1"/>
                </a:solidFill>
              </a:rPr>
              <a:t>time saved. No real general manager has used it yet, so we report no hours.</a:t>
            </a:r>
            <a:endParaRPr lang="en-US" sz="13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 an agentic LLM and its tools</a:t>
            </a:r>
            <a:endParaRPr lang="en-US" sz="3200" dirty="0"/>
          </a:p>
        </p:txBody>
      </p:sp>
      <p:sp>
        <p:nvSpPr>
          <p:cNvPr id="3" name="Column ASK"/>
          <p:cNvSpPr txBox="1"/>
          <p:nvPr/>
        </p:nvSpPr>
        <p:spPr>
          <a:xfrm>
            <a:off x="548640" y="1188720"/>
            <a:ext cx="173736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ASK</a:t>
            </a:r>
            <a:endParaRPr lang="en-US" sz="1100" dirty="0"/>
          </a:p>
        </p:txBody>
      </p:sp>
      <p:sp>
        <p:nvSpPr>
          <p:cNvPr id="4" name="Column AGENT"/>
          <p:cNvSpPr txBox="1"/>
          <p:nvPr/>
        </p:nvSpPr>
        <p:spPr>
          <a:xfrm>
            <a:off x="2926080" y="1188720"/>
            <a:ext cx="256032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AGENT</a:t>
            </a:r>
            <a:endParaRPr lang="en-US" sz="1100" dirty="0"/>
          </a:p>
        </p:txBody>
      </p:sp>
      <p:sp>
        <p:nvSpPr>
          <p:cNvPr id="5" name="Column TOOLS CALLED BY THE AGENT"/>
          <p:cNvSpPr txBox="1"/>
          <p:nvPr/>
        </p:nvSpPr>
        <p:spPr>
          <a:xfrm>
            <a:off x="6126480" y="1188720"/>
            <a:ext cx="292608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TOOLS CALLED BY THE AGENT</a:t>
            </a:r>
            <a:endParaRPr lang="en-US" sz="1100" dirty="0"/>
          </a:p>
        </p:txBody>
      </p:sp>
      <p:sp>
        <p:nvSpPr>
          <p:cNvPr id="6" name="Column DATA AND GATE"/>
          <p:cNvSpPr txBox="1"/>
          <p:nvPr/>
        </p:nvSpPr>
        <p:spPr>
          <a:xfrm>
            <a:off x="9601200" y="1188720"/>
            <a:ext cx="2039112"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DATA AND GATE</a:t>
            </a:r>
            <a:endParaRPr lang="en-US" sz="1100" dirty="0"/>
          </a:p>
        </p:txBody>
      </p:sp>
      <p:sp>
        <p:nvSpPr>
          <p:cNvPr id="7" name="Tool Retrieval"/>
          <p:cNvSpPr/>
          <p:nvPr/>
        </p:nvSpPr>
        <p:spPr>
          <a:xfrm>
            <a:off x="6126480" y="1554480"/>
            <a:ext cx="2926080" cy="731520"/>
          </a:xfrm>
          <a:prstGeom prst="roundRect">
            <a:avLst>
              <a:gd name="adj" fmla="val 10000"/>
            </a:avLst>
          </a:prstGeom>
          <a:solidFill>
            <a:schemeClr val="bg2"/>
          </a:solidFill>
          <a:ln/>
        </p:spPr>
      </p:sp>
      <p:sp>
        <p:nvSpPr>
          <p:cNvPr id="8" name="Tool icon disc Retrieval"/>
          <p:cNvSpPr/>
          <p:nvPr/>
        </p:nvSpPr>
        <p:spPr>
          <a:xfrm>
            <a:off x="6236208" y="1709928"/>
            <a:ext cx="420624" cy="420624"/>
          </a:xfrm>
          <a:prstGeom prst="ellipse">
            <a:avLst/>
          </a:prstGeom>
          <a:solidFill>
            <a:schemeClr val="accent1"/>
          </a:solidFill>
          <a:ln w="6350">
            <a:solidFill>
              <a:schemeClr val="accent1"/>
            </a:solidFill>
            <a:prstDash val="solid"/>
          </a:ln>
        </p:spPr>
      </p:sp>
      <p:pic>
        <p:nvPicPr>
          <p:cNvPr id="9" name="Image 0" descr="Retrieval icon">    </p:cNvPr>
          <p:cNvPicPr>
            <a:picLocks noChangeAspect="1"/>
          </p:cNvPicPr>
          <p:nvPr/>
        </p:nvPicPr>
        <p:blipFill>
          <a:blip r:embed="rId1"/>
          <a:stretch>
            <a:fillRect/>
          </a:stretch>
        </p:blipFill>
        <p:spPr>
          <a:xfrm>
            <a:off x="6336792" y="1810512"/>
            <a:ext cx="219456" cy="219456"/>
          </a:xfrm>
          <a:prstGeom prst="rect">
            <a:avLst/>
          </a:prstGeom>
        </p:spPr>
      </p:pic>
      <p:sp>
        <p:nvSpPr>
          <p:cNvPr id="10" name="Tool text Retrieval"/>
          <p:cNvSpPr txBox="1"/>
          <p:nvPr/>
        </p:nvSpPr>
        <p:spPr>
          <a:xfrm>
            <a:off x="6748272" y="155448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Retrieval</a:t>
            </a:r>
            <a:endParaRPr lang="en-US" sz="1400" dirty="0"/>
          </a:p>
          <a:p>
            <a:pPr algn="l" indent="0" marL="0">
              <a:buNone/>
            </a:pPr>
            <a:r>
              <a:rPr lang="en-US" sz="1100" dirty="0">
                <a:solidFill>
                  <a:schemeClr val="tx1"/>
                </a:solidFill>
              </a:rPr>
              <a:t>Typed look-ups of orders, customers and stages</a:t>
            </a:r>
            <a:endParaRPr lang="en-US" sz="1400" dirty="0"/>
          </a:p>
        </p:txBody>
      </p:sp>
      <p:sp>
        <p:nvSpPr>
          <p:cNvPr id="11" name="Tool Judgement"/>
          <p:cNvSpPr/>
          <p:nvPr/>
        </p:nvSpPr>
        <p:spPr>
          <a:xfrm>
            <a:off x="6126480" y="2377440"/>
            <a:ext cx="2926080" cy="731520"/>
          </a:xfrm>
          <a:prstGeom prst="roundRect">
            <a:avLst>
              <a:gd name="adj" fmla="val 10000"/>
            </a:avLst>
          </a:prstGeom>
          <a:solidFill>
            <a:schemeClr val="bg2"/>
          </a:solidFill>
          <a:ln/>
        </p:spPr>
      </p:sp>
      <p:sp>
        <p:nvSpPr>
          <p:cNvPr id="12" name="Tool icon disc Judgement"/>
          <p:cNvSpPr/>
          <p:nvPr/>
        </p:nvSpPr>
        <p:spPr>
          <a:xfrm>
            <a:off x="6236208" y="2532888"/>
            <a:ext cx="420624" cy="420624"/>
          </a:xfrm>
          <a:prstGeom prst="ellipse">
            <a:avLst/>
          </a:prstGeom>
          <a:solidFill>
            <a:schemeClr val="accent1"/>
          </a:solidFill>
          <a:ln w="6350">
            <a:solidFill>
              <a:schemeClr val="accent1"/>
            </a:solidFill>
            <a:prstDash val="solid"/>
          </a:ln>
        </p:spPr>
      </p:sp>
      <p:pic>
        <p:nvPicPr>
          <p:cNvPr id="13" name="Image 1" descr="Judgement icon">    </p:cNvPr>
          <p:cNvPicPr>
            <a:picLocks noChangeAspect="1"/>
          </p:cNvPicPr>
          <p:nvPr/>
        </p:nvPicPr>
        <p:blipFill>
          <a:blip r:embed="rId2"/>
          <a:stretch>
            <a:fillRect/>
          </a:stretch>
        </p:blipFill>
        <p:spPr>
          <a:xfrm>
            <a:off x="6336792" y="2633472"/>
            <a:ext cx="219456" cy="219456"/>
          </a:xfrm>
          <a:prstGeom prst="rect">
            <a:avLst/>
          </a:prstGeom>
        </p:spPr>
      </p:pic>
      <p:sp>
        <p:nvSpPr>
          <p:cNvPr id="14" name="Tool text Judgement"/>
          <p:cNvSpPr txBox="1"/>
          <p:nvPr/>
        </p:nvSpPr>
        <p:spPr>
          <a:xfrm>
            <a:off x="6748272" y="237744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Judgement</a:t>
            </a:r>
            <a:endParaRPr lang="en-US" sz="1400" dirty="0"/>
          </a:p>
          <a:p>
            <a:pPr algn="l" indent="0" marL="0">
              <a:buNone/>
            </a:pPr>
            <a:r>
              <a:rPr lang="en-US" sz="1100" dirty="0">
                <a:solidFill>
                  <a:schemeClr val="tx1"/>
                </a:solidFill>
              </a:rPr>
              <a:t>“Normal” = previous 8 same weekdays ± a band</a:t>
            </a:r>
            <a:endParaRPr lang="en-US" sz="1400" dirty="0"/>
          </a:p>
        </p:txBody>
      </p:sp>
      <p:sp>
        <p:nvSpPr>
          <p:cNvPr id="15" name="Tool Tracing"/>
          <p:cNvSpPr/>
          <p:nvPr/>
        </p:nvSpPr>
        <p:spPr>
          <a:xfrm>
            <a:off x="6126480" y="3200400"/>
            <a:ext cx="2926080" cy="731520"/>
          </a:xfrm>
          <a:prstGeom prst="roundRect">
            <a:avLst>
              <a:gd name="adj" fmla="val 10000"/>
            </a:avLst>
          </a:prstGeom>
          <a:solidFill>
            <a:schemeClr val="bg2"/>
          </a:solidFill>
          <a:ln/>
        </p:spPr>
      </p:sp>
      <p:sp>
        <p:nvSpPr>
          <p:cNvPr id="16" name="Tool icon disc Tracing"/>
          <p:cNvSpPr/>
          <p:nvPr/>
        </p:nvSpPr>
        <p:spPr>
          <a:xfrm>
            <a:off x="6236208" y="3355848"/>
            <a:ext cx="420624" cy="420624"/>
          </a:xfrm>
          <a:prstGeom prst="ellipse">
            <a:avLst/>
          </a:prstGeom>
          <a:solidFill>
            <a:schemeClr val="accent1"/>
          </a:solidFill>
          <a:ln w="6350">
            <a:solidFill>
              <a:schemeClr val="accent1"/>
            </a:solidFill>
            <a:prstDash val="solid"/>
          </a:ln>
        </p:spPr>
      </p:sp>
      <p:pic>
        <p:nvPicPr>
          <p:cNvPr id="17" name="Image 2" descr="Tracing icon">    </p:cNvPr>
          <p:cNvPicPr>
            <a:picLocks noChangeAspect="1"/>
          </p:cNvPicPr>
          <p:nvPr/>
        </p:nvPicPr>
        <p:blipFill>
          <a:blip r:embed="rId3"/>
          <a:stretch>
            <a:fillRect/>
          </a:stretch>
        </p:blipFill>
        <p:spPr>
          <a:xfrm>
            <a:off x="6336792" y="3456432"/>
            <a:ext cx="219456" cy="219456"/>
          </a:xfrm>
          <a:prstGeom prst="rect">
            <a:avLst/>
          </a:prstGeom>
        </p:spPr>
      </p:pic>
      <p:sp>
        <p:nvSpPr>
          <p:cNvPr id="18" name="Tool text Tracing"/>
          <p:cNvSpPr txBox="1"/>
          <p:nvPr/>
        </p:nvSpPr>
        <p:spPr>
          <a:xfrm>
            <a:off x="6748272" y="320040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Tracing</a:t>
            </a:r>
            <a:endParaRPr lang="en-US" sz="1400" dirty="0"/>
          </a:p>
          <a:p>
            <a:pPr algn="l" indent="0" marL="0">
              <a:buNone/>
            </a:pPr>
            <a:r>
              <a:rPr lang="en-US" sz="1100" dirty="0">
                <a:solidFill>
                  <a:schemeClr val="tx1"/>
                </a:solidFill>
              </a:rPr>
              <a:t>Every number links to its source rows</a:t>
            </a:r>
            <a:endParaRPr lang="en-US" sz="1400" dirty="0"/>
          </a:p>
        </p:txBody>
      </p:sp>
      <p:sp>
        <p:nvSpPr>
          <p:cNvPr id="19" name="Tool Discovery"/>
          <p:cNvSpPr/>
          <p:nvPr/>
        </p:nvSpPr>
        <p:spPr>
          <a:xfrm>
            <a:off x="6126480" y="4023360"/>
            <a:ext cx="2926080" cy="731520"/>
          </a:xfrm>
          <a:prstGeom prst="roundRect">
            <a:avLst>
              <a:gd name="adj" fmla="val 10000"/>
            </a:avLst>
          </a:prstGeom>
          <a:solidFill>
            <a:schemeClr val="bg2"/>
          </a:solidFill>
          <a:ln/>
        </p:spPr>
      </p:sp>
      <p:sp>
        <p:nvSpPr>
          <p:cNvPr id="20" name="Tool icon disc Discovery"/>
          <p:cNvSpPr/>
          <p:nvPr/>
        </p:nvSpPr>
        <p:spPr>
          <a:xfrm>
            <a:off x="6236208" y="4178808"/>
            <a:ext cx="420624" cy="420624"/>
          </a:xfrm>
          <a:prstGeom prst="ellipse">
            <a:avLst/>
          </a:prstGeom>
          <a:solidFill>
            <a:schemeClr val="accent1"/>
          </a:solidFill>
          <a:ln w="6350">
            <a:solidFill>
              <a:schemeClr val="accent1"/>
            </a:solidFill>
            <a:prstDash val="solid"/>
          </a:ln>
        </p:spPr>
      </p:sp>
      <p:pic>
        <p:nvPicPr>
          <p:cNvPr id="21" name="Image 3" descr="Discovery icon">    </p:cNvPr>
          <p:cNvPicPr>
            <a:picLocks noChangeAspect="1"/>
          </p:cNvPicPr>
          <p:nvPr/>
        </p:nvPicPr>
        <p:blipFill>
          <a:blip r:embed="rId4"/>
          <a:stretch>
            <a:fillRect/>
          </a:stretch>
        </p:blipFill>
        <p:spPr>
          <a:xfrm>
            <a:off x="6336792" y="4279392"/>
            <a:ext cx="219456" cy="219456"/>
          </a:xfrm>
          <a:prstGeom prst="rect">
            <a:avLst/>
          </a:prstGeom>
        </p:spPr>
      </p:pic>
      <p:sp>
        <p:nvSpPr>
          <p:cNvPr id="22" name="Tool text Discovery"/>
          <p:cNvSpPr txBox="1"/>
          <p:nvPr/>
        </p:nvSpPr>
        <p:spPr>
          <a:xfrm>
            <a:off x="6748272" y="402336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Discovery</a:t>
            </a:r>
            <a:endParaRPr lang="en-US" sz="1400" dirty="0"/>
          </a:p>
          <a:p>
            <a:pPr algn="l" indent="0" marL="0">
              <a:buNone/>
            </a:pPr>
            <a:r>
              <a:rPr lang="en-US" sz="1100" dirty="0">
                <a:solidFill>
                  <a:schemeClr val="tx1"/>
                </a:solidFill>
              </a:rPr>
              <a:t>Stalled customers, weak stages; also runs at 07:00 unasked</a:t>
            </a:r>
            <a:endParaRPr lang="en-US" sz="1400" dirty="0"/>
          </a:p>
        </p:txBody>
      </p:sp>
      <p:sp>
        <p:nvSpPr>
          <p:cNvPr id="23" name="Tool Action"/>
          <p:cNvSpPr/>
          <p:nvPr/>
        </p:nvSpPr>
        <p:spPr>
          <a:xfrm>
            <a:off x="6126480" y="4846320"/>
            <a:ext cx="2926080" cy="731520"/>
          </a:xfrm>
          <a:prstGeom prst="roundRect">
            <a:avLst>
              <a:gd name="adj" fmla="val 10000"/>
            </a:avLst>
          </a:prstGeom>
          <a:solidFill>
            <a:schemeClr val="bg2"/>
          </a:solidFill>
          <a:ln/>
        </p:spPr>
      </p:sp>
      <p:sp>
        <p:nvSpPr>
          <p:cNvPr id="24" name="Tool icon disc Action"/>
          <p:cNvSpPr/>
          <p:nvPr/>
        </p:nvSpPr>
        <p:spPr>
          <a:xfrm>
            <a:off x="6236208" y="5001768"/>
            <a:ext cx="420624" cy="420624"/>
          </a:xfrm>
          <a:prstGeom prst="ellipse">
            <a:avLst/>
          </a:prstGeom>
          <a:solidFill>
            <a:schemeClr val="accent2"/>
          </a:solidFill>
          <a:ln w="6350">
            <a:solidFill>
              <a:schemeClr val="accent2"/>
            </a:solidFill>
            <a:prstDash val="solid"/>
          </a:ln>
        </p:spPr>
      </p:sp>
      <p:pic>
        <p:nvPicPr>
          <p:cNvPr id="25" name="Image 4" descr="Action icon">    </p:cNvPr>
          <p:cNvPicPr>
            <a:picLocks noChangeAspect="1"/>
          </p:cNvPicPr>
          <p:nvPr/>
        </p:nvPicPr>
        <p:blipFill>
          <a:blip r:embed="rId5"/>
          <a:stretch>
            <a:fillRect/>
          </a:stretch>
        </p:blipFill>
        <p:spPr>
          <a:xfrm>
            <a:off x="6336792" y="5102352"/>
            <a:ext cx="219456" cy="219456"/>
          </a:xfrm>
          <a:prstGeom prst="rect">
            <a:avLst/>
          </a:prstGeom>
        </p:spPr>
      </p:pic>
      <p:sp>
        <p:nvSpPr>
          <p:cNvPr id="26" name="Tool text Action"/>
          <p:cNvSpPr txBox="1"/>
          <p:nvPr/>
        </p:nvSpPr>
        <p:spPr>
          <a:xfrm>
            <a:off x="6748272" y="484632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Action</a:t>
            </a:r>
            <a:endParaRPr lang="en-US" sz="1400" dirty="0"/>
          </a:p>
          <a:p>
            <a:pPr algn="l" indent="0" marL="0">
              <a:buNone/>
            </a:pPr>
            <a:r>
              <a:rPr lang="en-US" sz="1100" dirty="0">
                <a:solidFill>
                  <a:schemeClr val="tx1"/>
                </a:solidFill>
              </a:rPr>
              <a:t>Draft, note, reminder: never sent unconfirmed</a:t>
            </a:r>
            <a:endParaRPr lang="en-US" sz="1400" dirty="0"/>
          </a:p>
        </p:txBody>
      </p:sp>
      <p:sp>
        <p:nvSpPr>
          <p:cNvPr id="27" name="Data box"/>
          <p:cNvSpPr/>
          <p:nvPr/>
        </p:nvSpPr>
        <p:spPr>
          <a:xfrm>
            <a:off x="9601200" y="1554480"/>
            <a:ext cx="2039112" cy="3200400"/>
          </a:xfrm>
          <a:prstGeom prst="roundRect">
            <a:avLst>
              <a:gd name="adj" fmla="val 3587"/>
            </a:avLst>
          </a:prstGeom>
          <a:solidFill>
            <a:schemeClr val="tx2"/>
          </a:solidFill>
          <a:ln/>
        </p:spPr>
      </p:sp>
      <p:sp>
        <p:nvSpPr>
          <p:cNvPr id="28" name="Data text"/>
          <p:cNvSpPr txBox="1"/>
          <p:nvPr/>
        </p:nvSpPr>
        <p:spPr>
          <a:xfrm>
            <a:off x="9710928" y="1554480"/>
            <a:ext cx="1828800" cy="3200400"/>
          </a:xfrm>
          <a:prstGeom prst="rect">
            <a:avLst/>
          </a:prstGeom>
          <a:noFill/>
          <a:ln/>
        </p:spPr>
        <p:txBody>
          <a:bodyPr wrap="square" lIns="0" tIns="0" rIns="0" bIns="0" rtlCol="0" anchor="ctr"/>
          <a:lstStyle/>
          <a:p>
            <a:pPr algn="l" indent="0" marL="0">
              <a:spcAft>
                <a:spcPts val="400"/>
              </a:spcAft>
              <a:buNone/>
            </a:pPr>
            <a:r>
              <a:rPr lang="en-US" sz="1500" b="1" dirty="0">
                <a:solidFill>
                  <a:schemeClr val="accent3"/>
                </a:solidFill>
              </a:rPr>
              <a:t>Read-only data</a:t>
            </a:r>
            <a:endParaRPr lang="en-US" sz="1500" dirty="0"/>
          </a:p>
          <a:p>
            <a:pPr algn="l" indent="0" marL="0">
              <a:spcAft>
                <a:spcPts val="400"/>
              </a:spcAft>
              <a:buNone/>
            </a:pPr>
            <a:r>
              <a:rPr lang="en-US" sz="1300" dirty="0">
                <a:solidFill>
                  <a:schemeClr val="bg1"/>
                </a:solidFill>
              </a:rPr>
              <a:t>120 orders</a:t>
            </a:r>
            <a:endParaRPr lang="en-US" sz="1500" dirty="0"/>
          </a:p>
          <a:p>
            <a:pPr algn="l" indent="0" marL="0">
              <a:spcAft>
                <a:spcPts val="400"/>
              </a:spcAft>
              <a:buNone/>
            </a:pPr>
            <a:r>
              <a:rPr lang="en-US" sz="1300" dirty="0">
                <a:solidFill>
                  <a:schemeClr val="bg1"/>
                </a:solidFill>
              </a:rPr>
              <a:t>360 production-log rows</a:t>
            </a:r>
            <a:endParaRPr lang="en-US" sz="1500" dirty="0"/>
          </a:p>
          <a:p>
            <a:pPr algn="l" indent="0" marL="0">
              <a:spcAft>
                <a:spcPts val="400"/>
              </a:spcAft>
              <a:buNone/>
            </a:pPr>
            <a:r>
              <a:rPr lang="en-US" sz="1300" dirty="0">
                <a:solidFill>
                  <a:schemeClr val="bg1"/>
                </a:solidFill>
              </a:rPr>
              <a:t>8 workshops</a:t>
            </a:r>
            <a:endParaRPr lang="en-US" sz="1500" dirty="0"/>
          </a:p>
          <a:p>
            <a:pPr algn="l" indent="0" marL="0">
              <a:spcAft>
                <a:spcPts val="400"/>
              </a:spcAft>
              <a:buNone/>
            </a:pPr>
            <a:r>
              <a:rPr lang="en-US" sz="1100" dirty="0">
                <a:solidFill>
                  <a:schemeClr val="bg2"/>
                </a:solidFill>
              </a:rPr>
              <a:t>CSV files, or MySQL on the live backend</a:t>
            </a:r>
            <a:endParaRPr lang="en-US" sz="1500" dirty="0"/>
          </a:p>
        </p:txBody>
      </p:sp>
      <p:sp>
        <p:nvSpPr>
          <p:cNvPr id="29" name="Human gate box"/>
          <p:cNvSpPr/>
          <p:nvPr/>
        </p:nvSpPr>
        <p:spPr>
          <a:xfrm>
            <a:off x="9601200" y="4846320"/>
            <a:ext cx="2039112" cy="731520"/>
          </a:xfrm>
          <a:prstGeom prst="roundRect">
            <a:avLst>
              <a:gd name="adj" fmla="val 10000"/>
            </a:avLst>
          </a:prstGeom>
          <a:solidFill>
            <a:schemeClr val="accent2"/>
          </a:solidFill>
          <a:ln/>
        </p:spPr>
      </p:sp>
      <p:sp>
        <p:nvSpPr>
          <p:cNvPr id="30" name="Human gate text"/>
          <p:cNvSpPr txBox="1"/>
          <p:nvPr/>
        </p:nvSpPr>
        <p:spPr>
          <a:xfrm>
            <a:off x="9710928" y="4846320"/>
            <a:ext cx="1828800" cy="731520"/>
          </a:xfrm>
          <a:prstGeom prst="rect">
            <a:avLst/>
          </a:prstGeom>
          <a:noFill/>
          <a:ln/>
        </p:spPr>
        <p:txBody>
          <a:bodyPr wrap="square" lIns="0" tIns="0" rIns="0" bIns="0" rtlCol="0" anchor="ctr"/>
          <a:lstStyle/>
          <a:p>
            <a:pPr algn="l" indent="0" marL="0">
              <a:buNone/>
            </a:pPr>
            <a:r>
              <a:rPr lang="en-US" sz="1400" b="1" dirty="0">
                <a:solidFill>
                  <a:schemeClr val="bg1"/>
                </a:solidFill>
              </a:rPr>
              <a:t>Human gate</a:t>
            </a:r>
            <a:endParaRPr lang="en-US" sz="1400" dirty="0"/>
          </a:p>
          <a:p>
            <a:pPr algn="l" indent="0" marL="0">
              <a:buNone/>
            </a:pPr>
            <a:r>
              <a:rPr lang="en-US" sz="1200" dirty="0">
                <a:solidFill>
                  <a:schemeClr val="bg1"/>
                </a:solidFill>
              </a:rPr>
              <a:t>preview → confirm → log</a:t>
            </a:r>
            <a:endParaRPr lang="en-US" sz="1400" dirty="0"/>
          </a:p>
        </p:txBody>
      </p:sp>
      <p:sp>
        <p:nvSpPr>
          <p:cNvPr id="31" name="Manager box"/>
          <p:cNvSpPr/>
          <p:nvPr/>
        </p:nvSpPr>
        <p:spPr>
          <a:xfrm>
            <a:off x="548640" y="2514600"/>
            <a:ext cx="1737360" cy="1371600"/>
          </a:xfrm>
          <a:prstGeom prst="roundRect">
            <a:avLst>
              <a:gd name="adj" fmla="val 5333"/>
            </a:avLst>
          </a:prstGeom>
          <a:solidFill>
            <a:schemeClr val="bg2"/>
          </a:solidFill>
          <a:ln w="19050">
            <a:solidFill>
              <a:schemeClr val="accent1"/>
            </a:solidFill>
            <a:prstDash val="solid"/>
          </a:ln>
        </p:spPr>
      </p:sp>
      <p:pic>
        <p:nvPicPr>
          <p:cNvPr id="32" name="Image 5" descr="General manager icon">    </p:cNvPr>
          <p:cNvPicPr>
            <a:picLocks noChangeAspect="1"/>
          </p:cNvPicPr>
          <p:nvPr/>
        </p:nvPicPr>
        <p:blipFill>
          <a:blip r:embed="rId6"/>
          <a:stretch>
            <a:fillRect/>
          </a:stretch>
        </p:blipFill>
        <p:spPr>
          <a:xfrm>
            <a:off x="1234440" y="2651760"/>
            <a:ext cx="365760" cy="365760"/>
          </a:xfrm>
          <a:prstGeom prst="rect">
            <a:avLst/>
          </a:prstGeom>
        </p:spPr>
      </p:pic>
      <p:sp>
        <p:nvSpPr>
          <p:cNvPr id="33" name="Manager text"/>
          <p:cNvSpPr txBox="1"/>
          <p:nvPr/>
        </p:nvSpPr>
        <p:spPr>
          <a:xfrm>
            <a:off x="640080" y="3063240"/>
            <a:ext cx="1554480" cy="777240"/>
          </a:xfrm>
          <a:prstGeom prst="rect">
            <a:avLst/>
          </a:prstGeom>
          <a:noFill/>
          <a:ln/>
        </p:spPr>
        <p:txBody>
          <a:bodyPr wrap="square" lIns="0" tIns="0" rIns="0" bIns="0" rtlCol="0" anchor="t"/>
          <a:lstStyle/>
          <a:p>
            <a:pPr algn="ctr" indent="0" marL="0">
              <a:buNone/>
            </a:pPr>
            <a:r>
              <a:rPr lang="en-US" sz="1400" b="1" dirty="0">
                <a:solidFill>
                  <a:schemeClr val="tx2"/>
                </a:solidFill>
              </a:rPr>
              <a:t>General manager</a:t>
            </a:r>
            <a:endParaRPr lang="en-US" sz="1400" dirty="0"/>
          </a:p>
          <a:p>
            <a:pPr algn="ctr" indent="0" marL="0">
              <a:buNone/>
            </a:pPr>
            <a:r>
              <a:rPr lang="en-US" sz="1100" dirty="0">
                <a:solidFill>
                  <a:schemeClr val="tx1"/>
                </a:solidFill>
              </a:rPr>
              <a:t>types or speaks a question, reads the answer and its evidence</a:t>
            </a:r>
            <a:endParaRPr lang="en-US" sz="1400" dirty="0"/>
          </a:p>
        </p:txBody>
      </p:sp>
      <p:sp>
        <p:nvSpPr>
          <p:cNvPr id="34" name="Orchestrator box"/>
          <p:cNvSpPr/>
          <p:nvPr/>
        </p:nvSpPr>
        <p:spPr>
          <a:xfrm>
            <a:off x="2926080" y="2148840"/>
            <a:ext cx="2560320" cy="2103120"/>
          </a:xfrm>
          <a:prstGeom prst="roundRect">
            <a:avLst>
              <a:gd name="adj" fmla="val 4348"/>
            </a:avLst>
          </a:prstGeom>
          <a:solidFill>
            <a:schemeClr val="accent1"/>
          </a:solidFill>
          <a:ln/>
        </p:spPr>
      </p:sp>
      <p:sp>
        <p:nvSpPr>
          <p:cNvPr id="35" name="Orchestrator text"/>
          <p:cNvSpPr txBox="1"/>
          <p:nvPr/>
        </p:nvSpPr>
        <p:spPr>
          <a:xfrm>
            <a:off x="3063240" y="2240280"/>
            <a:ext cx="2286000" cy="1920240"/>
          </a:xfrm>
          <a:prstGeom prst="rect">
            <a:avLst/>
          </a:prstGeom>
          <a:noFill/>
          <a:ln/>
        </p:spPr>
        <p:txBody>
          <a:bodyPr wrap="square" lIns="0" tIns="0" rIns="0" bIns="0" rtlCol="0" anchor="ctr"/>
          <a:lstStyle/>
          <a:p>
            <a:pPr algn="l" indent="0" marL="0">
              <a:spcAft>
                <a:spcPts val="600"/>
              </a:spcAft>
              <a:buNone/>
            </a:pPr>
            <a:r>
              <a:rPr lang="en-US" sz="1700" b="1" dirty="0">
                <a:solidFill>
                  <a:schemeClr val="bg1"/>
                </a:solidFill>
              </a:rPr>
              <a:t>Orchestrator (LLM)</a:t>
            </a:r>
            <a:endParaRPr lang="en-US" sz="1700" dirty="0"/>
          </a:p>
          <a:p>
            <a:pPr algn="l" indent="0" marL="0">
              <a:spcAft>
                <a:spcPts val="600"/>
              </a:spcAft>
              <a:buNone/>
            </a:pPr>
            <a:r>
              <a:rPr lang="en-US" sz="1250" dirty="0">
                <a:solidFill>
                  <a:schemeClr val="bg1"/>
                </a:solidFill>
              </a:rPr>
              <a:t>plan → pick a tool → read the result → answer</a:t>
            </a:r>
            <a:endParaRPr lang="en-US" sz="1700" dirty="0"/>
          </a:p>
          <a:p>
            <a:pPr algn="l" indent="0" marL="0">
              <a:spcAft>
                <a:spcPts val="600"/>
              </a:spcAft>
              <a:buNone/>
            </a:pPr>
            <a:r>
              <a:rPr lang="en-US" sz="1150" dirty="0">
                <a:solidFill>
                  <a:schemeClr val="bg1"/>
                </a:solidFill>
              </a:rPr>
              <a:t>Asks when unsure. Says what the data cannot answer. Never computes a number or writes a refusal: code does.</a:t>
            </a:r>
            <a:endParaRPr lang="en-US" sz="1700" dirty="0"/>
          </a:p>
        </p:txBody>
      </p:sp>
      <p:sp>
        <p:nvSpPr>
          <p:cNvPr id="36" name="Memory box"/>
          <p:cNvSpPr/>
          <p:nvPr/>
        </p:nvSpPr>
        <p:spPr>
          <a:xfrm>
            <a:off x="2926080" y="4709160"/>
            <a:ext cx="2560320" cy="822960"/>
          </a:xfrm>
          <a:prstGeom prst="roundRect">
            <a:avLst>
              <a:gd name="adj" fmla="val 8889"/>
            </a:avLst>
          </a:prstGeom>
          <a:solidFill>
            <a:schemeClr val="bg2"/>
          </a:solidFill>
          <a:ln w="19050">
            <a:solidFill>
              <a:schemeClr val="accent1"/>
            </a:solidFill>
            <a:prstDash val="dash"/>
          </a:ln>
        </p:spPr>
      </p:sp>
      <p:sp>
        <p:nvSpPr>
          <p:cNvPr id="37" name="Memory text"/>
          <p:cNvSpPr txBox="1"/>
          <p:nvPr/>
        </p:nvSpPr>
        <p:spPr>
          <a:xfrm>
            <a:off x="3017520" y="4709160"/>
            <a:ext cx="2377440" cy="822960"/>
          </a:xfrm>
          <a:prstGeom prst="rect">
            <a:avLst/>
          </a:prstGeom>
          <a:noFill/>
          <a:ln/>
        </p:spPr>
        <p:txBody>
          <a:bodyPr wrap="square" lIns="0" tIns="0" rIns="0" bIns="0" rtlCol="0" anchor="ctr"/>
          <a:lstStyle/>
          <a:p>
            <a:pPr algn="l" indent="0" marL="0">
              <a:buNone/>
            </a:pPr>
            <a:r>
              <a:rPr lang="en-US" sz="1400" b="1" dirty="0">
                <a:solidFill>
                  <a:schemeClr val="tx2"/>
                </a:solidFill>
              </a:rPr>
              <a:t>Memory</a:t>
            </a:r>
            <a:endParaRPr lang="en-US" sz="1400" dirty="0"/>
          </a:p>
          <a:p>
            <a:pPr algn="l" indent="0" marL="0">
              <a:buNone/>
            </a:pPr>
            <a:r>
              <a:rPr lang="en-US" sz="1150" dirty="0">
                <a:solidFill>
                  <a:schemeClr val="tx1"/>
                </a:solidFill>
              </a:rPr>
              <a:t>the order in focus and any pending action</a:t>
            </a:r>
            <a:endParaRPr lang="en-US" sz="1400" dirty="0"/>
          </a:p>
        </p:txBody>
      </p:sp>
      <p:sp>
        <p:nvSpPr>
          <p:cNvPr id="38" name="Question arrow"/>
          <p:cNvSpPr/>
          <p:nvPr/>
        </p:nvSpPr>
        <p:spPr>
          <a:xfrm>
            <a:off x="2331720" y="2971800"/>
            <a:ext cx="548640" cy="0"/>
          </a:xfrm>
          <a:prstGeom prst="line">
            <a:avLst/>
          </a:prstGeom>
          <a:noFill/>
          <a:ln w="25400">
            <a:solidFill>
              <a:schemeClr val="accent5"/>
            </a:solidFill>
            <a:prstDash val="solid"/>
            <a:tailEnd type="triangle"/>
          </a:ln>
        </p:spPr>
      </p:sp>
      <p:sp>
        <p:nvSpPr>
          <p:cNvPr id="39" name="Answer arrow"/>
          <p:cNvSpPr/>
          <p:nvPr/>
        </p:nvSpPr>
        <p:spPr>
          <a:xfrm>
            <a:off x="2331720" y="3520440"/>
            <a:ext cx="548640" cy="0"/>
          </a:xfrm>
          <a:prstGeom prst="line">
            <a:avLst/>
          </a:prstGeom>
          <a:noFill/>
          <a:ln w="25400">
            <a:solidFill>
              <a:schemeClr val="accent5"/>
            </a:solidFill>
            <a:prstDash val="solid"/>
            <a:headEnd type="triangle"/>
          </a:ln>
        </p:spPr>
      </p:sp>
      <p:sp>
        <p:nvSpPr>
          <p:cNvPr id="40" name="Memory arrow"/>
          <p:cNvSpPr/>
          <p:nvPr/>
        </p:nvSpPr>
        <p:spPr>
          <a:xfrm>
            <a:off x="4206240" y="4297680"/>
            <a:ext cx="0" cy="365760"/>
          </a:xfrm>
          <a:prstGeom prst="line">
            <a:avLst/>
          </a:prstGeom>
          <a:noFill/>
          <a:ln w="25400">
            <a:solidFill>
              <a:schemeClr val="accent5"/>
            </a:solidFill>
            <a:prstDash val="solid"/>
            <a:headEnd type="triangle"/>
            <a:tailEnd type="triangle"/>
          </a:ln>
        </p:spPr>
      </p:sp>
      <p:sp>
        <p:nvSpPr>
          <p:cNvPr id="41" name="Tool call arrow"/>
          <p:cNvSpPr/>
          <p:nvPr/>
        </p:nvSpPr>
        <p:spPr>
          <a:xfrm>
            <a:off x="5532120" y="3200400"/>
            <a:ext cx="548640" cy="0"/>
          </a:xfrm>
          <a:prstGeom prst="line">
            <a:avLst/>
          </a:prstGeom>
          <a:noFill/>
          <a:ln w="25400">
            <a:solidFill>
              <a:schemeClr val="accent5"/>
            </a:solidFill>
            <a:prstDash val="solid"/>
            <a:headEnd type="triangle"/>
            <a:tailEnd type="triangle"/>
          </a:ln>
        </p:spPr>
      </p:sp>
      <p:sp>
        <p:nvSpPr>
          <p:cNvPr id="42" name="Read arrow 1"/>
          <p:cNvSpPr/>
          <p:nvPr/>
        </p:nvSpPr>
        <p:spPr>
          <a:xfrm>
            <a:off x="9098280" y="1920240"/>
            <a:ext cx="457200" cy="0"/>
          </a:xfrm>
          <a:prstGeom prst="line">
            <a:avLst/>
          </a:prstGeom>
          <a:noFill/>
          <a:ln w="19050">
            <a:solidFill>
              <a:schemeClr val="accent5"/>
            </a:solidFill>
            <a:prstDash val="solid"/>
            <a:tailEnd type="triangle"/>
          </a:ln>
        </p:spPr>
      </p:sp>
      <p:sp>
        <p:nvSpPr>
          <p:cNvPr id="43" name="Read arrow 2"/>
          <p:cNvSpPr/>
          <p:nvPr/>
        </p:nvSpPr>
        <p:spPr>
          <a:xfrm>
            <a:off x="9098280" y="2743200"/>
            <a:ext cx="457200" cy="0"/>
          </a:xfrm>
          <a:prstGeom prst="line">
            <a:avLst/>
          </a:prstGeom>
          <a:noFill/>
          <a:ln w="19050">
            <a:solidFill>
              <a:schemeClr val="accent5"/>
            </a:solidFill>
            <a:prstDash val="solid"/>
            <a:tailEnd type="triangle"/>
          </a:ln>
        </p:spPr>
      </p:sp>
      <p:sp>
        <p:nvSpPr>
          <p:cNvPr id="44" name="Read arrow 3"/>
          <p:cNvSpPr/>
          <p:nvPr/>
        </p:nvSpPr>
        <p:spPr>
          <a:xfrm>
            <a:off x="9098280" y="3566160"/>
            <a:ext cx="457200" cy="0"/>
          </a:xfrm>
          <a:prstGeom prst="line">
            <a:avLst/>
          </a:prstGeom>
          <a:noFill/>
          <a:ln w="19050">
            <a:solidFill>
              <a:schemeClr val="accent5"/>
            </a:solidFill>
            <a:prstDash val="solid"/>
            <a:tailEnd type="triangle"/>
          </a:ln>
        </p:spPr>
      </p:sp>
      <p:sp>
        <p:nvSpPr>
          <p:cNvPr id="45" name="Read arrow 4"/>
          <p:cNvSpPr/>
          <p:nvPr/>
        </p:nvSpPr>
        <p:spPr>
          <a:xfrm>
            <a:off x="9098280" y="4389120"/>
            <a:ext cx="457200" cy="0"/>
          </a:xfrm>
          <a:prstGeom prst="line">
            <a:avLst/>
          </a:prstGeom>
          <a:noFill/>
          <a:ln w="19050">
            <a:solidFill>
              <a:schemeClr val="accent5"/>
            </a:solidFill>
            <a:prstDash val="solid"/>
            <a:tailEnd type="triangle"/>
          </a:ln>
        </p:spPr>
      </p:sp>
      <p:sp>
        <p:nvSpPr>
          <p:cNvPr id="46" name="Action arrow"/>
          <p:cNvSpPr/>
          <p:nvPr/>
        </p:nvSpPr>
        <p:spPr>
          <a:xfrm>
            <a:off x="9098280" y="5212080"/>
            <a:ext cx="457200" cy="0"/>
          </a:xfrm>
          <a:prstGeom prst="line">
            <a:avLst/>
          </a:prstGeom>
          <a:noFill/>
          <a:ln w="25400">
            <a:solidFill>
              <a:schemeClr val="accent2"/>
            </a:solidFill>
            <a:prstDash val="solid"/>
            <a:tailEnd type="triangle"/>
          </a:ln>
        </p:spPr>
      </p:sp>
      <p:sp>
        <p:nvSpPr>
          <p:cNvPr id="47" name="Tool call caption"/>
          <p:cNvSpPr txBox="1"/>
          <p:nvPr/>
        </p:nvSpPr>
        <p:spPr>
          <a:xfrm>
            <a:off x="5440680" y="3273552"/>
            <a:ext cx="731520" cy="457200"/>
          </a:xfrm>
          <a:prstGeom prst="rect">
            <a:avLst/>
          </a:prstGeom>
          <a:noFill/>
          <a:ln/>
        </p:spPr>
        <p:txBody>
          <a:bodyPr wrap="square" lIns="0" tIns="0" rIns="0" bIns="0" rtlCol="0" anchor="t"/>
          <a:lstStyle/>
          <a:p>
            <a:pPr algn="ctr" indent="0" marL="0">
              <a:buNone/>
            </a:pPr>
            <a:r>
              <a:rPr lang="en-US" sz="900" dirty="0">
                <a:solidFill>
                  <a:schemeClr val="accent5"/>
                </a:solidFill>
              </a:rPr>
              <a:t>tool calls / results</a:t>
            </a:r>
            <a:endParaRPr lang="en-US" sz="900" dirty="0"/>
          </a:p>
        </p:txBody>
      </p:sp>
      <p:sp>
        <p:nvSpPr>
          <p:cNvPr id="48" name="Banner"/>
          <p:cNvSpPr/>
          <p:nvPr/>
        </p:nvSpPr>
        <p:spPr>
          <a:xfrm>
            <a:off x="548640" y="5760720"/>
            <a:ext cx="11091672" cy="530352"/>
          </a:xfrm>
          <a:prstGeom prst="roundRect">
            <a:avLst>
              <a:gd name="adj" fmla="val 13793"/>
            </a:avLst>
          </a:prstGeom>
          <a:solidFill>
            <a:schemeClr val="tx2"/>
          </a:solidFill>
          <a:ln/>
        </p:spPr>
      </p:sp>
      <p:sp>
        <p:nvSpPr>
          <p:cNvPr id="49" name="Banner text"/>
          <p:cNvSpPr txBox="1"/>
          <p:nvPr/>
        </p:nvSpPr>
        <p:spPr>
          <a:xfrm>
            <a:off x="777240" y="5760720"/>
            <a:ext cx="10698480" cy="530352"/>
          </a:xfrm>
          <a:prstGeom prst="rect">
            <a:avLst/>
          </a:prstGeom>
          <a:noFill/>
          <a:ln/>
        </p:spPr>
        <p:txBody>
          <a:bodyPr wrap="square" lIns="0" tIns="0" rIns="0" bIns="0" rtlCol="0" anchor="ctr"/>
          <a:lstStyle/>
          <a:p>
            <a:pPr algn="l" indent="0" marL="0">
              <a:buNone/>
            </a:pPr>
            <a:r>
              <a:rPr lang="en-US" sz="1400" b="1" dirty="0">
                <a:solidFill>
                  <a:schemeClr val="bg1"/>
                </a:solidFill>
              </a:rPr>
              <a:t>The model chooses the tool and words the answer. </a:t>
            </a:r>
            <a:pPr algn="l" indent="0" marL="0">
              <a:buNone/>
            </a:pPr>
            <a:r>
              <a:rPr lang="en-US" sz="1400" dirty="0">
                <a:solidFill>
                  <a:schemeClr val="bg1"/>
                </a:solidFill>
              </a:rPr>
              <a:t>Code does the arithmetic and the refusals. The demo runs the same tools with rules instead of a model; the live backend uses OpenAI and MySQL.</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Early wins: it finds, asks and admits</a:t>
            </a:r>
            <a:endParaRPr lang="en-US" sz="3200" dirty="0"/>
          </a:p>
        </p:txBody>
      </p:sp>
      <p:sp>
        <p:nvSpPr>
          <p:cNvPr id="3" name="Label"/>
          <p:cNvSpPr txBox="1"/>
          <p:nvPr/>
        </p:nvSpPr>
        <p:spPr>
          <a:xfrm>
            <a:off x="618873" y="1234440"/>
            <a:ext cx="4423144" cy="365760"/>
          </a:xfrm>
          <a:prstGeom prst="rect">
            <a:avLst/>
          </a:prstGeom>
          <a:noFill/>
          <a:ln/>
        </p:spPr>
        <p:txBody>
          <a:bodyPr wrap="square" lIns="0" tIns="0" rIns="0" bIns="0" rtlCol="0" anchor="ctr"/>
          <a:lstStyle/>
          <a:p>
            <a:pPr algn="l" indent="0" marL="0">
              <a:buNone/>
            </a:pPr>
            <a:r>
              <a:rPr lang="en-US" sz="1600" b="1" dirty="0">
                <a:solidFill>
                  <a:schemeClr val="tx2"/>
                </a:solidFill>
              </a:rPr>
              <a:t>It finds the problem itself</a:t>
            </a:r>
            <a:endParaRPr lang="en-US" sz="1600" dirty="0"/>
          </a:p>
        </p:txBody>
      </p:sp>
      <p:sp>
        <p:nvSpPr>
          <p:cNvPr id="4" name="Screenshot 1 frame"/>
          <p:cNvSpPr/>
          <p:nvPr/>
        </p:nvSpPr>
        <p:spPr>
          <a:xfrm>
            <a:off x="573153" y="1737360"/>
            <a:ext cx="4514584" cy="3063240"/>
          </a:xfrm>
          <a:prstGeom prst="roundRect">
            <a:avLst>
              <a:gd name="adj" fmla="val 179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5" name="Screenshot 1" descr="Morning page for Thursday 9 April 2026 with the three-line summary">    </p:cNvPr>
          <p:cNvPicPr>
            <a:picLocks noChangeAspect="1"/>
          </p:cNvPicPr>
          <p:nvPr/>
        </p:nvPicPr>
        <p:blipFill>
          <a:blip r:embed="rId1"/>
          <a:stretch>
            <a:fillRect/>
          </a:stretch>
        </p:blipFill>
        <p:spPr>
          <a:xfrm>
            <a:off x="618873" y="1783080"/>
            <a:ext cx="4423144" cy="2971800"/>
          </a:xfrm>
          <a:prstGeom prst="rect">
            <a:avLst/>
          </a:prstGeom>
        </p:spPr>
      </p:pic>
      <p:sp>
        <p:nvSpPr>
          <p:cNvPr id="6" name="Note"/>
          <p:cNvSpPr txBox="1"/>
          <p:nvPr/>
        </p:nvSpPr>
        <p:spPr>
          <a:xfrm>
            <a:off x="618873" y="4919472"/>
            <a:ext cx="4423144" cy="868680"/>
          </a:xfrm>
          <a:prstGeom prst="rect">
            <a:avLst/>
          </a:prstGeom>
          <a:noFill/>
          <a:ln/>
        </p:spPr>
        <p:txBody>
          <a:bodyPr wrap="square" lIns="0" tIns="0" rIns="0" bIns="0" rtlCol="0" anchor="t"/>
          <a:lstStyle/>
          <a:p>
            <a:pPr algn="l" indent="0" marL="0">
              <a:buNone/>
            </a:pPr>
            <a:r>
              <a:rPr lang="en-US" sz="1250" dirty="0">
                <a:solidFill>
                  <a:schemeClr val="tx1"/>
                </a:solidFill>
              </a:rPr>
              <a:t>All 6 active TrendCart orders stopped moving: a shared cause, not the queue. Nobody asked it to look.</a:t>
            </a:r>
            <a:endParaRPr lang="en-US" sz="1250" dirty="0"/>
          </a:p>
        </p:txBody>
      </p:sp>
      <p:sp>
        <p:nvSpPr>
          <p:cNvPr id="7" name="Label"/>
          <p:cNvSpPr txBox="1"/>
          <p:nvPr/>
        </p:nvSpPr>
        <p:spPr>
          <a:xfrm>
            <a:off x="5407777" y="1234440"/>
            <a:ext cx="3432000" cy="365760"/>
          </a:xfrm>
          <a:prstGeom prst="rect">
            <a:avLst/>
          </a:prstGeom>
          <a:noFill/>
          <a:ln/>
        </p:spPr>
        <p:txBody>
          <a:bodyPr wrap="square" lIns="0" tIns="0" rIns="0" bIns="0" rtlCol="0" anchor="ctr"/>
          <a:lstStyle/>
          <a:p>
            <a:pPr algn="l" indent="0" marL="0">
              <a:buNone/>
            </a:pPr>
            <a:r>
              <a:rPr lang="en-US" sz="1600" b="1" dirty="0">
                <a:solidFill>
                  <a:schemeClr val="tx2"/>
                </a:solidFill>
              </a:rPr>
              <a:t>It asks instead of guessing</a:t>
            </a:r>
            <a:endParaRPr lang="en-US" sz="1600" dirty="0"/>
          </a:p>
        </p:txBody>
      </p:sp>
      <p:sp>
        <p:nvSpPr>
          <p:cNvPr id="8" name="Screenshot 2 frame"/>
          <p:cNvSpPr/>
          <p:nvPr/>
        </p:nvSpPr>
        <p:spPr>
          <a:xfrm>
            <a:off x="5362057" y="1737360"/>
            <a:ext cx="3523440" cy="3063240"/>
          </a:xfrm>
          <a:prstGeom prst="roundRect">
            <a:avLst>
              <a:gd name="adj" fmla="val 179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Screenshot 2" descr="Chat: 'How is the TrendCart order doing?' answered with a question and six choices">    </p:cNvPr>
          <p:cNvPicPr>
            <a:picLocks noChangeAspect="1"/>
          </p:cNvPicPr>
          <p:nvPr/>
        </p:nvPicPr>
        <p:blipFill>
          <a:blip r:embed="rId2"/>
          <a:stretch>
            <a:fillRect/>
          </a:stretch>
        </p:blipFill>
        <p:spPr>
          <a:xfrm>
            <a:off x="5407777" y="1783080"/>
            <a:ext cx="3432000" cy="2971800"/>
          </a:xfrm>
          <a:prstGeom prst="rect">
            <a:avLst/>
          </a:prstGeom>
        </p:spPr>
      </p:pic>
      <p:sp>
        <p:nvSpPr>
          <p:cNvPr id="10" name="Note"/>
          <p:cNvSpPr txBox="1"/>
          <p:nvPr/>
        </p:nvSpPr>
        <p:spPr>
          <a:xfrm>
            <a:off x="5407777" y="4919472"/>
            <a:ext cx="3432000" cy="868680"/>
          </a:xfrm>
          <a:prstGeom prst="rect">
            <a:avLst/>
          </a:prstGeom>
          <a:noFill/>
          <a:ln/>
        </p:spPr>
        <p:txBody>
          <a:bodyPr wrap="square" lIns="0" tIns="0" rIns="0" bIns="0" rtlCol="0" anchor="t"/>
          <a:lstStyle/>
          <a:p>
            <a:pPr algn="l" indent="0" marL="0">
              <a:buNone/>
            </a:pPr>
            <a:r>
              <a:rPr lang="en-US" sz="1250" dirty="0">
                <a:solidFill>
                  <a:schemeClr val="tx1"/>
                </a:solidFill>
              </a:rPr>
              <a:t>“The TrendCart order” could be any of six, so it asks which one.</a:t>
            </a:r>
            <a:endParaRPr lang="en-US" sz="1250" dirty="0"/>
          </a:p>
        </p:txBody>
      </p:sp>
      <p:sp>
        <p:nvSpPr>
          <p:cNvPr id="11" name="Label"/>
          <p:cNvSpPr txBox="1"/>
          <p:nvPr/>
        </p:nvSpPr>
        <p:spPr>
          <a:xfrm>
            <a:off x="9205537" y="1234440"/>
            <a:ext cx="2364542" cy="365760"/>
          </a:xfrm>
          <a:prstGeom prst="rect">
            <a:avLst/>
          </a:prstGeom>
          <a:noFill/>
          <a:ln/>
        </p:spPr>
        <p:txBody>
          <a:bodyPr wrap="square" lIns="0" tIns="0" rIns="0" bIns="0" rtlCol="0" anchor="ctr"/>
          <a:lstStyle/>
          <a:p>
            <a:pPr algn="l" indent="0" marL="0">
              <a:buNone/>
            </a:pPr>
            <a:r>
              <a:rPr lang="en-US" sz="1600" b="1" dirty="0">
                <a:solidFill>
                  <a:schemeClr val="tx2"/>
                </a:solidFill>
              </a:rPr>
              <a:t>It admits what it can't know</a:t>
            </a:r>
            <a:endParaRPr lang="en-US" sz="1600" dirty="0"/>
          </a:p>
        </p:txBody>
      </p:sp>
      <p:sp>
        <p:nvSpPr>
          <p:cNvPr id="12" name="Screenshot 3 frame"/>
          <p:cNvSpPr/>
          <p:nvPr/>
        </p:nvSpPr>
        <p:spPr>
          <a:xfrm>
            <a:off x="9159817" y="1737360"/>
            <a:ext cx="2455982" cy="3063240"/>
          </a:xfrm>
          <a:prstGeom prst="roundRect">
            <a:avLst>
              <a:gd name="adj" fmla="val 2234"/>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13" name="Screenshot 3" descr="Chat: a refusal for revenue, and the size of the washing drop with a note that the log holds no causes">    </p:cNvPr>
          <p:cNvPicPr>
            <a:picLocks noChangeAspect="1"/>
          </p:cNvPicPr>
          <p:nvPr/>
        </p:nvPicPr>
        <p:blipFill>
          <a:blip r:embed="rId3"/>
          <a:stretch>
            <a:fillRect/>
          </a:stretch>
        </p:blipFill>
        <p:spPr>
          <a:xfrm>
            <a:off x="9205537" y="1783080"/>
            <a:ext cx="2364542" cy="2971800"/>
          </a:xfrm>
          <a:prstGeom prst="rect">
            <a:avLst/>
          </a:prstGeom>
        </p:spPr>
      </p:pic>
      <p:sp>
        <p:nvSpPr>
          <p:cNvPr id="14" name="Note"/>
          <p:cNvSpPr txBox="1"/>
          <p:nvPr/>
        </p:nvSpPr>
        <p:spPr>
          <a:xfrm>
            <a:off x="9205537" y="4919472"/>
            <a:ext cx="2364542" cy="868680"/>
          </a:xfrm>
          <a:prstGeom prst="rect">
            <a:avLst/>
          </a:prstGeom>
          <a:noFill/>
          <a:ln/>
        </p:spPr>
        <p:txBody>
          <a:bodyPr wrap="square" lIns="0" tIns="0" rIns="0" bIns="0" rtlCol="0" anchor="t"/>
          <a:lstStyle/>
          <a:p>
            <a:pPr algn="l" indent="0" marL="0">
              <a:buNone/>
            </a:pPr>
            <a:r>
              <a:rPr lang="en-US" sz="1250" dirty="0">
                <a:solidFill>
                  <a:schemeClr val="tx1"/>
                </a:solidFill>
              </a:rPr>
              <a:t>No prices, so no revenue. For washing: the size of the drop, not an invented cause.</a:t>
            </a:r>
            <a:endParaRPr lang="en-US" sz="1250" dirty="0"/>
          </a:p>
        </p:txBody>
      </p:sp>
      <p:sp>
        <p:nvSpPr>
          <p:cNvPr id="15" name="Found by recording"/>
          <p:cNvSpPr txBox="1"/>
          <p:nvPr/>
        </p:nvSpPr>
        <p:spPr>
          <a:xfrm>
            <a:off x="548640" y="5779008"/>
            <a:ext cx="11091672" cy="256032"/>
          </a:xfrm>
          <a:prstGeom prst="rect">
            <a:avLst/>
          </a:prstGeom>
          <a:noFill/>
          <a:ln/>
        </p:spPr>
        <p:txBody>
          <a:bodyPr wrap="square" lIns="0" tIns="0" rIns="0" bIns="0" rtlCol="0" anchor="ctr"/>
          <a:lstStyle/>
          <a:p>
            <a:pPr algn="l" indent="0" marL="0">
              <a:buNone/>
            </a:pPr>
            <a:r>
              <a:rPr lang="en-US" sz="1200" b="1" dirty="0">
                <a:solidFill>
                  <a:schemeClr val="accent2"/>
                </a:solidFill>
              </a:rPr>
              <a:t>Found by recording: </a:t>
            </a:r>
            <a:pPr algn="l" indent="0" marL="0">
              <a:buNone/>
            </a:pPr>
            <a:r>
              <a:rPr lang="en-US" sz="1200" dirty="0">
                <a:solidFill>
                  <a:schemeClr val="tx1"/>
                </a:solidFill>
              </a:rPr>
              <a:t>nine scenario scripts exposed six follow-ups that lost the thread. Fixed, and a test re-records them on every run.</a:t>
            </a:r>
            <a:endParaRPr lang="en-US" sz="1200" dirty="0"/>
          </a:p>
        </p:txBody>
      </p:sp>
      <p:sp>
        <p:nvSpPr>
          <p:cNvPr id="16" name="Demo caveat"/>
          <p:cNvSpPr txBox="1"/>
          <p:nvPr/>
        </p:nvSpPr>
        <p:spPr>
          <a:xfrm>
            <a:off x="548640" y="6053328"/>
            <a:ext cx="11091672" cy="256032"/>
          </a:xfrm>
          <a:prstGeom prst="rect">
            <a:avLst/>
          </a:prstGeom>
          <a:noFill/>
          <a:ln/>
        </p:spPr>
        <p:txBody>
          <a:bodyPr wrap="square" lIns="0" tIns="0" rIns="0" bIns="0" rtlCol="0" anchor="ctr"/>
          <a:lstStyle/>
          <a:p>
            <a:pPr algn="l" indent="0" marL="0">
              <a:buNone/>
            </a:pPr>
            <a:r>
              <a:rPr lang="en-US" sz="1100" dirty="0">
                <a:solidFill>
                  <a:schemeClr val="accent5"/>
                </a:solidFill>
              </a:rPr>
              <a:t>Demo chat: built-in tools, no language model.  Simulated data; discovery found 5 of 5 planted events, 1 to 5 days after each began.</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Measured so far: 25 of 36 right on the first try</a:t>
            </a:r>
            <a:endParaRPr lang="en-US" sz="3200" dirty="0"/>
          </a:p>
        </p:txBody>
      </p:sp>
      <p:graphicFrame>
        <p:nvGraphicFramePr>
          <p:cNvPr id="3" name="Chart 0" descr=""/>
          <p:cNvGraphicFramePr/>
          <p:nvPr/>
        </p:nvGraphicFramePr>
        <p:xfrm>
          <a:off x="548640" y="1325880"/>
          <a:ext cx="6126480" cy="4023360"/>
        </p:xfrm>
        <a:graphic xmlns:a="http://schemas.openxmlformats.org/drawingml/2006/main">
          <a:graphicData uri="http://schemas.openxmlformats.org/drawingml/2006/chart">
            <c:chart xmlns:c="http://schemas.openxmlformats.org/drawingml/2006/chart" r:id="rId1"/>
          </a:graphicData>
        </a:graphic>
      </p:graphicFrame>
      <p:sp>
        <p:nvSpPr>
          <p:cNvPr id="4" name="Stat 25 / 36"/>
          <p:cNvSpPr txBox="1"/>
          <p:nvPr/>
        </p:nvSpPr>
        <p:spPr>
          <a:xfrm>
            <a:off x="7040880" y="13258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25 / 36</a:t>
            </a:r>
            <a:endParaRPr lang="en-US" sz="3800" dirty="0"/>
          </a:p>
        </p:txBody>
      </p:sp>
      <p:sp>
        <p:nvSpPr>
          <p:cNvPr id="5" name="Stat caption 1"/>
          <p:cNvSpPr txBox="1"/>
          <p:nvPr/>
        </p:nvSpPr>
        <p:spPr>
          <a:xfrm>
            <a:off x="9098280" y="13258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first pass, nothing fixed yet (69%): the honest figure</a:t>
            </a:r>
            <a:endParaRPr lang="en-US" sz="1400" dirty="0"/>
          </a:p>
        </p:txBody>
      </p:sp>
      <p:sp>
        <p:nvSpPr>
          <p:cNvPr id="6" name="Stat 18 / 21"/>
          <p:cNvSpPr txBox="1"/>
          <p:nvPr/>
        </p:nvSpPr>
        <p:spPr>
          <a:xfrm>
            <a:off x="7040880" y="22402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18 / 21</a:t>
            </a:r>
            <a:endParaRPr lang="en-US" sz="3800" dirty="0"/>
          </a:p>
        </p:txBody>
      </p:sp>
      <p:sp>
        <p:nvSpPr>
          <p:cNvPr id="7" name="Stat caption 2"/>
          <p:cNvSpPr txBox="1"/>
          <p:nvPr/>
        </p:nvSpPr>
        <p:spPr>
          <a:xfrm>
            <a:off x="9098280" y="22402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held-out questions with new wording (86%)</a:t>
            </a:r>
            <a:endParaRPr lang="en-US" sz="1400" dirty="0"/>
          </a:p>
        </p:txBody>
      </p:sp>
      <p:sp>
        <p:nvSpPr>
          <p:cNvPr id="8" name="Stat 5 / 5"/>
          <p:cNvSpPr txBox="1"/>
          <p:nvPr/>
        </p:nvSpPr>
        <p:spPr>
          <a:xfrm>
            <a:off x="7040880" y="31546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5 / 5</a:t>
            </a:r>
            <a:endParaRPr lang="en-US" sz="3800" dirty="0"/>
          </a:p>
        </p:txBody>
      </p:sp>
      <p:sp>
        <p:nvSpPr>
          <p:cNvPr id="9" name="Stat caption 3"/>
          <p:cNvSpPr txBox="1"/>
          <p:nvPr/>
        </p:nvSpPr>
        <p:spPr>
          <a:xfrm>
            <a:off x="9098280" y="31546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planted events found by discovery, 1 to 5 days after each began</a:t>
            </a:r>
            <a:endParaRPr lang="en-US" sz="1400" dirty="0"/>
          </a:p>
        </p:txBody>
      </p:sp>
      <p:sp>
        <p:nvSpPr>
          <p:cNvPr id="10" name="Stat 14 / 14"/>
          <p:cNvSpPr txBox="1"/>
          <p:nvPr/>
        </p:nvSpPr>
        <p:spPr>
          <a:xfrm>
            <a:off x="7040880" y="40690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14 / 14</a:t>
            </a:r>
            <a:endParaRPr lang="en-US" sz="3800" dirty="0"/>
          </a:p>
        </p:txBody>
      </p:sp>
      <p:sp>
        <p:nvSpPr>
          <p:cNvPr id="11" name="Stat caption 4"/>
          <p:cNvSpPr txBox="1"/>
          <p:nvPr/>
        </p:nvSpPr>
        <p:spPr>
          <a:xfrm>
            <a:off x="9098280" y="40690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feasibility ranges that contained the real finish</a:t>
            </a:r>
            <a:endParaRPr lang="en-US" sz="1400" dirty="0"/>
          </a:p>
        </p:txBody>
      </p:sp>
      <p:sp>
        <p:nvSpPr>
          <p:cNvPr id="12" name="Stats caption"/>
          <p:cNvSpPr txBox="1"/>
          <p:nvPr/>
        </p:nvSpPr>
        <p:spPr>
          <a:xfrm>
            <a:off x="7040880" y="5029200"/>
            <a:ext cx="4617720" cy="365760"/>
          </a:xfrm>
          <a:prstGeom prst="rect">
            <a:avLst/>
          </a:prstGeom>
          <a:noFill/>
          <a:ln/>
        </p:spPr>
        <p:txBody>
          <a:bodyPr wrap="square" lIns="0" tIns="0" rIns="0" bIns="0" rtlCol="0" anchor="t"/>
          <a:lstStyle/>
          <a:p>
            <a:pPr algn="l" indent="0" marL="0">
              <a:buNone/>
            </a:pPr>
            <a:r>
              <a:rPr lang="en-US" sz="1100" dirty="0">
                <a:solidFill>
                  <a:schemeClr val="accent5"/>
                </a:solidFill>
              </a:rPr>
              <a:t>Dashboard chat. The last two come from our own simulator: internal consistency, not real-world accuracy.</a:t>
            </a:r>
            <a:endParaRPr lang="en-US" sz="1100" dirty="0"/>
          </a:p>
        </p:txBody>
      </p:sp>
      <p:sp>
        <p:nvSpPr>
          <p:cNvPr id="13" name="Banner"/>
          <p:cNvSpPr/>
          <p:nvPr/>
        </p:nvSpPr>
        <p:spPr>
          <a:xfrm>
            <a:off x="548640" y="5532120"/>
            <a:ext cx="11091672" cy="749808"/>
          </a:xfrm>
          <a:prstGeom prst="roundRect">
            <a:avLst>
              <a:gd name="adj" fmla="val 9756"/>
            </a:avLst>
          </a:prstGeom>
          <a:solidFill>
            <a:schemeClr val="tx2"/>
          </a:solidFill>
          <a:ln/>
        </p:spPr>
      </p:sp>
      <p:sp>
        <p:nvSpPr>
          <p:cNvPr id="14" name="Banner text"/>
          <p:cNvSpPr txBox="1"/>
          <p:nvPr/>
        </p:nvSpPr>
        <p:spPr>
          <a:xfrm>
            <a:off x="777240" y="5532120"/>
            <a:ext cx="10698480" cy="749808"/>
          </a:xfrm>
          <a:prstGeom prst="rect">
            <a:avLst/>
          </a:prstGeom>
          <a:noFill/>
          <a:ln/>
        </p:spPr>
        <p:txBody>
          <a:bodyPr wrap="square" lIns="0" tIns="0" rIns="0" bIns="0" rtlCol="0" anchor="ctr"/>
          <a:lstStyle/>
          <a:p>
            <a:pPr algn="l" indent="0" marL="0">
              <a:buNone/>
            </a:pPr>
            <a:r>
              <a:rPr lang="en-US" sz="1400" b="1" dirty="0">
                <a:solidFill>
                  <a:schemeClr val="accent3"/>
                </a:solidFill>
              </a:rPr>
              <a:t>Live backend (OpenAI model + MySQL): </a:t>
            </a:r>
            <a:pPr algn="l" indent="0" marL="0">
              <a:buNone/>
            </a:pPr>
            <a:r>
              <a:rPr lang="en-US" sz="1400" dirty="0">
                <a:solidFill>
                  <a:schemeClr val="bg1"/>
                </a:solidFill>
              </a:rPr>
              <a:t>36 of 45 scripted turns passed on its first full batch (7 hit rate limits). Not yet run on these 36 questions: we will run it once and report that as first pass.</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Risk assessment: five risks and how we handle them</a:t>
            </a:r>
            <a:endParaRPr lang="en-US" sz="3200" dirty="0"/>
          </a:p>
        </p:txBody>
      </p:sp>
      <p:graphicFrame>
        <p:nvGraphicFramePr>
          <p:cNvPr id="7" name="Risk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57200"/>
                <a:gridCol w="3291840"/>
                <a:gridCol w="1143000"/>
                <a:gridCol w="1005840"/>
                <a:gridCol w="5193792"/>
              </a:tblGrid>
              <a:tr h="384048">
                <a:tc>
                  <a:txBody>
                    <a:bodyPr/>
                    <a:lstStyle/>
                    <a:p>
                      <a:pPr algn="ctr" indent="0" marL="0">
                        <a:buNone/>
                      </a:pPr>
                      <a:r>
                        <a:rPr lang="en-US" sz="1300" b="1" dirty="0">
                          <a:solidFill>
                            <a:schemeClr val="bg1"/>
                          </a:solidFill>
                        </a:rPr>
                        <a: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Risk</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Probability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Impact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Mitigation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77240">
                <a:tc>
                  <a:txBody>
                    <a:bodyPr/>
                    <a:lstStyle/>
                    <a:p>
                      <a:pPr algn="ctr" indent="0" marL="0">
                        <a:buNone/>
                      </a:pPr>
                      <a:r>
                        <a:rPr lang="en-US" sz="1250" b="1"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 wrong or invented number reaches the manager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Numbers come from code, never from the model; every figure opens its source rows. First pass 25 of 36 and no answer stated a wrong figure; each failure analysed one by one.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2</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A wrong action: an unwanted chase-up, note or reminder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Low</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Preview, then a 15-minute single-use confirmation key; every action logged. The chat cannot cancel, delete or change an order.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3</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Alert fatigue: the co-pilot interrupts too often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One briefing at 07:00. Only watches the manager sets, and a stage under target 3 days running, may interrupt.</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4</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Our evidence flatters us: synthetic data, our own simulator, questions we wrote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Report first-pass figures only; teammates add at least 10 blind questions each; say in every result that predictions were checked against our own simulator.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live model and the integration are not proven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Run the live backend once on the 36 questions and report it as first pass. The demo path (same tools, rules instead of a model) is the fallback.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Rating caveat"/>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Ratings are our own judgement from the evidence in docs/evaluation.md and docs/failure_analysis.md.</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Key assumptions we still have to validate</a:t>
            </a:r>
            <a:endParaRPr lang="en-US" sz="3200" dirty="0"/>
          </a:p>
        </p:txBody>
      </p:sp>
      <p:graphicFrame>
        <p:nvGraphicFramePr>
          <p:cNvPr id="8" name="Assumption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57200"/>
                <a:gridCol w="3749040"/>
                <a:gridCol w="3291840"/>
                <a:gridCol w="1097280"/>
                <a:gridCol w="2496312"/>
              </a:tblGrid>
              <a:tr h="384048">
                <a:tc>
                  <a:txBody>
                    <a:bodyPr/>
                    <a:lstStyle/>
                    <a:p>
                      <a:pPr algn="ctr" indent="0" marL="0">
                        <a:buNone/>
                      </a:pPr>
                      <a:r>
                        <a:rPr lang="en-US" sz="1300" b="1" dirty="0">
                          <a:solidFill>
                            <a:schemeClr val="bg1"/>
                          </a:solidFill>
                        </a:rPr>
                        <a: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Assumption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Validation required</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Risk level</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Dependency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77240">
                <a:tc>
                  <a:txBody>
                    <a:bodyPr/>
                    <a:lstStyle/>
                    <a:p>
                      <a:pPr algn="ctr" indent="0" marL="0">
                        <a:buNone/>
                      </a:pPr>
                      <a:r>
                        <a:rPr lang="en-US" sz="1250" b="1"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five questions in the brief are what a real general manager needs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Ask a real manager or planner; none has used it yet</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Access to a practitioner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2</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Our rule for “normal” (previous 8 same weekdays ± a band) matches how a manager judges a day</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Review the rule with a planner against days they remember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Planner time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3</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synthetic data behaves like a real factory</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Re-run on a second business date and any real or second dataset; today every question is asked on 1 April 2026</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Data beyond the 120 provided orders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4</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A range with stated assumptions is more useful than a yes or no</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Teammates and a practitioner judge sample answers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Feasibility quality: the forecast is no better than repeating the last period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 language model can route a question to the right tool reliably enough</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Live run on the 36 questions, then teammates' blind questions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OpenAI availability and rate limits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Assumptions caveat"/>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As planned, Sprint 2 tests assumption 5. Assumptions 1 and 3 need a practitioner and a second dataset that we do not have yet.</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Sprint 2 roadmap and success criteria</a:t>
            </a:r>
            <a:endParaRPr lang="en-US" sz="3200" dirty="0"/>
          </a:p>
        </p:txBody>
      </p:sp>
      <p:graphicFrame>
        <p:nvGraphicFramePr>
          <p:cNvPr id="9" name="Roadmap tabl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828800"/>
                <a:gridCol w="868680"/>
                <a:gridCol w="868680"/>
                <a:gridCol w="3657600"/>
              </a:tblGrid>
              <a:tr h="384048">
                <a:tc>
                  <a:txBody>
                    <a:bodyPr/>
                    <a:lstStyle/>
                    <a:p>
                      <a:pPr algn="l" indent="0" marL="0">
                        <a:buNone/>
                      </a:pPr>
                      <a:r>
                        <a:rPr lang="en-US" sz="1300" b="1" dirty="0">
                          <a:solidFill>
                            <a:schemeClr val="bg1"/>
                          </a:solidFill>
                        </a:rPr>
                        <a:t>Development area</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Priority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Impact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Description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31520">
                <a:tc>
                  <a:txBody>
                    <a:bodyPr/>
                    <a:lstStyle/>
                    <a:p>
                      <a:pPr indent="0" marL="0">
                        <a:buNone/>
                      </a:pPr>
                      <a:r>
                        <a:rPr lang="en-US" sz="1250" b="1" dirty="0">
                          <a:solidFill>
                            <a:schemeClr val="tx1"/>
                          </a:solidFill>
                        </a:rPr>
                        <a:t>Live-model evaluation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Run the live backend once on the 36 questions; report it as first pass and analyse every miss.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31520">
                <a:tc>
                  <a:txBody>
                    <a:bodyPr/>
                    <a:lstStyle/>
                    <a:p>
                      <a:pPr indent="0" marL="0">
                        <a:buNone/>
                      </a:pPr>
                      <a:r>
                        <a:rPr lang="en-US" sz="1250" b="1" dirty="0">
                          <a:solidFill>
                            <a:schemeClr val="tx1"/>
                          </a:solidFill>
                        </a:rPr>
                        <a:t>Blind questions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Each teammate adds at least 10 questions, with the answer looked up in the CSV.</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31520">
                <a:tc>
                  <a:txBody>
                    <a:bodyPr/>
                    <a:lstStyle/>
                    <a:p>
                      <a:pPr indent="0" marL="0">
                        <a:buNone/>
                      </a:pPr>
                      <a:r>
                        <a:rPr lang="en-US" sz="1250" b="1" dirty="0">
                          <a:solidFill>
                            <a:schemeClr val="tx1"/>
                          </a:solidFill>
                        </a:rPr>
                        <a:t>Briefing on the live data</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Bring the 8 finding types onto MySQL and the team's cloud site (merge prepared).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31520">
                <a:tc>
                  <a:txBody>
                    <a:bodyPr/>
                    <a:lstStyle/>
                    <a:p>
                      <a:pPr indent="0" marL="0">
                        <a:buNone/>
                      </a:pPr>
                      <a:r>
                        <a:rPr lang="en-US" sz="1250" b="1" dirty="0">
                          <a:solidFill>
                            <a:schemeClr val="tx1"/>
                          </a:solidFill>
                        </a:rPr>
                        <a:t>Read-only SQL tool</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Decide whether the AI page uses it. It is built and tested, but not wired 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31520">
                <a:tc>
                  <a:txBody>
                    <a:bodyPr/>
                    <a:lstStyle/>
                    <a:p>
                      <a:pPr indent="0" marL="0">
                        <a:buNone/>
                      </a:pPr>
                      <a:r>
                        <a:rPr lang="en-US" sz="1250" b="1" dirty="0">
                          <a:solidFill>
                            <a:schemeClr val="tx1"/>
                          </a:solidFill>
                        </a:rPr>
                        <a:t>Sprint 2 video and slides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5-minute video; first slide with group number, student IDs, GitHub and demo links.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Success criteria card"/>
          <p:cNvSpPr/>
          <p:nvPr/>
        </p:nvSpPr>
        <p:spPr>
          <a:xfrm>
            <a:off x="8046720" y="1325880"/>
            <a:ext cx="3593592" cy="4041648"/>
          </a:xfrm>
          <a:prstGeom prst="roundRect">
            <a:avLst>
              <a:gd name="adj" fmla="val 2545"/>
            </a:avLst>
          </a:prstGeom>
          <a:solidFill>
            <a:schemeClr val="tx2"/>
          </a:solidFill>
          <a:ln/>
        </p:spPr>
      </p:sp>
      <p:sp>
        <p:nvSpPr>
          <p:cNvPr id="5" name="Success criteria heading"/>
          <p:cNvSpPr txBox="1"/>
          <p:nvPr/>
        </p:nvSpPr>
        <p:spPr>
          <a:xfrm>
            <a:off x="8275320" y="1417320"/>
            <a:ext cx="3136392" cy="411480"/>
          </a:xfrm>
          <a:prstGeom prst="rect">
            <a:avLst/>
          </a:prstGeom>
          <a:noFill/>
          <a:ln/>
        </p:spPr>
        <p:txBody>
          <a:bodyPr wrap="square" lIns="0" tIns="0" rIns="0" bIns="0" rtlCol="0" anchor="ctr"/>
          <a:lstStyle/>
          <a:p>
            <a:pPr algn="l" indent="0" marL="0">
              <a:buNone/>
            </a:pPr>
            <a:r>
              <a:rPr lang="en-US" sz="1800" b="1" dirty="0">
                <a:solidFill>
                  <a:schemeClr val="bg1"/>
                </a:solidFill>
              </a:rPr>
              <a:t>Sprint 2 success criteria</a:t>
            </a:r>
            <a:endParaRPr lang="en-US" sz="1800" dirty="0"/>
          </a:p>
        </p:txBody>
      </p:sp>
      <p:sp>
        <p:nvSpPr>
          <p:cNvPr id="6" name="Success criteria focus"/>
          <p:cNvSpPr txBox="1"/>
          <p:nvPr/>
        </p:nvSpPr>
        <p:spPr>
          <a:xfrm>
            <a:off x="8275320" y="1828800"/>
            <a:ext cx="3136392" cy="320040"/>
          </a:xfrm>
          <a:prstGeom prst="rect">
            <a:avLst/>
          </a:prstGeom>
          <a:noFill/>
          <a:ln/>
        </p:spPr>
        <p:txBody>
          <a:bodyPr wrap="square" lIns="0" tIns="0" rIns="0" bIns="0" rtlCol="0" anchor="ctr"/>
          <a:lstStyle/>
          <a:p>
            <a:pPr algn="l" indent="0" marL="0">
              <a:buNone/>
            </a:pPr>
            <a:r>
              <a:rPr lang="en-US" sz="1200" i="1" dirty="0">
                <a:solidFill>
                  <a:schemeClr val="accent3"/>
                </a:solidFill>
              </a:rPr>
              <a:t>Focus: prove it on questions we did not write.</a:t>
            </a:r>
            <a:endParaRPr lang="en-US" sz="1200" dirty="0"/>
          </a:p>
        </p:txBody>
      </p:sp>
      <p:sp>
        <p:nvSpPr>
          <p:cNvPr id="7" name="Success criteria list"/>
          <p:cNvSpPr txBox="1"/>
          <p:nvPr/>
        </p:nvSpPr>
        <p:spPr>
          <a:xfrm>
            <a:off x="8275320" y="2286000"/>
            <a:ext cx="3136392" cy="2971800"/>
          </a:xfrm>
          <a:prstGeom prst="rect">
            <a:avLst/>
          </a:prstGeom>
          <a:noFill/>
          <a:ln/>
        </p:spPr>
        <p:txBody>
          <a:bodyPr wrap="square" lIns="0" tIns="0" rIns="0" bIns="0" rtlCol="0" anchor="t"/>
          <a:lstStyle/>
          <a:p>
            <a:pPr algn="l" marL="177800" indent="-177800">
              <a:spcAft>
                <a:spcPts val="1100"/>
              </a:spcAft>
              <a:buSzPct val="100000"/>
              <a:buChar char="•"/>
            </a:pPr>
            <a:r>
              <a:rPr lang="en-US" sz="1400" dirty="0">
                <a:solidFill>
                  <a:schemeClr val="bg1"/>
                </a:solidFill>
              </a:rPr>
              <a:t>Live first pass reported as run, with every miss analysed</a:t>
            </a:r>
            <a:endParaRPr lang="en-US" sz="1400" dirty="0"/>
          </a:p>
          <a:p>
            <a:pPr algn="l" marL="177800" indent="-177800">
              <a:spcAft>
                <a:spcPts val="1100"/>
              </a:spcAft>
              <a:buSzPct val="100000"/>
              <a:buChar char="•"/>
            </a:pPr>
            <a:r>
              <a:rPr lang="en-US" sz="1400" dirty="0">
                <a:solidFill>
                  <a:schemeClr val="bg1"/>
                </a:solidFill>
              </a:rPr>
              <a:t>70% or more right on teammates' blind questions (rule-based chat: 69% on ours)</a:t>
            </a:r>
            <a:endParaRPr lang="en-US" sz="1400" dirty="0"/>
          </a:p>
          <a:p>
            <a:pPr algn="l" marL="177800" indent="-177800">
              <a:spcAft>
                <a:spcPts val="1100"/>
              </a:spcAft>
              <a:buSzPct val="100000"/>
              <a:buChar char="•"/>
            </a:pPr>
            <a:r>
              <a:rPr lang="en-US" sz="1400" dirty="0">
                <a:solidFill>
                  <a:schemeClr val="bg1"/>
                </a:solidFill>
              </a:rPr>
              <a:t>No number without a source row</a:t>
            </a:r>
            <a:endParaRPr lang="en-US" sz="1400" dirty="0"/>
          </a:p>
          <a:p>
            <a:pPr algn="l" marL="177800" indent="-177800">
              <a:spcAft>
                <a:spcPts val="1100"/>
              </a:spcAft>
              <a:buSzPct val="100000"/>
              <a:buChar char="•"/>
            </a:pPr>
            <a:r>
              <a:rPr lang="en-US" sz="1400" dirty="0">
                <a:solidFill>
                  <a:schemeClr val="bg1"/>
                </a:solidFill>
              </a:rPr>
              <a:t>GitHub and demo links public; briefing visible on the cloud site</a:t>
            </a:r>
            <a:endParaRPr lang="en-US" sz="1400" dirty="0"/>
          </a:p>
          <a:p>
            <a:pPr algn="l" marL="177800" indent="-177800">
              <a:spcAft>
                <a:spcPts val="1100"/>
              </a:spcAft>
              <a:buSzPct val="100000"/>
              <a:buChar char="•"/>
            </a:pPr>
            <a:r>
              <a:rPr lang="en-US" sz="1400" dirty="0">
                <a:solidFill>
                  <a:schemeClr val="bg1"/>
                </a:solidFill>
              </a:rPr>
              <a:t>Every feature has an owner and a status</a:t>
            </a:r>
            <a:endParaRPr lang="en-US" sz="1400" dirty="0"/>
          </a:p>
        </p:txBody>
      </p:sp>
      <p:sp>
        <p:nvSpPr>
          <p:cNvPr id="8" name="Owners and criteria"/>
          <p:cNvSpPr txBox="1"/>
          <p:nvPr/>
        </p:nvSpPr>
        <p:spPr>
          <a:xfrm>
            <a:off x="548640" y="5577840"/>
            <a:ext cx="8412480" cy="411480"/>
          </a:xfrm>
          <a:prstGeom prst="roundRect">
            <a:avLst>
              <a:gd name="adj" fmla="val 17778"/>
            </a:avLst>
          </a:prstGeom>
          <a:solidFill>
            <a:schemeClr val="accent3">
              <a:alpha val="30000"/>
            </a:schemeClr>
          </a:solidFill>
          <a:ln w="15875">
            <a:solidFill>
              <a:schemeClr val="accent3"/>
            </a:solidFill>
            <a:prstDash val="dash"/>
          </a:ln>
        </p:spPr>
        <p:txBody>
          <a:bodyPr wrap="square" lIns="76200" tIns="76200" rIns="76200" bIns="76200" rtlCol="0" anchor="ctr"/>
          <a:lstStyle/>
          <a:p>
            <a:pPr algn="l" indent="0" marL="0">
              <a:buNone/>
            </a:pPr>
            <a:r>
              <a:rPr lang="en-US" sz="1300" b="1" dirty="0">
                <a:solidFill>
                  <a:schemeClr val="tx1"/>
                </a:solidFill>
              </a:rPr>
              <a:t>TEAM: </a:t>
            </a:r>
            <a:pPr algn="l" indent="0" marL="0">
              <a:buNone/>
            </a:pPr>
            <a:r>
              <a:rPr lang="en-US" sz="1300" dirty="0">
                <a:solidFill>
                  <a:schemeClr val="tx1"/>
                </a:solidFill>
              </a:rPr>
              <a:t>an owner for each roadmap row; team to confirm the success criteria</a:t>
            </a:r>
            <a:endParaRPr lang="en-US" sz="1300" dirty="0"/>
          </a:p>
        </p:txBody>
      </p:sp>
      <p:sp>
        <p:nvSpPr>
          <p:cNvPr id="9" name="Milestones"/>
          <p:cNvSpPr txBox="1"/>
          <p:nvPr/>
        </p:nvSpPr>
        <p:spPr>
          <a:xfrm>
            <a:off x="548640" y="6035040"/>
            <a:ext cx="11091672" cy="274320"/>
          </a:xfrm>
          <a:prstGeom prst="rect">
            <a:avLst/>
          </a:prstGeom>
          <a:noFill/>
          <a:ln/>
        </p:spPr>
        <p:txBody>
          <a:bodyPr wrap="square" lIns="0" tIns="0" rIns="0" bIns="0" rtlCol="0" anchor="ctr"/>
          <a:lstStyle/>
          <a:p>
            <a:pPr algn="l" indent="0" marL="0">
              <a:buNone/>
            </a:pPr>
            <a:r>
              <a:rPr lang="en-US" sz="1200" dirty="0">
                <a:solidFill>
                  <a:schemeClr val="accent5"/>
                </a:solidFill>
              </a:rPr>
              <a:t>Sprint 2: Fri 30 Oct  ·  Sprint 3: Fri 13 Nov  ·  final zip: Sun 15 Nov</a:t>
            </a:r>
            <a:endParaRPr lang="en-US"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a designed tool set, with its edges</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Header Tool kind"/>
          <p:cNvSpPr txBox="1"/>
          <p:nvPr/>
        </p:nvSpPr>
        <p:spPr>
          <a:xfrm>
            <a:off x="128016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TOOL KIND</a:t>
            </a:r>
            <a:endParaRPr lang="en-US" sz="1200" dirty="0"/>
          </a:p>
        </p:txBody>
      </p:sp>
      <p:sp>
        <p:nvSpPr>
          <p:cNvPr id="5" name="Header What ours does"/>
          <p:cNvSpPr txBox="1"/>
          <p:nvPr/>
        </p:nvSpPr>
        <p:spPr>
          <a:xfrm>
            <a:off x="301752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WHAT OURS DOES</a:t>
            </a:r>
            <a:endParaRPr lang="en-US" sz="1200" dirty="0"/>
          </a:p>
        </p:txBody>
      </p:sp>
      <p:sp>
        <p:nvSpPr>
          <p:cNvPr id="6" name="Header Deliberately does not"/>
          <p:cNvSpPr txBox="1"/>
          <p:nvPr/>
        </p:nvSpPr>
        <p:spPr>
          <a:xfrm>
            <a:off x="841248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DELIBERATELY DOES NOT</a:t>
            </a:r>
            <a:endParaRPr lang="en-US" sz="1200" dirty="0"/>
          </a:p>
        </p:txBody>
      </p:sp>
      <p:sp>
        <p:nvSpPr>
          <p:cNvPr id="7" name="Row Retrieval"/>
          <p:cNvSpPr/>
          <p:nvPr/>
        </p:nvSpPr>
        <p:spPr>
          <a:xfrm>
            <a:off x="548640" y="1645920"/>
            <a:ext cx="11091672" cy="676656"/>
          </a:xfrm>
          <a:prstGeom prst="roundRect">
            <a:avLst>
              <a:gd name="adj" fmla="val 10811"/>
            </a:avLst>
          </a:prstGeom>
          <a:solidFill>
            <a:schemeClr val="bg2"/>
          </a:solidFill>
          <a:ln/>
        </p:spPr>
      </p:sp>
      <p:sp>
        <p:nvSpPr>
          <p:cNvPr id="8" name="Icon disc Retrieval"/>
          <p:cNvSpPr/>
          <p:nvPr/>
        </p:nvSpPr>
        <p:spPr>
          <a:xfrm>
            <a:off x="713232" y="1755648"/>
            <a:ext cx="457200" cy="457200"/>
          </a:xfrm>
          <a:prstGeom prst="ellipse">
            <a:avLst/>
          </a:prstGeom>
          <a:solidFill>
            <a:schemeClr val="accent1"/>
          </a:solidFill>
          <a:ln w="6350">
            <a:solidFill>
              <a:schemeClr val="accent1"/>
            </a:solidFill>
            <a:prstDash val="solid"/>
          </a:ln>
        </p:spPr>
      </p:sp>
      <p:pic>
        <p:nvPicPr>
          <p:cNvPr id="9" name="Image 0" descr="Retrieval icon">    </p:cNvPr>
          <p:cNvPicPr>
            <a:picLocks noChangeAspect="1"/>
          </p:cNvPicPr>
          <p:nvPr/>
        </p:nvPicPr>
        <p:blipFill>
          <a:blip r:embed="rId1"/>
          <a:stretch>
            <a:fillRect/>
          </a:stretch>
        </p:blipFill>
        <p:spPr>
          <a:xfrm>
            <a:off x="822960" y="1865376"/>
            <a:ext cx="237744" cy="237744"/>
          </a:xfrm>
          <a:prstGeom prst="rect">
            <a:avLst/>
          </a:prstGeom>
        </p:spPr>
      </p:pic>
      <p:sp>
        <p:nvSpPr>
          <p:cNvPr id="10" name="Kind Retrieval"/>
          <p:cNvSpPr txBox="1"/>
          <p:nvPr/>
        </p:nvSpPr>
        <p:spPr>
          <a:xfrm>
            <a:off x="1280160" y="1645920"/>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Retrieval</a:t>
            </a:r>
            <a:endParaRPr lang="en-US" sz="1800" dirty="0"/>
          </a:p>
        </p:txBody>
      </p:sp>
      <p:sp>
        <p:nvSpPr>
          <p:cNvPr id="11" name="Does Retrieval"/>
          <p:cNvSpPr txBox="1"/>
          <p:nvPr/>
        </p:nvSpPr>
        <p:spPr>
          <a:xfrm>
            <a:off x="3017520" y="1645920"/>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Typed order look-ups, plus a read-only SQL agent (SELECT only) for everything else</a:t>
            </a:r>
            <a:endParaRPr lang="en-US" sz="1400" dirty="0"/>
          </a:p>
        </p:txBody>
      </p:sp>
      <p:sp>
        <p:nvSpPr>
          <p:cNvPr id="12" name="Not Retrieval"/>
          <p:cNvSpPr txBox="1"/>
          <p:nvPr/>
        </p:nvSpPr>
        <p:spPr>
          <a:xfrm>
            <a:off x="8412480" y="1645920"/>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Pick the first match when several fit</a:t>
            </a:r>
            <a:endParaRPr lang="en-US" sz="1400" dirty="0"/>
          </a:p>
        </p:txBody>
      </p:sp>
      <p:sp>
        <p:nvSpPr>
          <p:cNvPr id="13" name="Row Judgement"/>
          <p:cNvSpPr/>
          <p:nvPr/>
        </p:nvSpPr>
        <p:spPr>
          <a:xfrm>
            <a:off x="548640" y="2395728"/>
            <a:ext cx="11091672" cy="676656"/>
          </a:xfrm>
          <a:prstGeom prst="roundRect">
            <a:avLst>
              <a:gd name="adj" fmla="val 10811"/>
            </a:avLst>
          </a:prstGeom>
          <a:solidFill>
            <a:schemeClr val="bg2"/>
          </a:solidFill>
          <a:ln/>
        </p:spPr>
      </p:sp>
      <p:sp>
        <p:nvSpPr>
          <p:cNvPr id="14" name="Icon disc Judgement"/>
          <p:cNvSpPr/>
          <p:nvPr/>
        </p:nvSpPr>
        <p:spPr>
          <a:xfrm>
            <a:off x="713232" y="2505456"/>
            <a:ext cx="457200" cy="457200"/>
          </a:xfrm>
          <a:prstGeom prst="ellipse">
            <a:avLst/>
          </a:prstGeom>
          <a:solidFill>
            <a:schemeClr val="accent1"/>
          </a:solidFill>
          <a:ln w="6350">
            <a:solidFill>
              <a:schemeClr val="accent1"/>
            </a:solidFill>
            <a:prstDash val="solid"/>
          </a:ln>
        </p:spPr>
      </p:sp>
      <p:pic>
        <p:nvPicPr>
          <p:cNvPr id="15" name="Image 1" descr="Judgement icon">    </p:cNvPr>
          <p:cNvPicPr>
            <a:picLocks noChangeAspect="1"/>
          </p:cNvPicPr>
          <p:nvPr/>
        </p:nvPicPr>
        <p:blipFill>
          <a:blip r:embed="rId2"/>
          <a:stretch>
            <a:fillRect/>
          </a:stretch>
        </p:blipFill>
        <p:spPr>
          <a:xfrm>
            <a:off x="822960" y="2615184"/>
            <a:ext cx="237744" cy="237744"/>
          </a:xfrm>
          <a:prstGeom prst="rect">
            <a:avLst/>
          </a:prstGeom>
        </p:spPr>
      </p:pic>
      <p:sp>
        <p:nvSpPr>
          <p:cNvPr id="16" name="Kind Judgement"/>
          <p:cNvSpPr txBox="1"/>
          <p:nvPr/>
        </p:nvSpPr>
        <p:spPr>
          <a:xfrm>
            <a:off x="1280160" y="2395728"/>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Judgement</a:t>
            </a:r>
            <a:endParaRPr lang="en-US" sz="1800" dirty="0"/>
          </a:p>
        </p:txBody>
      </p:sp>
      <p:sp>
        <p:nvSpPr>
          <p:cNvPr id="17" name="Does Judgement"/>
          <p:cNvSpPr txBox="1"/>
          <p:nvPr/>
        </p:nvSpPr>
        <p:spPr>
          <a:xfrm>
            <a:off x="3017520" y="2395728"/>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“Normal” = mean of the previous 8 same weekdays ± the larger of 1.5 SD or 5%; Sundays closed</a:t>
            </a:r>
            <a:endParaRPr lang="en-US" sz="1400" dirty="0"/>
          </a:p>
        </p:txBody>
      </p:sp>
      <p:sp>
        <p:nvSpPr>
          <p:cNvPr id="18" name="Not Judgement"/>
          <p:cNvSpPr txBox="1"/>
          <p:nvPr/>
        </p:nvSpPr>
        <p:spPr>
          <a:xfrm>
            <a:off x="8412480" y="2395728"/>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Treat one low day as proof of a fault</a:t>
            </a:r>
            <a:endParaRPr lang="en-US" sz="1400" dirty="0"/>
          </a:p>
        </p:txBody>
      </p:sp>
      <p:sp>
        <p:nvSpPr>
          <p:cNvPr id="19" name="Row Tracing"/>
          <p:cNvSpPr/>
          <p:nvPr/>
        </p:nvSpPr>
        <p:spPr>
          <a:xfrm>
            <a:off x="548640" y="3145536"/>
            <a:ext cx="11091672" cy="676656"/>
          </a:xfrm>
          <a:prstGeom prst="roundRect">
            <a:avLst>
              <a:gd name="adj" fmla="val 10811"/>
            </a:avLst>
          </a:prstGeom>
          <a:solidFill>
            <a:schemeClr val="bg2"/>
          </a:solidFill>
          <a:ln/>
        </p:spPr>
      </p:sp>
      <p:sp>
        <p:nvSpPr>
          <p:cNvPr id="20" name="Icon disc Tracing"/>
          <p:cNvSpPr/>
          <p:nvPr/>
        </p:nvSpPr>
        <p:spPr>
          <a:xfrm>
            <a:off x="713232" y="3255264"/>
            <a:ext cx="457200" cy="457200"/>
          </a:xfrm>
          <a:prstGeom prst="ellipse">
            <a:avLst/>
          </a:prstGeom>
          <a:solidFill>
            <a:schemeClr val="accent1"/>
          </a:solidFill>
          <a:ln w="6350">
            <a:solidFill>
              <a:schemeClr val="accent1"/>
            </a:solidFill>
            <a:prstDash val="solid"/>
          </a:ln>
        </p:spPr>
      </p:sp>
      <p:pic>
        <p:nvPicPr>
          <p:cNvPr id="21" name="Image 2" descr="Tracing icon">    </p:cNvPr>
          <p:cNvPicPr>
            <a:picLocks noChangeAspect="1"/>
          </p:cNvPicPr>
          <p:nvPr/>
        </p:nvPicPr>
        <p:blipFill>
          <a:blip r:embed="rId3"/>
          <a:stretch>
            <a:fillRect/>
          </a:stretch>
        </p:blipFill>
        <p:spPr>
          <a:xfrm>
            <a:off x="822960" y="3364992"/>
            <a:ext cx="237744" cy="237744"/>
          </a:xfrm>
          <a:prstGeom prst="rect">
            <a:avLst/>
          </a:prstGeom>
        </p:spPr>
      </p:pic>
      <p:sp>
        <p:nvSpPr>
          <p:cNvPr id="22" name="Kind Tracing"/>
          <p:cNvSpPr txBox="1"/>
          <p:nvPr/>
        </p:nvSpPr>
        <p:spPr>
          <a:xfrm>
            <a:off x="1280160" y="3145536"/>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Tracing</a:t>
            </a:r>
            <a:endParaRPr lang="en-US" sz="1800" dirty="0"/>
          </a:p>
        </p:txBody>
      </p:sp>
      <p:sp>
        <p:nvSpPr>
          <p:cNvPr id="23" name="Does Tracing"/>
          <p:cNvSpPr txBox="1"/>
          <p:nvPr/>
        </p:nvSpPr>
        <p:spPr>
          <a:xfrm>
            <a:off x="3017520" y="3145536"/>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Every number links to the source file and row behind it</a:t>
            </a:r>
            <a:endParaRPr lang="en-US" sz="1400" dirty="0"/>
          </a:p>
        </p:txBody>
      </p:sp>
      <p:sp>
        <p:nvSpPr>
          <p:cNvPr id="24" name="Not Tracing"/>
          <p:cNvSpPr txBox="1"/>
          <p:nvPr/>
        </p:nvSpPr>
        <p:spPr>
          <a:xfrm>
            <a:off x="8412480" y="3145536"/>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Explain causes the data does not hold</a:t>
            </a:r>
            <a:endParaRPr lang="en-US" sz="1400" dirty="0"/>
          </a:p>
        </p:txBody>
      </p:sp>
      <p:sp>
        <p:nvSpPr>
          <p:cNvPr id="25" name="Row Discovery"/>
          <p:cNvSpPr/>
          <p:nvPr/>
        </p:nvSpPr>
        <p:spPr>
          <a:xfrm>
            <a:off x="548640" y="3895344"/>
            <a:ext cx="11091672" cy="676656"/>
          </a:xfrm>
          <a:prstGeom prst="roundRect">
            <a:avLst>
              <a:gd name="adj" fmla="val 10811"/>
            </a:avLst>
          </a:prstGeom>
          <a:solidFill>
            <a:schemeClr val="bg2"/>
          </a:solidFill>
          <a:ln/>
        </p:spPr>
      </p:sp>
      <p:sp>
        <p:nvSpPr>
          <p:cNvPr id="26" name="Icon disc Discovery"/>
          <p:cNvSpPr/>
          <p:nvPr/>
        </p:nvSpPr>
        <p:spPr>
          <a:xfrm>
            <a:off x="713232" y="4005072"/>
            <a:ext cx="457200" cy="457200"/>
          </a:xfrm>
          <a:prstGeom prst="ellipse">
            <a:avLst/>
          </a:prstGeom>
          <a:solidFill>
            <a:schemeClr val="accent1"/>
          </a:solidFill>
          <a:ln w="6350">
            <a:solidFill>
              <a:schemeClr val="accent1"/>
            </a:solidFill>
            <a:prstDash val="solid"/>
          </a:ln>
        </p:spPr>
      </p:sp>
      <p:pic>
        <p:nvPicPr>
          <p:cNvPr id="27" name="Image 3" descr="Discovery icon">    </p:cNvPr>
          <p:cNvPicPr>
            <a:picLocks noChangeAspect="1"/>
          </p:cNvPicPr>
          <p:nvPr/>
        </p:nvPicPr>
        <p:blipFill>
          <a:blip r:embed="rId4"/>
          <a:stretch>
            <a:fillRect/>
          </a:stretch>
        </p:blipFill>
        <p:spPr>
          <a:xfrm>
            <a:off x="822960" y="4114800"/>
            <a:ext cx="237744" cy="237744"/>
          </a:xfrm>
          <a:prstGeom prst="rect">
            <a:avLst/>
          </a:prstGeom>
        </p:spPr>
      </p:pic>
      <p:sp>
        <p:nvSpPr>
          <p:cNvPr id="28" name="Kind Discovery"/>
          <p:cNvSpPr txBox="1"/>
          <p:nvPr/>
        </p:nvSpPr>
        <p:spPr>
          <a:xfrm>
            <a:off x="1280160" y="3895344"/>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Discovery</a:t>
            </a:r>
            <a:endParaRPr lang="en-US" sz="1800" dirty="0"/>
          </a:p>
        </p:txBody>
      </p:sp>
      <p:sp>
        <p:nvSpPr>
          <p:cNvPr id="29" name="Does Discovery"/>
          <p:cNvSpPr txBox="1"/>
          <p:nvPr/>
        </p:nvSpPr>
        <p:spPr>
          <a:xfrm>
            <a:off x="3017520" y="3895344"/>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Ranks stalled customers, quiet orders and stages below normal; the top five make the page</a:t>
            </a:r>
            <a:endParaRPr lang="en-US" sz="1400" dirty="0"/>
          </a:p>
        </p:txBody>
      </p:sp>
      <p:sp>
        <p:nvSpPr>
          <p:cNvPr id="30" name="Not Discovery"/>
          <p:cNvSpPr txBox="1"/>
          <p:nvPr/>
        </p:nvSpPr>
        <p:spPr>
          <a:xfrm>
            <a:off x="8412480" y="3895344"/>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List every finding</a:t>
            </a:r>
            <a:endParaRPr lang="en-US" sz="1400" dirty="0"/>
          </a:p>
        </p:txBody>
      </p:sp>
      <p:sp>
        <p:nvSpPr>
          <p:cNvPr id="31" name="Row Action"/>
          <p:cNvSpPr/>
          <p:nvPr/>
        </p:nvSpPr>
        <p:spPr>
          <a:xfrm>
            <a:off x="548640" y="4645152"/>
            <a:ext cx="11091672" cy="676656"/>
          </a:xfrm>
          <a:prstGeom prst="roundRect">
            <a:avLst>
              <a:gd name="adj" fmla="val 10811"/>
            </a:avLst>
          </a:prstGeom>
          <a:solidFill>
            <a:schemeClr val="bg2"/>
          </a:solidFill>
          <a:ln/>
        </p:spPr>
      </p:sp>
      <p:sp>
        <p:nvSpPr>
          <p:cNvPr id="32" name="Icon disc Action"/>
          <p:cNvSpPr/>
          <p:nvPr/>
        </p:nvSpPr>
        <p:spPr>
          <a:xfrm>
            <a:off x="713232" y="4754880"/>
            <a:ext cx="457200" cy="457200"/>
          </a:xfrm>
          <a:prstGeom prst="ellipse">
            <a:avLst/>
          </a:prstGeom>
          <a:solidFill>
            <a:schemeClr val="accent1"/>
          </a:solidFill>
          <a:ln w="6350">
            <a:solidFill>
              <a:schemeClr val="accent1"/>
            </a:solidFill>
            <a:prstDash val="solid"/>
          </a:ln>
        </p:spPr>
      </p:sp>
      <p:pic>
        <p:nvPicPr>
          <p:cNvPr id="33" name="Image 4" descr="Action icon">    </p:cNvPr>
          <p:cNvPicPr>
            <a:picLocks noChangeAspect="1"/>
          </p:cNvPicPr>
          <p:nvPr/>
        </p:nvPicPr>
        <p:blipFill>
          <a:blip r:embed="rId5"/>
          <a:stretch>
            <a:fillRect/>
          </a:stretch>
        </p:blipFill>
        <p:spPr>
          <a:xfrm>
            <a:off x="822960" y="4864608"/>
            <a:ext cx="237744" cy="237744"/>
          </a:xfrm>
          <a:prstGeom prst="rect">
            <a:avLst/>
          </a:prstGeom>
        </p:spPr>
      </p:pic>
      <p:sp>
        <p:nvSpPr>
          <p:cNvPr id="34" name="Kind Action"/>
          <p:cNvSpPr txBox="1"/>
          <p:nvPr/>
        </p:nvSpPr>
        <p:spPr>
          <a:xfrm>
            <a:off x="1280160" y="4645152"/>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Action</a:t>
            </a:r>
            <a:endParaRPr lang="en-US" sz="1800" dirty="0"/>
          </a:p>
        </p:txBody>
      </p:sp>
      <p:sp>
        <p:nvSpPr>
          <p:cNvPr id="35" name="Does Action"/>
          <p:cNvSpPr txBox="1"/>
          <p:nvPr/>
        </p:nvSpPr>
        <p:spPr>
          <a:xfrm>
            <a:off x="3017520" y="4645152"/>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Preview, then a 15-minute confirmation key; every executed action is logged</a:t>
            </a:r>
            <a:endParaRPr lang="en-US" sz="1400" dirty="0"/>
          </a:p>
        </p:txBody>
      </p:sp>
      <p:sp>
        <p:nvSpPr>
          <p:cNvPr id="36" name="Not Action"/>
          <p:cNvSpPr txBox="1"/>
          <p:nvPr/>
        </p:nvSpPr>
        <p:spPr>
          <a:xfrm>
            <a:off x="8412480" y="4645152"/>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Send without a matching, unexpired key</a:t>
            </a:r>
            <a:endParaRPr lang="en-US" sz="1400" dirty="0"/>
          </a:p>
        </p:txBody>
      </p:sp>
      <p:sp>
        <p:nvSpPr>
          <p:cNvPr id="37" name="Banner"/>
          <p:cNvSpPr/>
          <p:nvPr/>
        </p:nvSpPr>
        <p:spPr>
          <a:xfrm>
            <a:off x="548640" y="5669280"/>
            <a:ext cx="11091672" cy="566928"/>
          </a:xfrm>
          <a:prstGeom prst="roundRect">
            <a:avLst>
              <a:gd name="adj" fmla="val 12903"/>
            </a:avLst>
          </a:prstGeom>
          <a:solidFill>
            <a:schemeClr val="tx2"/>
          </a:solidFill>
          <a:ln/>
        </p:spPr>
      </p:sp>
      <p:sp>
        <p:nvSpPr>
          <p:cNvPr id="38" name="Banner text"/>
          <p:cNvSpPr txBox="1"/>
          <p:nvPr/>
        </p:nvSpPr>
        <p:spPr>
          <a:xfrm>
            <a:off x="777240" y="5669280"/>
            <a:ext cx="10698480" cy="566928"/>
          </a:xfrm>
          <a:prstGeom prst="rect">
            <a:avLst/>
          </a:prstGeom>
          <a:noFill/>
          <a:ln/>
        </p:spPr>
        <p:txBody>
          <a:bodyPr wrap="square" lIns="0" tIns="0" rIns="0" bIns="0" rtlCol="0" anchor="ctr"/>
          <a:lstStyle/>
          <a:p>
            <a:pPr algn="l" indent="0" marL="0">
              <a:buNone/>
            </a:pPr>
            <a:r>
              <a:rPr lang="en-US" sz="1400" b="1" dirty="0">
                <a:solidFill>
                  <a:schemeClr val="accent3"/>
                </a:solidFill>
              </a:rPr>
              <a:t>36 tools</a:t>
            </a:r>
            <a:pPr algn="l" indent="0" marL="0">
              <a:buNone/>
            </a:pPr>
            <a:r>
              <a:rPr lang="en-US" sz="1400" dirty="0">
                <a:solidFill>
                  <a:schemeClr val="bg1"/>
                </a:solidFill>
              </a:rPr>
              <a:t> in one table (17 live, 19 in the dashboard chat): input, output, purpose, non-goals, failure mode.   </a:t>
            </a:r>
            <a:pPr algn="l" indent="0" marL="0">
              <a:buNone/>
            </a:pPr>
            <a:r>
              <a:rPr lang="en-US" sz="1400" b="1" dirty="0">
                <a:solidFill>
                  <a:schemeClr val="accent3"/>
                </a:solidFill>
              </a:rPr>
              <a:t>27 boundary questions</a:t>
            </a:r>
            <a:pPr algn="l" indent="0" marL="0">
              <a:buNone/>
            </a:pPr>
            <a:r>
              <a:rPr lang="en-US" sz="1400" dirty="0">
                <a:solidFill>
                  <a:schemeClr val="bg1"/>
                </a:solidFill>
              </a:rPr>
              <a:t> recorded, each naming the tool that answers and the neighbour that must not.</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it acts only after you confirm</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80160"/>
            <a:ext cx="3840480" cy="411480"/>
          </a:xfrm>
          <a:prstGeom prst="rect">
            <a:avLst/>
          </a:prstGeom>
          <a:noFill/>
          <a:ln/>
        </p:spPr>
        <p:txBody>
          <a:bodyPr wrap="square" lIns="0" tIns="0" rIns="0" bIns="0" rtlCol="0" anchor="ctr"/>
          <a:lstStyle/>
          <a:p>
            <a:pPr algn="l" indent="0" marL="0">
              <a:buNone/>
            </a:pPr>
            <a:r>
              <a:rPr lang="en-US" sz="1600" b="1" dirty="0">
                <a:solidFill>
                  <a:schemeClr val="tx2"/>
                </a:solidFill>
              </a:rPr>
              <a:t>Preview: the card states the worst case</a:t>
            </a:r>
            <a:endParaRPr lang="en-US" sz="1600" dirty="0"/>
          </a:p>
        </p:txBody>
      </p:sp>
      <p:sp>
        <p:nvSpPr>
          <p:cNvPr id="5" name="Confirmation card screenshot frame"/>
          <p:cNvSpPr/>
          <p:nvPr/>
        </p:nvSpPr>
        <p:spPr>
          <a:xfrm>
            <a:off x="502920" y="1783080"/>
            <a:ext cx="3397207" cy="3840480"/>
          </a:xfrm>
          <a:prstGeom prst="roundRect">
            <a:avLst>
              <a:gd name="adj" fmla="val 1615"/>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6" name="Confirmation card screenshot" descr="Chat: 'Chase ORD-120' answered with a confirmation card showing the recipient, an editable message and the worst case">    </p:cNvPr>
          <p:cNvPicPr>
            <a:picLocks noChangeAspect="1"/>
          </p:cNvPicPr>
          <p:nvPr/>
        </p:nvPicPr>
        <p:blipFill>
          <a:blip r:embed="rId1"/>
          <a:stretch>
            <a:fillRect/>
          </a:stretch>
        </p:blipFill>
        <p:spPr>
          <a:xfrm>
            <a:off x="548640" y="1828800"/>
            <a:ext cx="3305767" cy="3749040"/>
          </a:xfrm>
          <a:prstGeom prst="rect">
            <a:avLst/>
          </a:prstGeom>
        </p:spPr>
      </p:pic>
      <p:sp>
        <p:nvSpPr>
          <p:cNvPr id="7" name="Label"/>
          <p:cNvSpPr txBox="1"/>
          <p:nvPr/>
        </p:nvSpPr>
        <p:spPr>
          <a:xfrm>
            <a:off x="4220167" y="1280160"/>
            <a:ext cx="3840480" cy="411480"/>
          </a:xfrm>
          <a:prstGeom prst="rect">
            <a:avLst/>
          </a:prstGeom>
          <a:noFill/>
          <a:ln/>
        </p:spPr>
        <p:txBody>
          <a:bodyPr wrap="square" lIns="0" tIns="0" rIns="0" bIns="0" rtlCol="0" anchor="ctr"/>
          <a:lstStyle/>
          <a:p>
            <a:pPr algn="l" indent="0" marL="0">
              <a:buNone/>
            </a:pPr>
            <a:r>
              <a:rPr lang="en-US" sz="1600" b="1" dirty="0">
                <a:solidFill>
                  <a:schemeClr val="tx2"/>
                </a:solidFill>
              </a:rPr>
              <a:t>Then logged, and some things refused</a:t>
            </a:r>
            <a:endParaRPr lang="en-US" sz="1600" dirty="0"/>
          </a:p>
        </p:txBody>
      </p:sp>
      <p:sp>
        <p:nvSpPr>
          <p:cNvPr id="8" name="Logged and refused screenshot frame"/>
          <p:cNvSpPr/>
          <p:nvPr/>
        </p:nvSpPr>
        <p:spPr>
          <a:xfrm>
            <a:off x="4174447" y="1783080"/>
            <a:ext cx="3180537" cy="3840480"/>
          </a:xfrm>
          <a:prstGeom prst="roundRect">
            <a:avLst>
              <a:gd name="adj" fmla="val 1725"/>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Logged and refused screenshot" descr="Chat: the chase-up logged with 'nothing was actually sent', then 'Delete ORD-005' refused">    </p:cNvPr>
          <p:cNvPicPr>
            <a:picLocks noChangeAspect="1"/>
          </p:cNvPicPr>
          <p:nvPr/>
        </p:nvPicPr>
        <p:blipFill>
          <a:blip r:embed="rId2"/>
          <a:stretch>
            <a:fillRect/>
          </a:stretch>
        </p:blipFill>
        <p:spPr>
          <a:xfrm>
            <a:off x="4220167" y="1828800"/>
            <a:ext cx="3089097" cy="3749040"/>
          </a:xfrm>
          <a:prstGeom prst="rect">
            <a:avLst/>
          </a:prstGeom>
        </p:spPr>
      </p:pic>
      <p:sp>
        <p:nvSpPr>
          <p:cNvPr id="10" name="Label"/>
          <p:cNvSpPr txBox="1"/>
          <p:nvPr/>
        </p:nvSpPr>
        <p:spPr>
          <a:xfrm>
            <a:off x="7812183" y="1280160"/>
            <a:ext cx="3828129" cy="411480"/>
          </a:xfrm>
          <a:prstGeom prst="rect">
            <a:avLst/>
          </a:prstGeom>
          <a:noFill/>
          <a:ln/>
        </p:spPr>
        <p:txBody>
          <a:bodyPr wrap="square" lIns="0" tIns="0" rIns="0" bIns="0" rtlCol="0" anchor="ctr"/>
          <a:lstStyle/>
          <a:p>
            <a:pPr algn="l" indent="0" marL="0">
              <a:buNone/>
            </a:pPr>
            <a:r>
              <a:rPr lang="en-US" sz="1800" b="1" dirty="0">
                <a:solidFill>
                  <a:schemeClr val="tx2"/>
                </a:solidFill>
              </a:rPr>
              <a:t>Preview, confirm, log</a:t>
            </a:r>
            <a:endParaRPr lang="en-US" sz="1800" dirty="0"/>
          </a:p>
        </p:txBody>
      </p:sp>
      <p:sp>
        <p:nvSpPr>
          <p:cNvPr id="11" name="Safety rules"/>
          <p:cNvSpPr txBox="1"/>
          <p:nvPr/>
        </p:nvSpPr>
        <p:spPr>
          <a:xfrm>
            <a:off x="7812183" y="1783080"/>
            <a:ext cx="3828129" cy="3931920"/>
          </a:xfrm>
          <a:prstGeom prst="rect">
            <a:avLst/>
          </a:prstGeom>
          <a:noFill/>
          <a:ln/>
        </p:spPr>
        <p:txBody>
          <a:bodyPr wrap="square" lIns="0" tIns="0" rIns="0" bIns="0" rtlCol="0" anchor="t"/>
          <a:lstStyle/>
          <a:p>
            <a:pPr algn="l" marL="203200" indent="-203200">
              <a:spcAft>
                <a:spcPts val="1100"/>
              </a:spcAft>
              <a:buSzPct val="100000"/>
              <a:buChar char="•"/>
            </a:pPr>
            <a:r>
              <a:rPr lang="en-US" sz="1500" dirty="0">
                <a:solidFill>
                  <a:schemeClr val="tx1"/>
                </a:solidFill>
              </a:rPr>
              <a:t>Nothing is sent until you press Confirm. In the demo it is only logged.</a:t>
            </a:r>
            <a:endParaRPr lang="en-US" sz="1500" dirty="0"/>
          </a:p>
          <a:p>
            <a:pPr algn="l" marL="203200" indent="-203200">
              <a:spcAft>
                <a:spcPts val="1100"/>
              </a:spcAft>
              <a:buSzPct val="100000"/>
              <a:buChar char="•"/>
            </a:pPr>
            <a:r>
              <a:rPr lang="en-US" sz="1500" dirty="0">
                <a:solidFill>
                  <a:schemeClr val="tx1"/>
                </a:solidFill>
              </a:rPr>
              <a:t>A confirmation key covers one order and one text, expires in 15 minutes, and confirming twice does nothing.</a:t>
            </a:r>
            <a:endParaRPr lang="en-US" sz="1500" dirty="0"/>
          </a:p>
          <a:p>
            <a:pPr algn="l" marL="203200" indent="-203200">
              <a:spcAft>
                <a:spcPts val="1100"/>
              </a:spcAft>
              <a:buSzPct val="100000"/>
              <a:buChar char="•"/>
            </a:pPr>
            <a:r>
              <a:rPr lang="en-US" sz="1500" dirty="0">
                <a:solidFill>
                  <a:schemeClr val="tx1"/>
                </a:solidFill>
              </a:rPr>
              <a:t>It cannot cancel, delete or change an order, and says so.</a:t>
            </a:r>
            <a:endParaRPr lang="en-US" sz="1500" dirty="0"/>
          </a:p>
          <a:p>
            <a:pPr algn="l" marL="203200" indent="-203200">
              <a:spcAft>
                <a:spcPts val="1100"/>
              </a:spcAft>
              <a:buSzPct val="100000"/>
              <a:buChar char="•"/>
            </a:pPr>
            <a:r>
              <a:rPr lang="en-US" sz="1500" dirty="0">
                <a:solidFill>
                  <a:schemeClr val="tx1"/>
                </a:solidFill>
              </a:rPr>
              <a:t>It speaks first rarely: one briefing at 07:00, plus watches you set and a stage that misses its target 3 days running.</a:t>
            </a:r>
            <a:endParaRPr lang="en-US" sz="1500" dirty="0"/>
          </a:p>
        </p:txBody>
      </p:sp>
      <p:sp>
        <p:nvSpPr>
          <p:cNvPr id="12" name="Docs pointer"/>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100" dirty="0">
                <a:solidFill>
                  <a:schemeClr val="accent5"/>
                </a:solidFill>
              </a:rPr>
              <a:t>Every action, its worst case and what it cannot do: docs/actions_and_limits.md. What may interrupt the manager: docs/alert_triggers.md.</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the 11 first-pass failures, by cause</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Failure group 1"/>
          <p:cNvSpPr/>
          <p:nvPr/>
        </p:nvSpPr>
        <p:spPr>
          <a:xfrm>
            <a:off x="548640" y="1371600"/>
            <a:ext cx="7040880" cy="1234440"/>
          </a:xfrm>
          <a:prstGeom prst="roundRect">
            <a:avLst>
              <a:gd name="adj" fmla="val 5926"/>
            </a:avLst>
          </a:prstGeom>
          <a:solidFill>
            <a:schemeClr val="bg2"/>
          </a:solidFill>
          <a:ln/>
        </p:spPr>
      </p:sp>
      <p:sp>
        <p:nvSpPr>
          <p:cNvPr id="5" name="Failure count 1"/>
          <p:cNvSpPr txBox="1"/>
          <p:nvPr/>
        </p:nvSpPr>
        <p:spPr>
          <a:xfrm>
            <a:off x="731520" y="1371600"/>
            <a:ext cx="731520" cy="12344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6" name="Failure text 1"/>
          <p:cNvSpPr txBox="1"/>
          <p:nvPr/>
        </p:nvSpPr>
        <p:spPr>
          <a:xfrm>
            <a:off x="1600200" y="13716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fell to “I can't answer that”</a:t>
            </a:r>
            <a:endParaRPr lang="en-US" sz="1500" dirty="0"/>
          </a:p>
          <a:p>
            <a:pPr algn="l" indent="0" marL="0">
              <a:spcAft>
                <a:spcPts val="300"/>
              </a:spcAft>
              <a:buNone/>
            </a:pPr>
            <a:r>
              <a:rPr lang="en-US" sz="1200" dirty="0">
                <a:solidFill>
                  <a:schemeClr val="tx1"/>
                </a:solidFill>
              </a:rPr>
              <a:t>No rule matched, though the data could answer: a count of orders in progress (Q01), two short follow-ups with no order in them (Q11, Q12), “the other one” (Q19), “Email the customer…” (Q36).</a:t>
            </a:r>
            <a:endParaRPr lang="en-US" sz="1500" dirty="0"/>
          </a:p>
        </p:txBody>
      </p:sp>
      <p:sp>
        <p:nvSpPr>
          <p:cNvPr id="7" name="Failure group 2"/>
          <p:cNvSpPr/>
          <p:nvPr/>
        </p:nvSpPr>
        <p:spPr>
          <a:xfrm>
            <a:off x="548640" y="2743200"/>
            <a:ext cx="7040880" cy="1234440"/>
          </a:xfrm>
          <a:prstGeom prst="roundRect">
            <a:avLst>
              <a:gd name="adj" fmla="val 5926"/>
            </a:avLst>
          </a:prstGeom>
          <a:solidFill>
            <a:schemeClr val="bg2"/>
          </a:solidFill>
          <a:ln/>
        </p:spPr>
      </p:sp>
      <p:sp>
        <p:nvSpPr>
          <p:cNvPr id="8" name="Failure count 2"/>
          <p:cNvSpPr txBox="1"/>
          <p:nvPr/>
        </p:nvSpPr>
        <p:spPr>
          <a:xfrm>
            <a:off x="731520" y="2743200"/>
            <a:ext cx="731520" cy="1234440"/>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5</a:t>
            </a:r>
            <a:endParaRPr lang="en-US" sz="4400" dirty="0"/>
          </a:p>
        </p:txBody>
      </p:sp>
      <p:sp>
        <p:nvSpPr>
          <p:cNvPr id="9" name="Failure text 2"/>
          <p:cNvSpPr txBox="1"/>
          <p:nvPr/>
        </p:nvSpPr>
        <p:spPr>
          <a:xfrm>
            <a:off x="1600200" y="27432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answered by a close but wrong rule</a:t>
            </a:r>
            <a:endParaRPr lang="en-US" sz="1500" dirty="0"/>
          </a:p>
          <a:p>
            <a:pPr algn="l" indent="0" marL="0">
              <a:spcAft>
                <a:spcPts val="300"/>
              </a:spcAft>
              <a:buNone/>
            </a:pPr>
            <a:r>
              <a:rPr lang="en-US" sz="1200" dirty="0">
                <a:solidFill>
                  <a:schemeClr val="tx1"/>
                </a:solidFill>
              </a:rPr>
              <a:t>The status line instead of the stage (Q04); orders instead of pieces (Q09); “Is it late?” listed late orders instead of asking which (Q17); “the Harbor Knits order” taken as the customer (Q18); “Delete ORD-005” answered as a lookup (Q35).</a:t>
            </a:r>
            <a:endParaRPr lang="en-US" sz="1500" dirty="0"/>
          </a:p>
        </p:txBody>
      </p:sp>
      <p:sp>
        <p:nvSpPr>
          <p:cNvPr id="10" name="Failure group 3"/>
          <p:cNvSpPr/>
          <p:nvPr/>
        </p:nvSpPr>
        <p:spPr>
          <a:xfrm>
            <a:off x="548640" y="4114800"/>
            <a:ext cx="7040880" cy="1234440"/>
          </a:xfrm>
          <a:prstGeom prst="roundRect">
            <a:avLst>
              <a:gd name="adj" fmla="val 5926"/>
            </a:avLst>
          </a:prstGeom>
          <a:solidFill>
            <a:schemeClr val="bg2"/>
          </a:solidFill>
          <a:ln/>
        </p:spPr>
      </p:sp>
      <p:sp>
        <p:nvSpPr>
          <p:cNvPr id="11" name="Failure count 3"/>
          <p:cNvSpPr txBox="1"/>
          <p:nvPr/>
        </p:nvSpPr>
        <p:spPr>
          <a:xfrm>
            <a:off x="731520" y="4114800"/>
            <a:ext cx="731520" cy="12344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12" name="Failure text 3"/>
          <p:cNvSpPr txBox="1"/>
          <p:nvPr/>
        </p:nvSpPr>
        <p:spPr>
          <a:xfrm>
            <a:off x="1600200" y="41148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a wording problem</a:t>
            </a:r>
            <a:endParaRPr lang="en-US" sz="1500" dirty="0"/>
          </a:p>
          <a:p>
            <a:pPr algn="l" indent="0" marL="0">
              <a:spcAft>
                <a:spcPts val="300"/>
              </a:spcAft>
              <a:buNone/>
            </a:pPr>
            <a:r>
              <a:rPr lang="en-US" sz="1200" dirty="0">
                <a:solidFill>
                  <a:schemeClr val="tx1"/>
                </a:solidFill>
              </a:rPr>
              <a:t>The reminder's first sentence did not say in words that nothing is set up until you confirm (Q34). It matters for voice, where there is no card to see.</a:t>
            </a:r>
            <a:endParaRPr lang="en-US" sz="1500" dirty="0"/>
          </a:p>
        </p:txBody>
      </p:sp>
      <p:sp>
        <p:nvSpPr>
          <p:cNvPr id="13" name="Label"/>
          <p:cNvSpPr txBox="1"/>
          <p:nvPr/>
        </p:nvSpPr>
        <p:spPr>
          <a:xfrm>
            <a:off x="7909560" y="1371600"/>
            <a:ext cx="3730752" cy="365760"/>
          </a:xfrm>
          <a:prstGeom prst="rect">
            <a:avLst/>
          </a:prstGeom>
          <a:noFill/>
          <a:ln/>
        </p:spPr>
        <p:txBody>
          <a:bodyPr wrap="square" lIns="0" tIns="0" rIns="0" bIns="0" rtlCol="0" anchor="ctr"/>
          <a:lstStyle/>
          <a:p>
            <a:pPr algn="l" indent="0" marL="0">
              <a:buNone/>
            </a:pPr>
            <a:r>
              <a:rPr lang="en-US" sz="1700" b="1" dirty="0">
                <a:solidFill>
                  <a:schemeClr val="tx2"/>
                </a:solidFill>
              </a:rPr>
              <a:t>What they have in common</a:t>
            </a:r>
            <a:endParaRPr lang="en-US" sz="1700" dirty="0"/>
          </a:p>
        </p:txBody>
      </p:sp>
      <p:sp>
        <p:nvSpPr>
          <p:cNvPr id="14" name="Failure takeaways"/>
          <p:cNvSpPr txBox="1"/>
          <p:nvPr/>
        </p:nvSpPr>
        <p:spPr>
          <a:xfrm>
            <a:off x="7909560" y="1810512"/>
            <a:ext cx="3730752" cy="3840480"/>
          </a:xfrm>
          <a:prstGeom prst="rect">
            <a:avLst/>
          </a:prstGeom>
          <a:noFill/>
          <a:ln/>
        </p:spPr>
        <p:txBody>
          <a:bodyPr wrap="square" lIns="0" tIns="0" rIns="0" bIns="0" rtlCol="0" anchor="t"/>
          <a:lstStyle/>
          <a:p>
            <a:pPr algn="l" marL="203200" indent="-203200">
              <a:spcAft>
                <a:spcPts val="800"/>
              </a:spcAft>
              <a:buSzPct val="100000"/>
              <a:buChar char="•"/>
            </a:pPr>
            <a:r>
              <a:rPr lang="en-US" sz="1300" dirty="0">
                <a:solidFill>
                  <a:schemeClr val="tx1"/>
                </a:solidFill>
              </a:rPr>
              <a:t>All 11 were routing mistakes. None stated a wrong figure.</a:t>
            </a:r>
            <a:endParaRPr lang="en-US" sz="1300" dirty="0"/>
          </a:p>
          <a:p>
            <a:pPr algn="l" marL="203200" indent="-203200">
              <a:spcAft>
                <a:spcPts val="800"/>
              </a:spcAft>
              <a:buSzPct val="100000"/>
              <a:buChar char="•"/>
            </a:pPr>
            <a:r>
              <a:rPr lang="en-US" sz="1300" dirty="0">
                <a:solidFill>
                  <a:schemeClr val="tx1"/>
                </a:solidFill>
              </a:rPr>
              <a:t>Guessing was the commonest wrong move (Q17, Q18, Q35): the brief says ask, do not guess.</a:t>
            </a:r>
            <a:endParaRPr lang="en-US" sz="1300" dirty="0"/>
          </a:p>
          <a:p>
            <a:pPr algn="l" marL="203200" indent="-203200">
              <a:spcAft>
                <a:spcPts val="800"/>
              </a:spcAft>
              <a:buSzPct val="100000"/>
              <a:buChar char="•"/>
            </a:pPr>
            <a:r>
              <a:rPr lang="en-US" sz="1300" dirty="0">
                <a:solidFill>
                  <a:schemeClr val="tx1"/>
                </a:solidFill>
              </a:rPr>
              <a:t>The worst was Q35: a destructive request answered like a lookup, so the manager could not tell whether anything had happened.</a:t>
            </a:r>
            <a:endParaRPr lang="en-US" sz="1300" dirty="0"/>
          </a:p>
          <a:p>
            <a:pPr algn="l" marL="203200" indent="-203200">
              <a:spcAft>
                <a:spcPts val="800"/>
              </a:spcAft>
              <a:buSzPct val="100000"/>
              <a:buChar char="•"/>
            </a:pPr>
            <a:r>
              <a:rPr lang="en-US" sz="1300" dirty="0">
                <a:solidFill>
                  <a:schemeClr val="tx1"/>
                </a:solidFill>
              </a:rPr>
              <a:t>Probing the tool boundaries found three more: the manager's own number ignored (“Is 800 pieces from assembly normal?”), a stalled customer, and “Show me all orders”.</a:t>
            </a:r>
            <a:endParaRPr lang="en-US" sz="1300" dirty="0"/>
          </a:p>
        </p:txBody>
      </p:sp>
      <p:sp>
        <p:nvSpPr>
          <p:cNvPr id="15" name="Docs pointer"/>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100" dirty="0">
                <a:solidFill>
                  <a:schemeClr val="accent5"/>
                </a:solidFill>
              </a:rPr>
              <a:t>Every case, what it said and the fix: docs/failure_analysis.md. A test checks that page against the recorded run.</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an estimate, and a watch that fires</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34440"/>
            <a:ext cx="4297680" cy="411480"/>
          </a:xfrm>
          <a:prstGeom prst="rect">
            <a:avLst/>
          </a:prstGeom>
          <a:noFill/>
          <a:ln/>
        </p:spPr>
        <p:txBody>
          <a:bodyPr wrap="square" lIns="0" tIns="0" rIns="0" bIns="0" rtlCol="0" anchor="ctr"/>
          <a:lstStyle/>
          <a:p>
            <a:pPr algn="l" indent="0" marL="0">
              <a:buNone/>
            </a:pPr>
            <a:r>
              <a:rPr lang="en-US" sz="1500" b="1" dirty="0">
                <a:solidFill>
                  <a:schemeClr val="tx2"/>
                </a:solidFill>
              </a:rPr>
              <a:t>“Can we take 800 hoodies by the 25th?”</a:t>
            </a:r>
            <a:endParaRPr lang="en-US" sz="1500" dirty="0"/>
          </a:p>
        </p:txBody>
      </p:sp>
      <p:sp>
        <p:nvSpPr>
          <p:cNvPr id="5" name="Feasibility screenshot frame"/>
          <p:cNvSpPr/>
          <p:nvPr/>
        </p:nvSpPr>
        <p:spPr>
          <a:xfrm>
            <a:off x="502920" y="1737360"/>
            <a:ext cx="4335258" cy="3611880"/>
          </a:xfrm>
          <a:prstGeom prst="roundRect">
            <a:avLst>
              <a:gd name="adj" fmla="val 1519"/>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6" name="Feasibility screenshot" descr="Chat: a feasibility answer with a date range, the bottleneck stage and the assumptions">    </p:cNvPr>
          <p:cNvPicPr>
            <a:picLocks noChangeAspect="1"/>
          </p:cNvPicPr>
          <p:nvPr/>
        </p:nvPicPr>
        <p:blipFill>
          <a:blip r:embed="rId1"/>
          <a:stretch>
            <a:fillRect/>
          </a:stretch>
        </p:blipFill>
        <p:spPr>
          <a:xfrm>
            <a:off x="548640" y="1783080"/>
            <a:ext cx="4243818" cy="3520440"/>
          </a:xfrm>
          <a:prstGeom prst="rect">
            <a:avLst/>
          </a:prstGeom>
        </p:spPr>
      </p:pic>
      <p:sp>
        <p:nvSpPr>
          <p:cNvPr id="7" name="Label"/>
          <p:cNvSpPr txBox="1"/>
          <p:nvPr/>
        </p:nvSpPr>
        <p:spPr>
          <a:xfrm>
            <a:off x="5203938" y="1234440"/>
            <a:ext cx="6436374" cy="411480"/>
          </a:xfrm>
          <a:prstGeom prst="rect">
            <a:avLst/>
          </a:prstGeom>
          <a:noFill/>
          <a:ln/>
        </p:spPr>
        <p:txBody>
          <a:bodyPr wrap="square" lIns="0" tIns="0" rIns="0" bIns="0" rtlCol="0" anchor="ctr"/>
          <a:lstStyle/>
          <a:p>
            <a:pPr algn="l" indent="0" marL="0">
              <a:buNone/>
            </a:pPr>
            <a:r>
              <a:rPr lang="en-US" sz="1500" b="1" dirty="0">
                <a:solidFill>
                  <a:schemeClr val="tx2"/>
                </a:solidFill>
              </a:rPr>
              <a:t>A watch set yesterday fires in the next morning's briefing</a:t>
            </a:r>
            <a:endParaRPr lang="en-US" sz="1500" dirty="0"/>
          </a:p>
        </p:txBody>
      </p:sp>
      <p:sp>
        <p:nvSpPr>
          <p:cNvPr id="8" name="Watch fired screenshot frame"/>
          <p:cNvSpPr/>
          <p:nvPr/>
        </p:nvSpPr>
        <p:spPr>
          <a:xfrm>
            <a:off x="5158218" y="1737360"/>
            <a:ext cx="5331165" cy="3611880"/>
          </a:xfrm>
          <a:prstGeom prst="roundRect">
            <a:avLst>
              <a:gd name="adj" fmla="val 1519"/>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Watch fired screenshot" descr="The morning page on Friday 10 April with a 'Watch fired' notice and the chat showing the alert for ORD-120">    </p:cNvPr>
          <p:cNvPicPr>
            <a:picLocks noChangeAspect="1"/>
          </p:cNvPicPr>
          <p:nvPr/>
        </p:nvPicPr>
        <p:blipFill>
          <a:blip r:embed="rId2"/>
          <a:stretch>
            <a:fillRect/>
          </a:stretch>
        </p:blipFill>
        <p:spPr>
          <a:xfrm>
            <a:off x="5203938" y="1783080"/>
            <a:ext cx="5239725" cy="3520440"/>
          </a:xfrm>
          <a:prstGeom prst="rect">
            <a:avLst/>
          </a:prstGeom>
        </p:spPr>
      </p:pic>
      <p:sp>
        <p:nvSpPr>
          <p:cNvPr id="10" name="Note"/>
          <p:cNvSpPr txBox="1"/>
          <p:nvPr/>
        </p:nvSpPr>
        <p:spPr>
          <a:xfrm>
            <a:off x="548640" y="5486400"/>
            <a:ext cx="4243818" cy="731520"/>
          </a:xfrm>
          <a:prstGeom prst="rect">
            <a:avLst/>
          </a:prstGeom>
          <a:noFill/>
          <a:ln/>
        </p:spPr>
        <p:txBody>
          <a:bodyPr wrap="square" lIns="0" tIns="0" rIns="0" bIns="0" rtlCol="0" anchor="t"/>
          <a:lstStyle/>
          <a:p>
            <a:pPr algn="l" indent="0" marL="0">
              <a:buNone/>
            </a:pPr>
            <a:r>
              <a:rPr lang="en-US" sz="1200" dirty="0">
                <a:solidFill>
                  <a:schemeClr val="tx1"/>
                </a:solidFill>
              </a:rPr>
              <a:t>Unlikely by Sat 25 Apr: finishes between Fri 1 May and Fri 8 May. Bottleneck: Packing. An estimate with assumptions, not a commitment.</a:t>
            </a:r>
            <a:endParaRPr lang="en-US" sz="1200" dirty="0"/>
          </a:p>
        </p:txBody>
      </p:sp>
      <p:sp>
        <p:nvSpPr>
          <p:cNvPr id="11" name="Note"/>
          <p:cNvSpPr txBox="1"/>
          <p:nvPr/>
        </p:nvSpPr>
        <p:spPr>
          <a:xfrm>
            <a:off x="5203938" y="5486400"/>
            <a:ext cx="5239725" cy="731520"/>
          </a:xfrm>
          <a:prstGeom prst="rect">
            <a:avLst/>
          </a:prstGeom>
          <a:noFill/>
          <a:ln/>
        </p:spPr>
        <p:txBody>
          <a:bodyPr wrap="square" lIns="0" tIns="0" rIns="0" bIns="0" rtlCol="0" anchor="t"/>
          <a:lstStyle/>
          <a:p>
            <a:pPr algn="l" indent="0" marL="0">
              <a:buNone/>
            </a:pPr>
            <a:r>
              <a:rPr lang="en-US" sz="1200" dirty="0">
                <a:solidFill>
                  <a:schemeClr val="tx1"/>
                </a:solidFill>
              </a:rPr>
              <a:t>Confirmed on 9 April. On 10 April the briefing re-checks the data, finds no activity since 3 April and raises the alert. Nothing is sent outside the system.</a:t>
            </a:r>
            <a:endParaRPr lang="en-US"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hreadPilot">
  <a:themeElements>
    <a:clrScheme name="ThreadPilot">
      <a:dk1>
        <a:srgbClr val="16262B"/>
      </a:dk1>
      <a:lt1>
        <a:srgbClr val="FFFFFF"/>
      </a:lt1>
      <a:dk2>
        <a:srgbClr val="14303A"/>
      </a:dk2>
      <a:lt2>
        <a:srgbClr val="EAF2F2"/>
      </a:lt2>
      <a:accent1>
        <a:srgbClr val="2E6F77"/>
      </a:accent1>
      <a:accent2>
        <a:srgbClr val="D9532B"/>
      </a:accent2>
      <a:accent3>
        <a:srgbClr val="F2B134"/>
      </a:accent3>
      <a:accent4>
        <a:srgbClr val="6B8F71"/>
      </a:accent4>
      <a:accent5>
        <a:srgbClr val="5E6E7A"/>
      </a:accent5>
      <a:accent6>
        <a:srgbClr val="A23B2A"/>
      </a:accent6>
      <a:hlink>
        <a:srgbClr val="2E6F77"/>
      </a:hlink>
      <a:folHlink>
        <a:srgbClr val="5E6E7A"/>
      </a:folHlink>
    </a:clrScheme>
    <a:fontScheme name="Thread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ThreadPilot: the General Manager's Co-Pilot (Sprint 1)</dc:title>
  <dc:subject>DSS5105 Track 1, Sprint 1 live presentation</dc:subject>
  <dc:creator>DSS5105 Track 1 team</dc:creator>
  <cp:lastModifiedBy>DSS5105 Track 1 team</cp:lastModifiedBy>
  <cp:revision>1</cp:revision>
  <dcterms:created xsi:type="dcterms:W3CDTF">2026-10-10T15:43:14Z</dcterms:created>
  <dcterms:modified xsi:type="dcterms:W3CDTF">2026-10-10T15:43:14Z</dcterms:modified>
</cp:coreProperties>
</file>